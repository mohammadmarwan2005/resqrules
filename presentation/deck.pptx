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  <p:sldId id="266" r:id="rId17"/>
    <p:sldId id="267" r:id="rId18"/>
    <p:sldId id="268" r:id="rId19"/>
    <p:sldId id="269" r:id="rId20"/>
    <p:sldId id="270" r:id="rId21"/>
    <p:sldId id="271" r:id="rId22"/>
    <p:sldId id="272" r:id="rId23"/>
    <p:sldId id="273" r:id="rId24"/>
    <p:sldId id="274" r:id="rId25"/>
    <p:sldId id="275" r:id="rId26"/>
    <p:sldId id="276" r:id="rId27"/>
    <p:sldId id="277" r:id="rId28"/>
    <p:sldId id="278" r:id="rId29"/>
    <p:sldId id="279" r:id="rId30"/>
    <p:sldId id="280" r:id="rId31"/>
    <p:sldId id="281" r:id="rId32"/>
    <p:sldId id="282" r:id="rId33"/>
    <p:sldId id="283" r:id="rId34"/>
  </p:sldIdLst>
  <p:sldSz cx="12192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Relationship Id="rId16" Type="http://schemas.openxmlformats.org/officeDocument/2006/relationships/slide" Target="slides/slide10.xml"/><Relationship Id="rId17" Type="http://schemas.openxmlformats.org/officeDocument/2006/relationships/slide" Target="slides/slide11.xml"/><Relationship Id="rId18" Type="http://schemas.openxmlformats.org/officeDocument/2006/relationships/slide" Target="slides/slide12.xml"/><Relationship Id="rId19" Type="http://schemas.openxmlformats.org/officeDocument/2006/relationships/slide" Target="slides/slide13.xml"/><Relationship Id="rId20" Type="http://schemas.openxmlformats.org/officeDocument/2006/relationships/slide" Target="slides/slide14.xml"/><Relationship Id="rId21" Type="http://schemas.openxmlformats.org/officeDocument/2006/relationships/slide" Target="slides/slide15.xml"/><Relationship Id="rId22" Type="http://schemas.openxmlformats.org/officeDocument/2006/relationships/slide" Target="slides/slide16.xml"/><Relationship Id="rId23" Type="http://schemas.openxmlformats.org/officeDocument/2006/relationships/slide" Target="slides/slide17.xml"/><Relationship Id="rId24" Type="http://schemas.openxmlformats.org/officeDocument/2006/relationships/slide" Target="slides/slide18.xml"/><Relationship Id="rId25" Type="http://schemas.openxmlformats.org/officeDocument/2006/relationships/slide" Target="slides/slide19.xml"/><Relationship Id="rId26" Type="http://schemas.openxmlformats.org/officeDocument/2006/relationships/slide" Target="slides/slide20.xml"/><Relationship Id="rId27" Type="http://schemas.openxmlformats.org/officeDocument/2006/relationships/slide" Target="slides/slide21.xml"/><Relationship Id="rId28" Type="http://schemas.openxmlformats.org/officeDocument/2006/relationships/slide" Target="slides/slide22.xml"/><Relationship Id="rId29" Type="http://schemas.openxmlformats.org/officeDocument/2006/relationships/slide" Target="slides/slide23.xml"/><Relationship Id="rId30" Type="http://schemas.openxmlformats.org/officeDocument/2006/relationships/slide" Target="slides/slide24.xml"/><Relationship Id="rId31" Type="http://schemas.openxmlformats.org/officeDocument/2006/relationships/slide" Target="slides/slide25.xml"/><Relationship Id="rId32" Type="http://schemas.openxmlformats.org/officeDocument/2006/relationships/slide" Target="slides/slide26.xml"/><Relationship Id="rId33" Type="http://schemas.openxmlformats.org/officeDocument/2006/relationships/slide" Target="slides/slide27.xml"/><Relationship Id="rId34" Type="http://schemas.openxmlformats.org/officeDocument/2006/relationships/slide" Target="slides/slide28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slide" Target="slide17.xml"/><Relationship Id="rId3" Type="http://schemas.openxmlformats.org/officeDocument/2006/relationships/slide" Target="slide22.xml"/></Relationships>
</file>

<file path=ppt/slides/_rels/slide1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slide" Target="slide17.xml"/></Relationships>
</file>

<file path=ppt/slides/_rels/slide2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-19050" y="-19050"/>
            <a:ext cx="12230100" cy="6896100"/>
          </a:xfrm>
          <a:prstGeom prst="rect">
            <a:avLst/>
          </a:prstGeom>
          <a:solidFill>
            <a:srgbClr val="CC000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76200" rIns="76200" tIns="38100" bIns="38100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1333500" y="1905000"/>
            <a:ext cx="9525000" cy="104775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r>
              <a:rPr sz="6600" b="1" i="0" lang="en-US">
                <a:solidFill>
                  <a:srgbClr val="FFFFFF"/>
                </a:solidFill>
                <a:latin typeface="Noto Sans"/>
              </a:rPr>
              <a:t>ResQRules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809750" y="3143250"/>
            <a:ext cx="8572500" cy="85725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>
              <a:lnSpc>
                <a:spcPct val="125000"/>
              </a:lnSpc>
            </a:pPr>
            <a:r>
              <a:rPr sz="1900" b="0" i="0" lang="en-US">
                <a:solidFill>
                  <a:srgbClr val="FFE2E2"/>
                </a:solidFill>
                <a:latin typeface="Noto Sans"/>
              </a:rPr>
              <a:t>A knowledge-based system that walks a first responder through Red Crescent emergency protocols — and reacts when the patient doesn't follow the flowchart.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809750" y="4191000"/>
            <a:ext cx="8572500" cy="28575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r>
              <a:rPr sz="1300" b="0" i="0" lang="en-US">
                <a:solidFill>
                  <a:srgbClr val="FFB9B9"/>
                </a:solidFill>
                <a:latin typeface="Noto Sans"/>
              </a:rPr>
              <a:t>Knowledge-Based Systems · course project · built on the Experta forward-chaining engine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809750" y="4762500"/>
            <a:ext cx="8572500" cy="28575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r>
              <a:rPr sz="1300" b="0" i="0" lang="en-US">
                <a:solidFill>
                  <a:srgbClr val="FFB9B9"/>
                </a:solidFill>
                <a:latin typeface="Noto Sans"/>
              </a:rPr>
              <a:t>M.GH · M.SH · M.JA · M.Y.D · M.Marwan  —  supervised by Miss Omama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1239500" y="6610350"/>
            <a:ext cx="762000" cy="1905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r>
              <a:rPr sz="900" b="0" i="0" lang="en-US">
                <a:solidFill>
                  <a:srgbClr val="6B6B6B"/>
                </a:solidFill>
                <a:latin typeface="Noto Sans"/>
              </a:rPr>
              <a:t>1 / 28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19100" y="285750"/>
            <a:ext cx="8572500" cy="1905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r>
              <a:rPr sz="1050" b="1" i="0" lang="en-US">
                <a:solidFill>
                  <a:srgbClr val="CC0000"/>
                </a:solidFill>
                <a:latin typeface="Noto Sans"/>
              </a:rPr>
              <a:t>THE PROBLEM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19100" y="495300"/>
            <a:ext cx="9525000" cy="43815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r>
              <a:rPr sz="2500" b="1" i="0" lang="en-US">
                <a:solidFill>
                  <a:srgbClr val="1A1A1A"/>
                </a:solidFill>
                <a:latin typeface="Noto Sans"/>
              </a:rPr>
              <a:t>The patient doesn't follow the flowchart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10763250" y="323850"/>
            <a:ext cx="1009650" cy="285750"/>
          </a:xfrm>
          <a:prstGeom prst="roundRect">
            <a:avLst>
              <a:gd name="adj" fmla="val 28000"/>
            </a:avLst>
          </a:prstGeom>
          <a:solidFill>
            <a:srgbClr val="CC000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76200" rIns="76200" tIns="38100" bIns="38100"/>
          <a:lstStyle/>
          <a:p>
            <a:pPr algn="ctr"/>
            <a:r>
              <a:rPr sz="1250" b="1" i="0" lang="en-US">
                <a:solidFill>
                  <a:srgbClr val="FFFFFF"/>
                </a:solidFill>
                <a:latin typeface="Noto Sans"/>
              </a:rPr>
              <a:t>ResQRules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571500" y="1428750"/>
            <a:ext cx="3333750" cy="4191000"/>
          </a:xfrm>
          <a:prstGeom prst="roundRect">
            <a:avLst>
              <a:gd name="adj" fmla="val 3000"/>
            </a:avLst>
          </a:prstGeom>
          <a:solidFill>
            <a:srgbClr val="FBF8F1"/>
          </a:solidFill>
          <a:ln w="15240">
            <a:solidFill>
              <a:srgbClr val="B9AE8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76200" rIns="76200" tIns="38100" bIns="38100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742950" y="1562100"/>
            <a:ext cx="3048000" cy="17145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r>
              <a:rPr sz="850" b="1" i="0" lang="en-US">
                <a:solidFill>
                  <a:srgbClr val="8A7F63"/>
                </a:solidFill>
                <a:latin typeface="Noto Sans"/>
              </a:rPr>
              <a:t>SARC SOP · CATASTROPHIC HEMORRHAGE · CHART #10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904875" y="1828800"/>
            <a:ext cx="2667000" cy="323850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 w="13970">
            <a:solidFill>
              <a:srgbClr val="B9AE8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76200" rIns="76200" tIns="38100" bIns="38100"/>
          <a:lstStyle/>
          <a:p>
            <a:pPr algn="ctr"/>
            <a:r>
              <a:rPr sz="950" b="0" i="0" lang="en-US">
                <a:solidFill>
                  <a:srgbClr val="5C5340"/>
                </a:solidFill>
                <a:latin typeface="Noto Sans"/>
              </a:rPr>
              <a:t>Control of external bleeding: direct compression…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2095500" y="2152650"/>
            <a:ext cx="381000" cy="1524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r>
              <a:rPr sz="1000" b="0" i="0" lang="en-US">
                <a:solidFill>
                  <a:srgbClr val="B9AE8F"/>
                </a:solidFill>
                <a:latin typeface="Noto Sans"/>
              </a:rPr>
              <a:t>↓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904875" y="2419350"/>
            <a:ext cx="2667000" cy="323850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 w="13970">
            <a:solidFill>
              <a:srgbClr val="B9AE8F"/>
            </a:solidFill>
            <a:prstDash val="dash"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76200" rIns="76200" tIns="38100" bIns="38100"/>
          <a:lstStyle/>
          <a:p>
            <a:pPr algn="ctr"/>
            <a:r>
              <a:rPr sz="950" b="0" i="0" lang="en-US">
                <a:solidFill>
                  <a:srgbClr val="5C5340"/>
                </a:solidFill>
                <a:latin typeface="Noto Sans"/>
              </a:rPr>
              <a:t>Active bleeding?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2095500" y="2743200"/>
            <a:ext cx="381000" cy="1524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r>
              <a:rPr sz="1000" b="0" i="0" lang="en-US">
                <a:solidFill>
                  <a:srgbClr val="B9AE8F"/>
                </a:solidFill>
                <a:latin typeface="Noto Sans"/>
              </a:rPr>
              <a:t>↓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904875" y="3009900"/>
            <a:ext cx="2667000" cy="323850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 w="13970">
            <a:solidFill>
              <a:srgbClr val="B9AE8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76200" rIns="76200" tIns="38100" bIns="38100"/>
          <a:lstStyle/>
          <a:p>
            <a:pPr algn="ctr"/>
            <a:r>
              <a:rPr sz="950" b="0" i="0" lang="en-US">
                <a:solidFill>
                  <a:srgbClr val="5C5340"/>
                </a:solidFill>
                <a:latin typeface="Noto Sans"/>
              </a:rPr>
              <a:t>Second compression bandage on top of the first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2095500" y="3333750"/>
            <a:ext cx="381000" cy="1524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r>
              <a:rPr sz="1000" b="0" i="0" lang="en-US">
                <a:solidFill>
                  <a:srgbClr val="B9AE8F"/>
                </a:solidFill>
                <a:latin typeface="Noto Sans"/>
              </a:rPr>
              <a:t>↓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904875" y="3600450"/>
            <a:ext cx="2667000" cy="323850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 w="13970">
            <a:solidFill>
              <a:srgbClr val="B9AE8F"/>
            </a:solidFill>
            <a:prstDash val="dash"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76200" rIns="76200" tIns="38100" bIns="38100"/>
          <a:lstStyle/>
          <a:p>
            <a:pPr algn="ctr"/>
            <a:r>
              <a:rPr sz="950" b="0" i="0" lang="en-US">
                <a:solidFill>
                  <a:srgbClr val="5C5340"/>
                </a:solidFill>
                <a:latin typeface="Noto Sans"/>
              </a:rPr>
              <a:t>Active bleeding?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2095500" y="3924300"/>
            <a:ext cx="381000" cy="1524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r>
              <a:rPr sz="1000" b="0" i="0" lang="en-US">
                <a:solidFill>
                  <a:srgbClr val="B9AE8F"/>
                </a:solidFill>
                <a:latin typeface="Noto Sans"/>
              </a:rPr>
              <a:t>↓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904875" y="4191000"/>
            <a:ext cx="2667000" cy="323850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 w="13970">
            <a:solidFill>
              <a:srgbClr val="B9AE8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76200" rIns="76200" tIns="38100" bIns="38100"/>
          <a:lstStyle/>
          <a:p>
            <a:pPr algn="ctr"/>
            <a:r>
              <a:rPr sz="950" b="0" i="0" lang="en-US">
                <a:solidFill>
                  <a:srgbClr val="5C5340"/>
                </a:solidFill>
                <a:latin typeface="Noto Sans"/>
              </a:rPr>
              <a:t>Installation of tourniquet…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2095500" y="4514850"/>
            <a:ext cx="381000" cy="1524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r>
              <a:rPr sz="1000" b="0" i="0" lang="en-US">
                <a:solidFill>
                  <a:srgbClr val="B9AE8F"/>
                </a:solidFill>
                <a:latin typeface="Noto Sans"/>
              </a:rPr>
              <a:t>↓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904875" y="4781550"/>
            <a:ext cx="2667000" cy="323850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 w="13970">
            <a:solidFill>
              <a:srgbClr val="B9AE8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76200" rIns="76200" tIns="38100" bIns="38100"/>
          <a:lstStyle/>
          <a:p>
            <a:pPr algn="ctr"/>
            <a:r>
              <a:rPr sz="950" b="0" i="0" lang="en-US">
                <a:solidFill>
                  <a:srgbClr val="5C5340"/>
                </a:solidFill>
                <a:latin typeface="Noto Sans"/>
              </a:rPr>
              <a:t>Urgent and safe transport…</a:t>
            </a:r>
          </a:p>
        </p:txBody>
      </p:sp>
      <p:sp>
        <p:nvSpPr>
          <p:cNvPr id="18" name="Rounded Rectangle 17"/>
          <p:cNvSpPr/>
          <p:nvPr/>
        </p:nvSpPr>
        <p:spPr>
          <a:xfrm rot="180000">
            <a:off x="3143250" y="2857500"/>
            <a:ext cx="1619250" cy="495300"/>
          </a:xfrm>
          <a:prstGeom prst="roundRect">
            <a:avLst>
              <a:gd name="adj" fmla="val 15000"/>
            </a:avLst>
          </a:prstGeom>
          <a:solidFill>
            <a:srgbClr val="CC000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76200" rIns="76200" tIns="38100" bIns="38100"/>
          <a:lstStyle/>
          <a:p>
            <a:pPr algn="ctr"/>
            <a:r>
              <a:rPr sz="1050" b="1" i="0" lang="en-US">
                <a:solidFill>
                  <a:srgbClr val="FFFFFF"/>
                </a:solidFill>
                <a:latin typeface="Noto Sans"/>
              </a:rPr>
              <a:t>you are here…</a:t>
            </a:r>
          </a:p>
          <a:p>
            <a:pPr algn="ctr"/>
            <a:r>
              <a:rPr sz="1050" b="1" i="0" lang="en-US">
                <a:solidFill>
                  <a:srgbClr val="FFFFFF"/>
                </a:solidFill>
                <a:latin typeface="Noto Sans"/>
              </a:rPr>
              <a:t>but he just stopped breathing</a:t>
            </a:r>
          </a:p>
        </p:txBody>
      </p:sp>
      <p:sp>
        <p:nvSpPr>
          <p:cNvPr id="19" name="Rounded Rectangle 18"/>
          <p:cNvSpPr/>
          <p:nvPr/>
        </p:nvSpPr>
        <p:spPr>
          <a:xfrm>
            <a:off x="5143500" y="1971675"/>
            <a:ext cx="76200" cy="76200"/>
          </a:xfrm>
          <a:prstGeom prst="roundRect">
            <a:avLst>
              <a:gd name="adj" fmla="val 30000"/>
            </a:avLst>
          </a:prstGeom>
          <a:solidFill>
            <a:srgbClr val="CC000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76200" rIns="76200" tIns="38100" bIns="38100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5334000" y="1905000"/>
            <a:ext cx="6381750" cy="5715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>
              <a:lnSpc>
                <a:spcPct val="110000"/>
              </a:lnSpc>
            </a:pPr>
            <a:r>
              <a:rPr sz="1700" b="0" i="0" lang="en-US">
                <a:solidFill>
                  <a:srgbClr val="1A1A1A"/>
                </a:solidFill>
                <a:latin typeface="Noto Sans"/>
              </a:rPr>
              <a:t>The Red Crescent SOP is </a:t>
            </a:r>
            <a:r>
              <a:rPr sz="1700" b="1" i="0" lang="en-US">
                <a:solidFill>
                  <a:srgbClr val="1A1A1A"/>
                </a:solidFill>
                <a:latin typeface="Noto Sans"/>
              </a:rPr>
              <a:t>12 paper flowcharts</a:t>
            </a:r>
            <a:r>
              <a:rPr sz="1700" b="0" i="0" lang="en-US">
                <a:solidFill>
                  <a:srgbClr val="1A1A1A"/>
                </a:solidFill>
                <a:latin typeface="Noto Sans"/>
              </a:rPr>
              <a:t> — expert, validated, and static.</a:t>
            </a:r>
          </a:p>
        </p:txBody>
      </p:sp>
      <p:sp>
        <p:nvSpPr>
          <p:cNvPr id="21" name="Rounded Rectangle 20"/>
          <p:cNvSpPr/>
          <p:nvPr/>
        </p:nvSpPr>
        <p:spPr>
          <a:xfrm>
            <a:off x="5143500" y="2638425"/>
            <a:ext cx="76200" cy="76200"/>
          </a:xfrm>
          <a:prstGeom prst="roundRect">
            <a:avLst>
              <a:gd name="adj" fmla="val 30000"/>
            </a:avLst>
          </a:prstGeom>
          <a:solidFill>
            <a:srgbClr val="CC000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76200" rIns="76200" tIns="38100" bIns="38100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5334000" y="2571750"/>
            <a:ext cx="6381750" cy="5715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>
              <a:lnSpc>
                <a:spcPct val="110000"/>
              </a:lnSpc>
            </a:pPr>
            <a:r>
              <a:rPr sz="1700" b="0" i="0" lang="en-US">
                <a:solidFill>
                  <a:srgbClr val="1A1A1A"/>
                </a:solidFill>
                <a:latin typeface="Noto Sans"/>
              </a:rPr>
              <a:t>Under adrenaline, the responder must find the right chart, the right box, and follow the arrows correctly.</a:t>
            </a:r>
          </a:p>
        </p:txBody>
      </p:sp>
      <p:sp>
        <p:nvSpPr>
          <p:cNvPr id="23" name="Rounded Rectangle 22"/>
          <p:cNvSpPr/>
          <p:nvPr/>
        </p:nvSpPr>
        <p:spPr>
          <a:xfrm>
            <a:off x="5143500" y="3400425"/>
            <a:ext cx="76200" cy="76200"/>
          </a:xfrm>
          <a:prstGeom prst="roundRect">
            <a:avLst>
              <a:gd name="adj" fmla="val 30000"/>
            </a:avLst>
          </a:prstGeom>
          <a:solidFill>
            <a:srgbClr val="CC000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76200" rIns="76200" tIns="38100" bIns="38100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5334000" y="3333750"/>
            <a:ext cx="6381750" cy="5715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>
              <a:lnSpc>
                <a:spcPct val="110000"/>
              </a:lnSpc>
            </a:pPr>
            <a:r>
              <a:rPr sz="1700" b="0" i="0" lang="en-US">
                <a:solidFill>
                  <a:srgbClr val="1A1A1A"/>
                </a:solidFill>
                <a:latin typeface="Noto Sans"/>
              </a:rPr>
              <a:t>Meanwhile the patient </a:t>
            </a:r>
            <a:r>
              <a:rPr sz="1700" b="1" i="0" lang="en-US">
                <a:solidFill>
                  <a:srgbClr val="1A1A1A"/>
                </a:solidFill>
                <a:latin typeface="Noto Sans"/>
              </a:rPr>
              <a:t>deteriorates mid-protocol</a:t>
            </a:r>
            <a:r>
              <a:rPr sz="1700" b="0" i="0" lang="en-US">
                <a:solidFill>
                  <a:srgbClr val="1A1A1A"/>
                </a:solidFill>
                <a:latin typeface="Noto Sans"/>
              </a:rPr>
              <a:t> — a new life threat appears while you're inside another box.</a:t>
            </a:r>
          </a:p>
        </p:txBody>
      </p:sp>
      <p:sp>
        <p:nvSpPr>
          <p:cNvPr id="25" name="Rounded Rectangle 24"/>
          <p:cNvSpPr/>
          <p:nvPr/>
        </p:nvSpPr>
        <p:spPr>
          <a:xfrm>
            <a:off x="5143500" y="4286250"/>
            <a:ext cx="47625" cy="438150"/>
          </a:xfrm>
          <a:prstGeom prst="roundRect">
            <a:avLst>
              <a:gd name="adj" fmla="val 30000"/>
            </a:avLst>
          </a:prstGeom>
          <a:solidFill>
            <a:srgbClr val="CC000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76200" rIns="76200" tIns="38100" bIns="38100"/>
          <a:lstStyle/>
          <a:p>
            <a:pPr algn="ctr"/>
          </a:p>
        </p:txBody>
      </p:sp>
      <p:sp>
        <p:nvSpPr>
          <p:cNvPr id="26" name="TextBox 25"/>
          <p:cNvSpPr txBox="1"/>
          <p:nvPr/>
        </p:nvSpPr>
        <p:spPr>
          <a:xfrm>
            <a:off x="5295900" y="4305300"/>
            <a:ext cx="6419850" cy="5715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>
              <a:lnSpc>
                <a:spcPct val="110000"/>
              </a:lnSpc>
            </a:pPr>
            <a:r>
              <a:rPr sz="1900" b="1" i="0" lang="en-US">
                <a:solidFill>
                  <a:srgbClr val="990000"/>
                </a:solidFill>
                <a:latin typeface="Noto Sans"/>
              </a:rPr>
              <a:t>Paper can't re-route. That gap is what we built.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11239500" y="6610350"/>
            <a:ext cx="762000" cy="1905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r>
              <a:rPr sz="900" b="0" i="0" lang="en-US">
                <a:solidFill>
                  <a:srgbClr val="6B6B6B"/>
                </a:solidFill>
                <a:latin typeface="Noto Sans"/>
              </a:rPr>
              <a:t>2 / 28</a:t>
            </a:r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58" dur="indefinite" nodeType="mainSeq">
                <p:childTnLst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2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4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6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8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0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2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4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6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8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0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2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4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6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2" fill="hold">
                      <p:stCondLst>
                        <p:cond delay="indefinite"/>
                      </p:stCondLst>
                      <p:childTnLst>
                        <p:par>
                          <p:cTn id="33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8" fill="hold">
                      <p:stCondLst>
                        <p:cond delay="indefinite"/>
                      </p:stCondLst>
                      <p:childTnLst>
                        <p:par>
                          <p:cTn id="39" fill="hold">
                            <p:stCondLst>
                              <p:cond delay="0"/>
                            </p:stCondLst>
                            <p:childTnLst>
                              <p:par>
                                <p:cTn id="34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36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4" fill="hold">
                      <p:stCondLst>
                        <p:cond delay="indefinite"/>
                      </p:stCondLst>
                      <p:childTnLst>
                        <p:par>
                          <p:cTn id="45" fill="hold">
                            <p:stCondLst>
                              <p:cond delay="0"/>
                            </p:stCondLst>
                            <p:childTnLst>
                              <p:par>
                                <p:cTn id="40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42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0" fill="hold">
                      <p:stCondLst>
                        <p:cond delay="indefinite"/>
                      </p:stCondLst>
                      <p:childTnLst>
                        <p:par>
                          <p:cTn id="51" fill="hold">
                            <p:stCondLst>
                              <p:cond delay="0"/>
                            </p:stCondLst>
                            <p:childTnLst>
                              <p:par>
                                <p:cTn id="46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48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6" fill="hold">
                      <p:stCondLst>
                        <p:cond delay="indefinite"/>
                      </p:stCondLst>
                      <p:childTnLst>
                        <p:par>
                          <p:cTn id="57" fill="hold">
                            <p:stCondLst>
                              <p:cond delay="0"/>
                            </p:stCondLst>
                            <p:childTnLst>
                              <p:par>
                                <p:cTn id="52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54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19100" y="285750"/>
            <a:ext cx="8572500" cy="1905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r>
              <a:rPr sz="1050" b="1" i="0" lang="en-US">
                <a:solidFill>
                  <a:srgbClr val="CC0000"/>
                </a:solidFill>
                <a:latin typeface="Noto Sans"/>
              </a:rPr>
              <a:t>RESQRULES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19100" y="495300"/>
            <a:ext cx="9525000" cy="43815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r>
              <a:rPr sz="2500" b="1" i="0" lang="en-US">
                <a:solidFill>
                  <a:srgbClr val="1A1A1A"/>
                </a:solidFill>
                <a:latin typeface="Noto Sans"/>
              </a:rPr>
              <a:t>Protocols as software that reacts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10763250" y="323850"/>
            <a:ext cx="1009650" cy="285750"/>
          </a:xfrm>
          <a:prstGeom prst="roundRect">
            <a:avLst>
              <a:gd name="adj" fmla="val 28000"/>
            </a:avLst>
          </a:prstGeom>
          <a:solidFill>
            <a:srgbClr val="CC000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76200" rIns="76200" tIns="38100" bIns="38100"/>
          <a:lstStyle/>
          <a:p>
            <a:pPr algn="ctr"/>
            <a:r>
              <a:rPr sz="1250" b="1" i="0" lang="en-US">
                <a:solidFill>
                  <a:srgbClr val="FFFFFF"/>
                </a:solidFill>
                <a:latin typeface="Noto Sans"/>
              </a:rPr>
              <a:t>ResQRules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2000250" y="2381250"/>
            <a:ext cx="2381250" cy="876300"/>
          </a:xfrm>
          <a:prstGeom prst="roundRect">
            <a:avLst>
              <a:gd name="adj" fmla="val 14000"/>
            </a:avLst>
          </a:prstGeom>
          <a:solidFill>
            <a:srgbClr val="FFFFFF"/>
          </a:solidFill>
          <a:ln w="22225">
            <a:solidFill>
              <a:srgbClr val="4A4A4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76200" rIns="76200" tIns="38100" bIns="38100"/>
          <a:lstStyle/>
          <a:p>
            <a:pPr algn="ctr"/>
            <a:r>
              <a:rPr sz="1600" b="1" i="0" lang="en-US">
                <a:solidFill>
                  <a:srgbClr val="1A1A1A"/>
                </a:solidFill>
                <a:latin typeface="Noto Sans"/>
              </a:rPr>
              <a:t>Experta engine</a:t>
            </a:r>
          </a:p>
          <a:p>
            <a:pPr algn="ctr"/>
            <a:r>
              <a:rPr sz="1100" b="0" i="0" lang="en-US">
                <a:solidFill>
                  <a:srgbClr val="6B6B6B"/>
                </a:solidFill>
                <a:latin typeface="Noto Sans"/>
              </a:rPr>
              <a:t>terminal Q&amp;A · the reasoning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4419600" y="2647950"/>
            <a:ext cx="381000" cy="3429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r>
              <a:rPr sz="2000" b="1" i="0" lang="en-US">
                <a:solidFill>
                  <a:srgbClr val="6B6B6B"/>
                </a:solidFill>
                <a:latin typeface="Noto Sans"/>
              </a:rPr>
              <a:t>→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4857750" y="2381250"/>
            <a:ext cx="2381250" cy="876300"/>
          </a:xfrm>
          <a:prstGeom prst="roundRect">
            <a:avLst>
              <a:gd name="adj" fmla="val 14000"/>
            </a:avLst>
          </a:prstGeom>
          <a:solidFill>
            <a:srgbClr val="FFFFFF"/>
          </a:solidFill>
          <a:ln w="22225">
            <a:solidFill>
              <a:srgbClr val="4A4A4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76200" rIns="76200" tIns="38100" bIns="38100"/>
          <a:lstStyle/>
          <a:p>
            <a:pPr algn="ctr"/>
            <a:r>
              <a:rPr sz="1600" b="1" i="0" lang="en-US">
                <a:solidFill>
                  <a:srgbClr val="1A1A1A"/>
                </a:solidFill>
                <a:latin typeface="Noto Sans"/>
              </a:rPr>
              <a:t>FastAPI</a:t>
            </a:r>
          </a:p>
          <a:p>
            <a:pPr algn="ctr"/>
            <a:r>
              <a:rPr sz="1100" b="0" i="0" lang="en-US">
                <a:solidFill>
                  <a:srgbClr val="6B6B6B"/>
                </a:solidFill>
                <a:latin typeface="Noto Sans"/>
              </a:rPr>
              <a:t>stable REST contract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7277100" y="2647950"/>
            <a:ext cx="381000" cy="3429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r>
              <a:rPr sz="2000" b="1" i="0" lang="en-US">
                <a:solidFill>
                  <a:srgbClr val="6B6B6B"/>
                </a:solidFill>
                <a:latin typeface="Noto Sans"/>
              </a:rPr>
              <a:t>→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7715250" y="2381250"/>
            <a:ext cx="2381250" cy="876300"/>
          </a:xfrm>
          <a:prstGeom prst="roundRect">
            <a:avLst>
              <a:gd name="adj" fmla="val 14000"/>
            </a:avLst>
          </a:prstGeom>
          <a:solidFill>
            <a:srgbClr val="FFFFFF"/>
          </a:solidFill>
          <a:ln w="22225">
            <a:solidFill>
              <a:srgbClr val="4A4A4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76200" rIns="76200" tIns="38100" bIns="38100"/>
          <a:lstStyle/>
          <a:p>
            <a:pPr algn="ctr"/>
            <a:r>
              <a:rPr sz="1600" b="1" i="0" lang="en-US">
                <a:solidFill>
                  <a:srgbClr val="1A1A1A"/>
                </a:solidFill>
                <a:latin typeface="Noto Sans"/>
              </a:rPr>
              <a:t>Flutter app</a:t>
            </a:r>
          </a:p>
          <a:p>
            <a:pPr algn="ctr"/>
            <a:r>
              <a:rPr sz="1100" b="0" i="0" lang="en-US">
                <a:solidFill>
                  <a:srgbClr val="6B6B6B"/>
                </a:solidFill>
                <a:latin typeface="Noto Sans"/>
              </a:rPr>
              <a:t>bilingual EN/AR · in the field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1428750" y="4000500"/>
            <a:ext cx="3562350" cy="323850"/>
          </a:xfrm>
          <a:prstGeom prst="roundRect">
            <a:avLst>
              <a:gd name="adj" fmla="val 50000"/>
            </a:avLst>
          </a:prstGeom>
          <a:solidFill>
            <a:srgbClr val="FFFFFF"/>
          </a:solidFill>
          <a:ln w="15875">
            <a:solidFill>
              <a:srgbClr val="E0E0E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76200" rIns="76200" tIns="38100" bIns="38100"/>
          <a:lstStyle/>
          <a:p>
            <a:pPr algn="ctr"/>
            <a:r>
              <a:rPr sz="1150" b="1" i="0" lang="en-US">
                <a:solidFill>
                  <a:srgbClr val="4A4A4A"/>
                </a:solidFill>
                <a:latin typeface="Noto Sans"/>
              </a:rPr>
              <a:t>Field responders — guided, interruptible protocols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5162550" y="4000500"/>
            <a:ext cx="1828800" cy="323850"/>
          </a:xfrm>
          <a:prstGeom prst="roundRect">
            <a:avLst>
              <a:gd name="adj" fmla="val 50000"/>
            </a:avLst>
          </a:prstGeom>
          <a:solidFill>
            <a:srgbClr val="FFFFFF"/>
          </a:solidFill>
          <a:ln w="15875">
            <a:solidFill>
              <a:srgbClr val="E0E0E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76200" rIns="76200" tIns="38100" bIns="38100"/>
          <a:lstStyle/>
          <a:p>
            <a:pPr algn="ctr"/>
            <a:r>
              <a:rPr sz="1150" b="1" i="0" lang="en-US">
                <a:solidFill>
                  <a:srgbClr val="4A4A4A"/>
                </a:solidFill>
                <a:latin typeface="Noto Sans"/>
              </a:rPr>
              <a:t>Trainees — safe practice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7162800" y="4000500"/>
            <a:ext cx="2628900" cy="323850"/>
          </a:xfrm>
          <a:prstGeom prst="roundRect">
            <a:avLst>
              <a:gd name="adj" fmla="val 50000"/>
            </a:avLst>
          </a:prstGeom>
          <a:solidFill>
            <a:srgbClr val="FFEAEA"/>
          </a:solidFill>
          <a:ln w="15875">
            <a:solidFill>
              <a:srgbClr val="CC000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76200" rIns="76200" tIns="38100" bIns="38100"/>
          <a:lstStyle/>
          <a:p>
            <a:pPr algn="ctr"/>
            <a:r>
              <a:rPr sz="1150" b="1" i="0" lang="en-US">
                <a:solidFill>
                  <a:srgbClr val="990000"/>
                </a:solidFill>
                <a:latin typeface="Noto Sans"/>
              </a:rPr>
              <a:t>This room — a working KBS case study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419100" y="6286500"/>
            <a:ext cx="6096000" cy="285750"/>
          </a:xfrm>
          <a:prstGeom prst="roundRect">
            <a:avLst>
              <a:gd name="adj" fmla="val 50000"/>
            </a:avLst>
          </a:prstGeom>
          <a:solidFill>
            <a:srgbClr val="F5F5F5"/>
          </a:solidFill>
          <a:ln w="15875">
            <a:solidFill>
              <a:srgbClr val="E0E0E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76200" rIns="76200" tIns="38100" bIns="38100"/>
          <a:lstStyle/>
          <a:p>
            <a:pPr algn="ctr"/>
            <a:r>
              <a:rPr sz="1050" b="0" i="0" lang="en-US">
                <a:solidFill>
                  <a:srgbClr val="4A4A4A"/>
                </a:solidFill>
                <a:latin typeface="Noto Sans"/>
              </a:rPr>
              <a:t>5 protocols in scope: #1 assessment · #3 CPR adult · #7 choking · #8 airway · #10 hemorrhage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11239500" y="6610350"/>
            <a:ext cx="762000" cy="1905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r>
              <a:rPr sz="900" b="0" i="0" lang="en-US">
                <a:solidFill>
                  <a:srgbClr val="6B6B6B"/>
                </a:solidFill>
                <a:latin typeface="Noto Sans"/>
              </a:rPr>
              <a:t>3 / 28</a:t>
            </a:r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30" dur="indefinite" nodeType="mainSeq">
                <p:childTnLst>
                  <p:par>
                    <p:cTn id="6" fill="hold">
                      <p:stCondLst>
                        <p:cond delay="indefinite"/>
                      </p:stCondLst>
                      <p:childTnLst>
                        <p:par>
                          <p:cTn id="7" fill="hold">
                            <p:stCondLst>
                              <p:cond delay="0"/>
                            </p:stCondLst>
                            <p:childTnLst>
                              <p:par>
                                <p:cTn id="2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4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2" fill="hold">
                      <p:stCondLst>
                        <p:cond delay="indefinite"/>
                      </p:stCondLst>
                      <p:childTnLst>
                        <p:par>
                          <p:cTn id="13" fill="hold">
                            <p:stCondLst>
                              <p:cond delay="0"/>
                            </p:stCondLst>
                            <p:childTnLst>
                              <p:par>
                                <p:cTn id="8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0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6" fill="hold">
                      <p:stCondLst>
                        <p:cond delay="indefinite"/>
                      </p:stCondLst>
                      <p:childTnLst>
                        <p:par>
                          <p:cTn id="17" fill="hold">
                            <p:stCondLst>
                              <p:cond delay="0"/>
                            </p:stCondLst>
                            <p:childTnLst>
                              <p:par>
                                <p:cTn id="14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4" fill="hold">
                      <p:stCondLst>
                        <p:cond delay="indefinite"/>
                      </p:stCondLst>
                      <p:childTnLst>
                        <p:par>
                          <p:cTn id="25" fill="hold">
                            <p:stCondLst>
                              <p:cond delay="0"/>
                            </p:stCondLst>
                            <p:childTnLst>
                              <p:par>
                                <p:cTn id="18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0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2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26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19100" y="285750"/>
            <a:ext cx="8572500" cy="1905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r>
              <a:rPr sz="1050" b="1" i="0" lang="en-US">
                <a:solidFill>
                  <a:srgbClr val="CC0000"/>
                </a:solidFill>
                <a:latin typeface="Noto Sans"/>
              </a:rPr>
              <a:t>DOMAIN — HOW A PARAMEDIC THINKS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19100" y="495300"/>
            <a:ext cx="9525000" cy="43815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r>
              <a:rPr sz="2500" b="1" i="0" lang="en-US">
                <a:solidFill>
                  <a:srgbClr val="1A1A1A"/>
                </a:solidFill>
                <a:latin typeface="Noto Sans"/>
              </a:rPr>
              <a:t>Four assessment phases — and one structural exception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10763250" y="323850"/>
            <a:ext cx="1009650" cy="285750"/>
          </a:xfrm>
          <a:prstGeom prst="roundRect">
            <a:avLst>
              <a:gd name="adj" fmla="val 28000"/>
            </a:avLst>
          </a:prstGeom>
          <a:solidFill>
            <a:srgbClr val="CC000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76200" rIns="76200" tIns="38100" bIns="38100"/>
          <a:lstStyle/>
          <a:p>
            <a:pPr algn="ctr"/>
            <a:r>
              <a:rPr sz="1250" b="1" i="0" lang="en-US">
                <a:solidFill>
                  <a:srgbClr val="FFFFFF"/>
                </a:solidFill>
                <a:latin typeface="Noto Sans"/>
              </a:rPr>
              <a:t>ResQRules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419100" y="1524000"/>
            <a:ext cx="2743200" cy="1428750"/>
          </a:xfrm>
          <a:prstGeom prst="roundRect">
            <a:avLst>
              <a:gd name="adj" fmla="val 9000"/>
            </a:avLst>
          </a:prstGeom>
          <a:solidFill>
            <a:srgbClr val="FFFFFF"/>
          </a:solidFill>
          <a:ln w="22225">
            <a:solidFill>
              <a:srgbClr val="E0E0E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76200" rIns="76200" tIns="38100" bIns="38100"/>
          <a:lstStyle/>
          <a:p>
            <a:pPr algn="ctr"/>
          </a:p>
        </p:txBody>
      </p:sp>
      <p:sp>
        <p:nvSpPr>
          <p:cNvPr id="6" name="Oval 5"/>
          <p:cNvSpPr/>
          <p:nvPr/>
        </p:nvSpPr>
        <p:spPr>
          <a:xfrm>
            <a:off x="571500" y="1676400"/>
            <a:ext cx="285750" cy="285750"/>
          </a:xfrm>
          <a:prstGeom prst="ellipse">
            <a:avLst/>
          </a:prstGeom>
          <a:solidFill>
            <a:srgbClr val="4A4A4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76200" rIns="76200" tIns="38100" bIns="38100"/>
          <a:lstStyle/>
          <a:p>
            <a:pPr algn="ctr"/>
            <a:r>
              <a:rPr sz="1300" b="1" i="0" lang="en-US">
                <a:solidFill>
                  <a:srgbClr val="FFFFFF"/>
                </a:solidFill>
                <a:latin typeface="Noto Sans"/>
              </a:rPr>
              <a:t>1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71500" y="2038350"/>
            <a:ext cx="2457450" cy="24765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r>
              <a:rPr sz="1500" b="1" i="0" lang="en-US">
                <a:solidFill>
                  <a:srgbClr val="1A1A1A"/>
                </a:solidFill>
                <a:latin typeface="Noto Sans"/>
              </a:rPr>
              <a:t>Preliminary — SSS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571500" y="2324100"/>
            <a:ext cx="2457450" cy="55245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>
              <a:lnSpc>
                <a:spcPct val="115000"/>
              </a:lnSpc>
            </a:pPr>
            <a:r>
              <a:rPr sz="1150" b="0" i="0" lang="en-US">
                <a:solidFill>
                  <a:srgbClr val="4A4A4A"/>
                </a:solidFill>
                <a:latin typeface="Noto Sans"/>
              </a:rPr>
              <a:t>Safety · Scene · Situation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3276600" y="1524000"/>
            <a:ext cx="2743200" cy="1428750"/>
          </a:xfrm>
          <a:prstGeom prst="roundRect">
            <a:avLst>
              <a:gd name="adj" fmla="val 9000"/>
            </a:avLst>
          </a:prstGeom>
          <a:solidFill>
            <a:srgbClr val="FFFFFF"/>
          </a:solidFill>
          <a:ln w="22225">
            <a:solidFill>
              <a:srgbClr val="E0E0E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76200" rIns="76200" tIns="38100" bIns="38100"/>
          <a:lstStyle/>
          <a:p>
            <a:pPr algn="ctr"/>
          </a:p>
        </p:txBody>
      </p:sp>
      <p:sp>
        <p:nvSpPr>
          <p:cNvPr id="10" name="Oval 9"/>
          <p:cNvSpPr/>
          <p:nvPr/>
        </p:nvSpPr>
        <p:spPr>
          <a:xfrm>
            <a:off x="3429000" y="1676400"/>
            <a:ext cx="285750" cy="285750"/>
          </a:xfrm>
          <a:prstGeom prst="ellipse">
            <a:avLst/>
          </a:prstGeom>
          <a:solidFill>
            <a:srgbClr val="4A4A4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76200" rIns="76200" tIns="38100" bIns="38100"/>
          <a:lstStyle/>
          <a:p>
            <a:pPr algn="ctr"/>
            <a:r>
              <a:rPr sz="1300" b="1" i="0" lang="en-US">
                <a:solidFill>
                  <a:srgbClr val="FFFFFF"/>
                </a:solidFill>
                <a:latin typeface="Noto Sans"/>
              </a:rPr>
              <a:t>2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3429000" y="2038350"/>
            <a:ext cx="2457450" cy="24765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r>
              <a:rPr sz="1500" b="1" i="0" lang="en-US">
                <a:solidFill>
                  <a:srgbClr val="1A1A1A"/>
                </a:solidFill>
                <a:latin typeface="Noto Sans"/>
              </a:rPr>
              <a:t>Primary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3429000" y="2324100"/>
            <a:ext cx="2457450" cy="55245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>
              <a:lnSpc>
                <a:spcPct val="115000"/>
              </a:lnSpc>
            </a:pPr>
            <a:r>
              <a:rPr sz="1150" b="0" i="0" lang="en-US">
                <a:solidFill>
                  <a:srgbClr val="4A4A4A"/>
                </a:solidFill>
                <a:latin typeface="Noto Sans"/>
              </a:rPr>
              <a:t>AVPU + ABCDE: Airway · Breathing · Circulation · Disability · Expose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6134100" y="1524000"/>
            <a:ext cx="2743200" cy="1428750"/>
          </a:xfrm>
          <a:prstGeom prst="roundRect">
            <a:avLst>
              <a:gd name="adj" fmla="val 9000"/>
            </a:avLst>
          </a:prstGeom>
          <a:solidFill>
            <a:srgbClr val="FFFFFF"/>
          </a:solidFill>
          <a:ln w="22225">
            <a:solidFill>
              <a:srgbClr val="E0E0E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76200" rIns="76200" tIns="38100" bIns="38100"/>
          <a:lstStyle/>
          <a:p>
            <a:pPr algn="ctr"/>
          </a:p>
        </p:txBody>
      </p:sp>
      <p:sp>
        <p:nvSpPr>
          <p:cNvPr id="14" name="Oval 13"/>
          <p:cNvSpPr/>
          <p:nvPr/>
        </p:nvSpPr>
        <p:spPr>
          <a:xfrm>
            <a:off x="6286500" y="1676400"/>
            <a:ext cx="285750" cy="285750"/>
          </a:xfrm>
          <a:prstGeom prst="ellipse">
            <a:avLst/>
          </a:prstGeom>
          <a:solidFill>
            <a:srgbClr val="4A4A4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76200" rIns="76200" tIns="38100" bIns="38100"/>
          <a:lstStyle/>
          <a:p>
            <a:pPr algn="ctr"/>
            <a:r>
              <a:rPr sz="1300" b="1" i="0" lang="en-US">
                <a:solidFill>
                  <a:srgbClr val="FFFFFF"/>
                </a:solidFill>
                <a:latin typeface="Noto Sans"/>
              </a:rPr>
              <a:t>3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6286500" y="2038350"/>
            <a:ext cx="2457450" cy="24765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r>
              <a:rPr sz="1500" b="1" i="0" lang="en-US">
                <a:solidFill>
                  <a:srgbClr val="1A1A1A"/>
                </a:solidFill>
                <a:latin typeface="Noto Sans"/>
              </a:rPr>
              <a:t>Secondary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6286500" y="2324100"/>
            <a:ext cx="2457450" cy="55245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>
              <a:lnSpc>
                <a:spcPct val="115000"/>
              </a:lnSpc>
            </a:pPr>
            <a:r>
              <a:rPr sz="1150" b="0" i="0" lang="en-US">
                <a:solidFill>
                  <a:srgbClr val="4A4A4A"/>
                </a:solidFill>
                <a:latin typeface="Noto Sans"/>
              </a:rPr>
              <a:t>SAMPLER · OPQRST · GCS · PERRLA · vitals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8991600" y="1524000"/>
            <a:ext cx="2743200" cy="1428750"/>
          </a:xfrm>
          <a:prstGeom prst="roundRect">
            <a:avLst>
              <a:gd name="adj" fmla="val 9000"/>
            </a:avLst>
          </a:prstGeom>
          <a:solidFill>
            <a:srgbClr val="FFFFFF"/>
          </a:solidFill>
          <a:ln w="22225">
            <a:solidFill>
              <a:srgbClr val="E0E0E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76200" rIns="76200" tIns="38100" bIns="38100"/>
          <a:lstStyle/>
          <a:p>
            <a:pPr algn="ctr"/>
          </a:p>
        </p:txBody>
      </p:sp>
      <p:sp>
        <p:nvSpPr>
          <p:cNvPr id="18" name="Oval 17"/>
          <p:cNvSpPr/>
          <p:nvPr/>
        </p:nvSpPr>
        <p:spPr>
          <a:xfrm>
            <a:off x="9144000" y="1676400"/>
            <a:ext cx="285750" cy="285750"/>
          </a:xfrm>
          <a:prstGeom prst="ellipse">
            <a:avLst/>
          </a:prstGeom>
          <a:solidFill>
            <a:srgbClr val="4A4A4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76200" rIns="76200" tIns="38100" bIns="38100"/>
          <a:lstStyle/>
          <a:p>
            <a:pPr algn="ctr"/>
            <a:r>
              <a:rPr sz="1300" b="1" i="0" lang="en-US">
                <a:solidFill>
                  <a:srgbClr val="FFFFFF"/>
                </a:solidFill>
                <a:latin typeface="Noto Sans"/>
              </a:rPr>
              <a:t>4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9144000" y="2038350"/>
            <a:ext cx="2457450" cy="24765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r>
              <a:rPr sz="1500" b="1" i="0" lang="en-US">
                <a:solidFill>
                  <a:srgbClr val="1A1A1A"/>
                </a:solidFill>
                <a:latin typeface="Noto Sans"/>
              </a:rPr>
              <a:t>Continuous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9144000" y="2324100"/>
            <a:ext cx="2457450" cy="55245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>
              <a:lnSpc>
                <a:spcPct val="115000"/>
              </a:lnSpc>
            </a:pPr>
            <a:r>
              <a:rPr sz="1150" b="0" i="0" lang="en-US">
                <a:solidFill>
                  <a:srgbClr val="4A4A4A"/>
                </a:solidFill>
                <a:latin typeface="Noto Sans"/>
              </a:rPr>
              <a:t>Reassess &amp; orient to the right care center</a:t>
            </a:r>
          </a:p>
        </p:txBody>
      </p:sp>
      <p:sp>
        <p:nvSpPr>
          <p:cNvPr id="21" name="Rounded Rectangle 20"/>
          <p:cNvSpPr/>
          <p:nvPr/>
        </p:nvSpPr>
        <p:spPr>
          <a:xfrm>
            <a:off x="419100" y="3429000"/>
            <a:ext cx="11353800" cy="1143000"/>
          </a:xfrm>
          <a:prstGeom prst="roundRect">
            <a:avLst>
              <a:gd name="adj" fmla="val 10000"/>
            </a:avLst>
          </a:prstGeom>
          <a:solidFill>
            <a:srgbClr val="FFEAEA"/>
          </a:solidFill>
          <a:ln w="25400">
            <a:solidFill>
              <a:srgbClr val="CC000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76200" rIns="76200" tIns="38100" bIns="38100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666750" y="3657600"/>
            <a:ext cx="2286000" cy="66675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r>
              <a:rPr sz="1600" b="1" i="0" lang="en-US">
                <a:solidFill>
                  <a:srgbClr val="990000"/>
                </a:solidFill>
                <a:latin typeface="Noto Sans"/>
              </a:rPr>
              <a:t>Life-threatening</a:t>
            </a:r>
          </a:p>
          <a:p>
            <a:r>
              <a:rPr sz="1600" b="1" i="0" lang="en-US">
                <a:solidFill>
                  <a:srgbClr val="990000"/>
                </a:solidFill>
                <a:latin typeface="Noto Sans"/>
              </a:rPr>
              <a:t>bleeding?  (gen_04)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3143250" y="3600450"/>
            <a:ext cx="8382000" cy="85725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>
              <a:lnSpc>
                <a:spcPct val="120000"/>
              </a:lnSpc>
            </a:pPr>
            <a:r>
              <a:rPr sz="1250" b="0" i="0" lang="en-US">
                <a:solidFill>
                  <a:srgbClr val="1A1A1A"/>
                </a:solidFill>
                <a:latin typeface="Noto Sans"/>
              </a:rPr>
              <a:t>Asked </a:t>
            </a:r>
            <a:r>
              <a:rPr sz="1250" b="1" i="0" lang="en-US">
                <a:solidFill>
                  <a:srgbClr val="1A1A1A"/>
                </a:solidFill>
                <a:latin typeface="Noto Sans"/>
              </a:rPr>
              <a:t>between phases 1 and 2 — before ABCDE ever runs</a:t>
            </a:r>
            <a:r>
              <a:rPr sz="1250" b="0" i="0" lang="en-US">
                <a:solidFill>
                  <a:srgbClr val="1A1A1A"/>
                </a:solidFill>
                <a:latin typeface="Noto Sans"/>
              </a:rPr>
              <a:t> — jumping straight to the Catastrophic Hemorrhage protocol. The chart encodes clinical precedence </a:t>
            </a:r>
            <a:r>
              <a:rPr sz="1250" b="1" i="0" lang="en-US">
                <a:solidFill>
                  <a:srgbClr val="1A1A1A"/>
                </a:solidFill>
                <a:latin typeface="Noto Sans"/>
              </a:rPr>
              <a:t>positionally</a:t>
            </a:r>
            <a:r>
              <a:rPr sz="1250" b="0" i="0" lang="en-US">
                <a:solidFill>
                  <a:srgbClr val="1A1A1A"/>
                </a:solidFill>
                <a:latin typeface="Noto Sans"/>
              </a:rPr>
              <a:t>.</a:t>
            </a:r>
          </a:p>
          <a:p>
            <a:pPr>
              <a:lnSpc>
                <a:spcPct val="120000"/>
              </a:lnSpc>
            </a:pPr>
            <a:r>
              <a:rPr sz="1250" b="1" i="0" lang="en-US">
                <a:solidFill>
                  <a:srgbClr val="1A1A1A"/>
                </a:solidFill>
                <a:latin typeface="Noto Sans"/>
              </a:rPr>
              <a:t>Our engine encodes the same precedence as salience</a:t>
            </a:r>
            <a:r>
              <a:rPr sz="1250" b="0" i="0" lang="en-US">
                <a:solidFill>
                  <a:srgbClr val="1A1A1A"/>
                </a:solidFill>
                <a:latin typeface="Noto Sans"/>
              </a:rPr>
              <a:t> — coming up in Inference I.</a:t>
            </a:r>
          </a:p>
        </p:txBody>
      </p:sp>
      <p:sp>
        <p:nvSpPr>
          <p:cNvPr id="24" name="Rounded Rectangle 23"/>
          <p:cNvSpPr/>
          <p:nvPr/>
        </p:nvSpPr>
        <p:spPr>
          <a:xfrm>
            <a:off x="419100" y="6286500"/>
            <a:ext cx="5334000" cy="285750"/>
          </a:xfrm>
          <a:prstGeom prst="roundRect">
            <a:avLst>
              <a:gd name="adj" fmla="val 50000"/>
            </a:avLst>
          </a:prstGeom>
          <a:solidFill>
            <a:srgbClr val="F5F5F5"/>
          </a:solidFill>
          <a:ln w="15875">
            <a:solidFill>
              <a:srgbClr val="E0E0E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76200" rIns="76200" tIns="38100" bIns="38100"/>
          <a:lstStyle/>
          <a:p>
            <a:pPr algn="ctr"/>
            <a:r>
              <a:rPr sz="1050" b="0" i="0" lang="en-US">
                <a:solidFill>
                  <a:srgbClr val="4A4A4A"/>
                </a:solidFill>
                <a:latin typeface="Noto Sans"/>
              </a:rPr>
              <a:t>SARC chart #1 · p.1 · gen_04 → jump to hemorrhage (drawn on the chart)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11239500" y="6610350"/>
            <a:ext cx="762000" cy="1905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r>
              <a:rPr sz="900" b="0" i="0" lang="en-US">
                <a:solidFill>
                  <a:srgbClr val="6B6B6B"/>
                </a:solidFill>
                <a:latin typeface="Noto Sans"/>
              </a:rPr>
              <a:t>4 / 28</a:t>
            </a:r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54" dur="indefinite" nodeType="mainSeq">
                <p:childTnLst>
                  <p:par>
                    <p:cTn id="10" fill="hold">
                      <p:stCondLst>
                        <p:cond delay="indefinite"/>
                      </p:stCondLst>
                      <p:childTnLst>
                        <p:par>
                          <p:cTn id="11" fill="hold">
                            <p:stCondLst>
                              <p:cond delay="0"/>
                            </p:stCondLst>
                            <p:childTnLst>
                              <p:par>
                                <p:cTn id="2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4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6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8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0" fill="hold">
                      <p:stCondLst>
                        <p:cond delay="indefinite"/>
                      </p:stCondLst>
                      <p:childTnLst>
                        <p:par>
                          <p:cTn id="21" fill="hold">
                            <p:stCondLst>
                              <p:cond delay="0"/>
                            </p:stCondLst>
                            <p:childTnLst>
                              <p:par>
                                <p:cTn id="12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4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6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8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0" fill="hold">
                      <p:stCondLst>
                        <p:cond delay="indefinite"/>
                      </p:stCondLst>
                      <p:childTnLst>
                        <p:par>
                          <p:cTn id="31" fill="hold">
                            <p:stCondLst>
                              <p:cond delay="0"/>
                            </p:stCondLst>
                            <p:childTnLst>
                              <p:par>
                                <p:cTn id="22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4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6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8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0" fill="hold">
                      <p:stCondLst>
                        <p:cond delay="indefinite"/>
                      </p:stCondLst>
                      <p:childTnLst>
                        <p:par>
                          <p:cTn id="41" fill="hold">
                            <p:stCondLst>
                              <p:cond delay="0"/>
                            </p:stCondLst>
                            <p:childTnLst>
                              <p:par>
                                <p:cTn id="32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34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36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38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8" fill="hold">
                      <p:stCondLst>
                        <p:cond delay="indefinite"/>
                      </p:stCondLst>
                      <p:childTnLst>
                        <p:par>
                          <p:cTn id="49" fill="hold">
                            <p:stCondLst>
                              <p:cond delay="0"/>
                            </p:stCondLst>
                            <p:childTnLst>
                              <p:par>
                                <p:cTn id="42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44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46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2" fill="hold">
                      <p:stCondLst>
                        <p:cond delay="indefinite"/>
                      </p:stCondLst>
                      <p:childTnLst>
                        <p:par>
                          <p:cTn id="53" fill="hold">
                            <p:stCondLst>
                              <p:cond delay="0"/>
                            </p:stCondLst>
                            <p:childTnLst>
                              <p:par>
                                <p:cTn id="50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19100" y="285750"/>
            <a:ext cx="8572500" cy="1905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r>
              <a:rPr sz="1050" b="1" i="0" lang="en-US">
                <a:solidFill>
                  <a:srgbClr val="CC0000"/>
                </a:solidFill>
                <a:latin typeface="Noto Sans"/>
              </a:rPr>
              <a:t>KNOWLEDGE SOURCES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19100" y="495300"/>
            <a:ext cx="9525000" cy="43815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r>
              <a:rPr sz="2500" b="1" i="0" lang="en-US">
                <a:solidFill>
                  <a:srgbClr val="1A1A1A"/>
                </a:solidFill>
                <a:latin typeface="Noto Sans"/>
              </a:rPr>
              <a:t>Expert-validated knowledge — never our invention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10763250" y="323850"/>
            <a:ext cx="1009650" cy="285750"/>
          </a:xfrm>
          <a:prstGeom prst="roundRect">
            <a:avLst>
              <a:gd name="adj" fmla="val 28000"/>
            </a:avLst>
          </a:prstGeom>
          <a:solidFill>
            <a:srgbClr val="CC000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76200" rIns="76200" tIns="38100" bIns="38100"/>
          <a:lstStyle/>
          <a:p>
            <a:pPr algn="ctr"/>
            <a:r>
              <a:rPr sz="1250" b="1" i="0" lang="en-US">
                <a:solidFill>
                  <a:srgbClr val="FFFFFF"/>
                </a:solidFill>
                <a:latin typeface="Noto Sans"/>
              </a:rPr>
              <a:t>ResQRules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419100" y="1619250"/>
            <a:ext cx="5524500" cy="2476500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 w="19050">
            <a:solidFill>
              <a:srgbClr val="E0E0E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76200" rIns="76200" tIns="38100" bIns="38100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666750" y="1847850"/>
            <a:ext cx="4953000" cy="28575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r>
              <a:rPr sz="1700" b="1" i="0" lang="en-US">
                <a:solidFill>
                  <a:srgbClr val="1A1A1A"/>
                </a:solidFill>
                <a:latin typeface="Noto Sans"/>
              </a:rPr>
              <a:t>SARC official SOP flowcharts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66750" y="2190750"/>
            <a:ext cx="4953000" cy="24765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r>
              <a:rPr sz="1250" b="0" i="0" lang="en-US">
                <a:solidFill>
                  <a:srgbClr val="4A4A4A"/>
                </a:solidFill>
                <a:latin typeface="Noto Sans"/>
              </a:rPr>
              <a:t>The 12-chart first-responder deck; 5 in scope for v1: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666750" y="2552700"/>
            <a:ext cx="2381250" cy="266700"/>
          </a:xfrm>
          <a:prstGeom prst="roundRect">
            <a:avLst>
              <a:gd name="adj" fmla="val 50000"/>
            </a:avLst>
          </a:prstGeom>
          <a:solidFill>
            <a:srgbClr val="FFFFFF"/>
          </a:solidFill>
          <a:ln w="15875">
            <a:solidFill>
              <a:srgbClr val="CC000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76200" rIns="76200" tIns="38100" bIns="38100"/>
          <a:lstStyle/>
          <a:p>
            <a:pPr algn="ctr"/>
            <a:r>
              <a:rPr sz="1100" b="1" i="0" lang="en-US">
                <a:solidFill>
                  <a:srgbClr val="990000"/>
                </a:solidFill>
                <a:latin typeface="Noto Sans"/>
              </a:rPr>
              <a:t>#1 General Assessment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666750" y="2876550"/>
            <a:ext cx="2381250" cy="266700"/>
          </a:xfrm>
          <a:prstGeom prst="roundRect">
            <a:avLst>
              <a:gd name="adj" fmla="val 50000"/>
            </a:avLst>
          </a:prstGeom>
          <a:solidFill>
            <a:srgbClr val="FFFFFF"/>
          </a:solidFill>
          <a:ln w="15875">
            <a:solidFill>
              <a:srgbClr val="CC000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76200" rIns="76200" tIns="38100" bIns="38100"/>
          <a:lstStyle/>
          <a:p>
            <a:pPr algn="ctr"/>
            <a:r>
              <a:rPr sz="1100" b="1" i="0" lang="en-US">
                <a:solidFill>
                  <a:srgbClr val="990000"/>
                </a:solidFill>
                <a:latin typeface="Noto Sans"/>
              </a:rPr>
              <a:t>#3 CPR Adult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666750" y="3200400"/>
            <a:ext cx="2381250" cy="266700"/>
          </a:xfrm>
          <a:prstGeom prst="roundRect">
            <a:avLst>
              <a:gd name="adj" fmla="val 50000"/>
            </a:avLst>
          </a:prstGeom>
          <a:solidFill>
            <a:srgbClr val="FFFFFF"/>
          </a:solidFill>
          <a:ln w="15875">
            <a:solidFill>
              <a:srgbClr val="CC000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76200" rIns="76200" tIns="38100" bIns="38100"/>
          <a:lstStyle/>
          <a:p>
            <a:pPr algn="ctr"/>
            <a:r>
              <a:rPr sz="1100" b="1" i="0" lang="en-US">
                <a:solidFill>
                  <a:srgbClr val="990000"/>
                </a:solidFill>
                <a:latin typeface="Noto Sans"/>
              </a:rPr>
              <a:t>#7 Heimlich / Choking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666750" y="3524250"/>
            <a:ext cx="2381250" cy="266700"/>
          </a:xfrm>
          <a:prstGeom prst="roundRect">
            <a:avLst>
              <a:gd name="adj" fmla="val 50000"/>
            </a:avLst>
          </a:prstGeom>
          <a:solidFill>
            <a:srgbClr val="FFFFFF"/>
          </a:solidFill>
          <a:ln w="15875">
            <a:solidFill>
              <a:srgbClr val="CC000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76200" rIns="76200" tIns="38100" bIns="38100"/>
          <a:lstStyle/>
          <a:p>
            <a:pPr algn="ctr"/>
            <a:r>
              <a:rPr sz="1100" b="1" i="0" lang="en-US">
                <a:solidFill>
                  <a:srgbClr val="990000"/>
                </a:solidFill>
                <a:latin typeface="Noto Sans"/>
              </a:rPr>
              <a:t>#8 Upper Airway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666750" y="3848100"/>
            <a:ext cx="2381250" cy="266700"/>
          </a:xfrm>
          <a:prstGeom prst="roundRect">
            <a:avLst>
              <a:gd name="adj" fmla="val 50000"/>
            </a:avLst>
          </a:prstGeom>
          <a:solidFill>
            <a:srgbClr val="FFFFFF"/>
          </a:solidFill>
          <a:ln w="15875">
            <a:solidFill>
              <a:srgbClr val="CC000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76200" rIns="76200" tIns="38100" bIns="38100"/>
          <a:lstStyle/>
          <a:p>
            <a:pPr algn="ctr"/>
            <a:r>
              <a:rPr sz="1100" b="1" i="0" lang="en-US">
                <a:solidFill>
                  <a:srgbClr val="990000"/>
                </a:solidFill>
                <a:latin typeface="Noto Sans"/>
              </a:rPr>
              <a:t>#10 Catastrophic Hemorrhage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6248400" y="1619250"/>
            <a:ext cx="5524500" cy="2476500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 w="19050">
            <a:solidFill>
              <a:srgbClr val="E0E0E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76200" rIns="76200" tIns="38100" bIns="38100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6496050" y="1847850"/>
            <a:ext cx="4953000" cy="28575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r>
              <a:rPr sz="1700" b="1" i="0" lang="en-US">
                <a:solidFill>
                  <a:srgbClr val="1A1A1A"/>
                </a:solidFill>
                <a:latin typeface="Noto Sans"/>
              </a:rPr>
              <a:t>An expert in the loop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6496050" y="2209800"/>
            <a:ext cx="4953000" cy="161925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>
              <a:lnSpc>
                <a:spcPct val="130000"/>
              </a:lnSpc>
            </a:pPr>
            <a:r>
              <a:rPr sz="1300" b="1" i="0" lang="en-US">
                <a:solidFill>
                  <a:srgbClr val="1A1A1A"/>
                </a:solidFill>
                <a:latin typeface="Noto Sans"/>
              </a:rPr>
              <a:t>M.GH — paramedic on the team. </a:t>
            </a:r>
            <a:r>
              <a:rPr sz="1300" b="0" i="0" lang="en-US">
                <a:solidFill>
                  <a:srgbClr val="4A4A4A"/>
                </a:solidFill>
                <a:latin typeface="Noto Sans"/>
              </a:rPr>
              <a:t>Collected the source charts, resolved ambiguities during extraction, and validated the transcribed knowledge. Knowledge acquisition with the expert at the table, not by email.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419100" y="4572000"/>
            <a:ext cx="47625" cy="438150"/>
          </a:xfrm>
          <a:prstGeom prst="roundRect">
            <a:avLst>
              <a:gd name="adj" fmla="val 30000"/>
            </a:avLst>
          </a:prstGeom>
          <a:solidFill>
            <a:srgbClr val="CC000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76200" rIns="76200" tIns="38100" bIns="38100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571500" y="4591050"/>
            <a:ext cx="8420100" cy="5715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>
              <a:lnSpc>
                <a:spcPct val="110000"/>
              </a:lnSpc>
            </a:pPr>
            <a:r>
              <a:rPr sz="1900" b="1" i="0" lang="en-US">
                <a:solidFill>
                  <a:srgbClr val="990000"/>
                </a:solidFill>
                <a:latin typeface="Noto Sans"/>
              </a:rPr>
              <a:t>Rule zero: transcribe the chart — never “improve” medical content.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11239500" y="6610350"/>
            <a:ext cx="762000" cy="1905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r>
              <a:rPr sz="900" b="0" i="0" lang="en-US">
                <a:solidFill>
                  <a:srgbClr val="6B6B6B"/>
                </a:solidFill>
                <a:latin typeface="Noto Sans"/>
              </a:rPr>
              <a:t>5 / 28</a:t>
            </a:r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34" dur="indefinite" nodeType="mainSeq">
                <p:childTnLst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4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6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8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0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2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4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6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6" fill="hold">
                      <p:stCondLst>
                        <p:cond delay="indefinite"/>
                      </p:stCondLst>
                      <p:childTnLst>
                        <p:par>
                          <p:cTn id="27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2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4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2" fill="hold">
                      <p:stCondLst>
                        <p:cond delay="indefinite"/>
                      </p:stCondLst>
                      <p:childTnLst>
                        <p:par>
                          <p:cTn id="33" fill="hold">
                            <p:stCondLst>
                              <p:cond delay="0"/>
                            </p:stCondLst>
                            <p:childTnLst>
                              <p:par>
                                <p:cTn id="28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30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19100" y="285750"/>
            <a:ext cx="8572500" cy="1905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r>
              <a:rPr sz="1050" b="1" i="0" lang="en-US">
                <a:solidFill>
                  <a:srgbClr val="CC0000"/>
                </a:solidFill>
                <a:latin typeface="Noto Sans"/>
              </a:rPr>
              <a:t>DESIGN — WHAT WE REJECTED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19100" y="495300"/>
            <a:ext cx="9525000" cy="43815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r>
              <a:rPr sz="2500" b="1" i="0" lang="en-US">
                <a:solidFill>
                  <a:srgbClr val="1A1A1A"/>
                </a:solidFill>
                <a:latin typeface="Noto Sans"/>
              </a:rPr>
              <a:t>One @Rule per box is not a knowledge base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10763250" y="323850"/>
            <a:ext cx="1009650" cy="285750"/>
          </a:xfrm>
          <a:prstGeom prst="roundRect">
            <a:avLst>
              <a:gd name="adj" fmla="val 28000"/>
            </a:avLst>
          </a:prstGeom>
          <a:solidFill>
            <a:srgbClr val="CC000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76200" rIns="76200" tIns="38100" bIns="38100"/>
          <a:lstStyle/>
          <a:p>
            <a:pPr algn="ctr"/>
            <a:r>
              <a:rPr sz="1250" b="1" i="0" lang="en-US">
                <a:solidFill>
                  <a:srgbClr val="FFFFFF"/>
                </a:solidFill>
                <a:latin typeface="Noto Sans"/>
              </a:rPr>
              <a:t>ResQRules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476250" y="1809750"/>
            <a:ext cx="1333500" cy="304800"/>
          </a:xfrm>
          <a:prstGeom prst="roundRect">
            <a:avLst>
              <a:gd name="adj" fmla="val 12000"/>
            </a:avLst>
          </a:prstGeom>
          <a:solidFill>
            <a:srgbClr val="F5F5F5"/>
          </a:solidFill>
          <a:ln w="12700">
            <a:solidFill>
              <a:srgbClr val="E0E0E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76200" rIns="76200" tIns="38100" bIns="38100"/>
          <a:lstStyle/>
          <a:p>
            <a:pPr algn="ctr"/>
            <a:r>
              <a:rPr sz="850" b="0" i="0" lang="en-US">
                <a:solidFill>
                  <a:srgbClr val="6B6B6B"/>
                </a:solidFill>
                <a:latin typeface="Consolas"/>
              </a:rPr>
              <a:t>@Rule(F(nid='gen_01'))…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1905000" y="1809750"/>
            <a:ext cx="1333500" cy="304800"/>
          </a:xfrm>
          <a:prstGeom prst="roundRect">
            <a:avLst>
              <a:gd name="adj" fmla="val 12000"/>
            </a:avLst>
          </a:prstGeom>
          <a:solidFill>
            <a:srgbClr val="F5F5F5"/>
          </a:solidFill>
          <a:ln w="12700">
            <a:solidFill>
              <a:srgbClr val="E0E0E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76200" rIns="76200" tIns="38100" bIns="38100"/>
          <a:lstStyle/>
          <a:p>
            <a:pPr algn="ctr"/>
            <a:r>
              <a:rPr sz="850" b="0" i="0" lang="en-US">
                <a:solidFill>
                  <a:srgbClr val="6B6B6B"/>
                </a:solidFill>
                <a:latin typeface="Consolas"/>
              </a:rPr>
              <a:t>@Rule(F(nid='gen_02'))…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3333750" y="1809750"/>
            <a:ext cx="1333500" cy="304800"/>
          </a:xfrm>
          <a:prstGeom prst="roundRect">
            <a:avLst>
              <a:gd name="adj" fmla="val 12000"/>
            </a:avLst>
          </a:prstGeom>
          <a:solidFill>
            <a:srgbClr val="F5F5F5"/>
          </a:solidFill>
          <a:ln w="12700">
            <a:solidFill>
              <a:srgbClr val="E0E0E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76200" rIns="76200" tIns="38100" bIns="38100"/>
          <a:lstStyle/>
          <a:p>
            <a:pPr algn="ctr"/>
            <a:r>
              <a:rPr sz="850" b="0" i="0" lang="en-US">
                <a:solidFill>
                  <a:srgbClr val="6B6B6B"/>
                </a:solidFill>
                <a:latin typeface="Consolas"/>
              </a:rPr>
              <a:t>@Rule(F(nid='gen_03'))…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4762500" y="1809750"/>
            <a:ext cx="1333500" cy="304800"/>
          </a:xfrm>
          <a:prstGeom prst="roundRect">
            <a:avLst>
              <a:gd name="adj" fmla="val 12000"/>
            </a:avLst>
          </a:prstGeom>
          <a:solidFill>
            <a:srgbClr val="F5F5F5"/>
          </a:solidFill>
          <a:ln w="12700">
            <a:solidFill>
              <a:srgbClr val="E0E0E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76200" rIns="76200" tIns="38100" bIns="38100"/>
          <a:lstStyle/>
          <a:p>
            <a:pPr algn="ctr"/>
            <a:r>
              <a:rPr sz="850" b="0" i="0" lang="en-US">
                <a:solidFill>
                  <a:srgbClr val="6B6B6B"/>
                </a:solidFill>
                <a:latin typeface="Consolas"/>
              </a:rPr>
              <a:t>@Rule(F(nid='gen_04'))…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476250" y="2228850"/>
            <a:ext cx="1333500" cy="304800"/>
          </a:xfrm>
          <a:prstGeom prst="roundRect">
            <a:avLst>
              <a:gd name="adj" fmla="val 12000"/>
            </a:avLst>
          </a:prstGeom>
          <a:solidFill>
            <a:srgbClr val="F5F5F5"/>
          </a:solidFill>
          <a:ln w="12700">
            <a:solidFill>
              <a:srgbClr val="E0E0E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76200" rIns="76200" tIns="38100" bIns="38100"/>
          <a:lstStyle/>
          <a:p>
            <a:pPr algn="ctr"/>
            <a:r>
              <a:rPr sz="850" b="0" i="0" lang="en-US">
                <a:solidFill>
                  <a:srgbClr val="6B6B6B"/>
                </a:solidFill>
                <a:latin typeface="Consolas"/>
              </a:rPr>
              <a:t>@Rule(F(nid='chk_01'))…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1905000" y="2228850"/>
            <a:ext cx="1333500" cy="304800"/>
          </a:xfrm>
          <a:prstGeom prst="roundRect">
            <a:avLst>
              <a:gd name="adj" fmla="val 12000"/>
            </a:avLst>
          </a:prstGeom>
          <a:solidFill>
            <a:srgbClr val="F5F5F5"/>
          </a:solidFill>
          <a:ln w="12700">
            <a:solidFill>
              <a:srgbClr val="E0E0E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76200" rIns="76200" tIns="38100" bIns="38100"/>
          <a:lstStyle/>
          <a:p>
            <a:pPr algn="ctr"/>
            <a:r>
              <a:rPr sz="850" b="0" i="0" lang="en-US">
                <a:solidFill>
                  <a:srgbClr val="6B6B6B"/>
                </a:solidFill>
                <a:latin typeface="Consolas"/>
              </a:rPr>
              <a:t>@Rule(F(nid='chk_02'))…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3333750" y="2228850"/>
            <a:ext cx="1333500" cy="304800"/>
          </a:xfrm>
          <a:prstGeom prst="roundRect">
            <a:avLst>
              <a:gd name="adj" fmla="val 12000"/>
            </a:avLst>
          </a:prstGeom>
          <a:solidFill>
            <a:srgbClr val="F5F5F5"/>
          </a:solidFill>
          <a:ln w="12700">
            <a:solidFill>
              <a:srgbClr val="E0E0E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76200" rIns="76200" tIns="38100" bIns="38100"/>
          <a:lstStyle/>
          <a:p>
            <a:pPr algn="ctr"/>
            <a:r>
              <a:rPr sz="850" b="0" i="0" lang="en-US">
                <a:solidFill>
                  <a:srgbClr val="6B6B6B"/>
                </a:solidFill>
                <a:latin typeface="Consolas"/>
              </a:rPr>
              <a:t>@Rule(F(nid='chk_03'))…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4762500" y="2228850"/>
            <a:ext cx="1333500" cy="304800"/>
          </a:xfrm>
          <a:prstGeom prst="roundRect">
            <a:avLst>
              <a:gd name="adj" fmla="val 12000"/>
            </a:avLst>
          </a:prstGeom>
          <a:solidFill>
            <a:srgbClr val="F5F5F5"/>
          </a:solidFill>
          <a:ln w="12700">
            <a:solidFill>
              <a:srgbClr val="E0E0E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76200" rIns="76200" tIns="38100" bIns="38100"/>
          <a:lstStyle/>
          <a:p>
            <a:pPr algn="ctr"/>
            <a:r>
              <a:rPr sz="850" b="0" i="0" lang="en-US">
                <a:solidFill>
                  <a:srgbClr val="6B6B6B"/>
                </a:solidFill>
                <a:latin typeface="Consolas"/>
              </a:rPr>
              <a:t>@Rule(F(nid='chk_04'))…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476250" y="2647950"/>
            <a:ext cx="1333500" cy="304800"/>
          </a:xfrm>
          <a:prstGeom prst="roundRect">
            <a:avLst>
              <a:gd name="adj" fmla="val 12000"/>
            </a:avLst>
          </a:prstGeom>
          <a:solidFill>
            <a:srgbClr val="F5F5F5"/>
          </a:solidFill>
          <a:ln w="12700">
            <a:solidFill>
              <a:srgbClr val="E0E0E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76200" rIns="76200" tIns="38100" bIns="38100"/>
          <a:lstStyle/>
          <a:p>
            <a:pPr algn="ctr"/>
            <a:r>
              <a:rPr sz="850" b="0" i="0" lang="en-US">
                <a:solidFill>
                  <a:srgbClr val="6B6B6B"/>
                </a:solidFill>
                <a:latin typeface="Consolas"/>
              </a:rPr>
              <a:t>@Rule(F(nid='cpr_01'))…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1905000" y="2647950"/>
            <a:ext cx="1333500" cy="304800"/>
          </a:xfrm>
          <a:prstGeom prst="roundRect">
            <a:avLst>
              <a:gd name="adj" fmla="val 12000"/>
            </a:avLst>
          </a:prstGeom>
          <a:solidFill>
            <a:srgbClr val="F5F5F5"/>
          </a:solidFill>
          <a:ln w="12700">
            <a:solidFill>
              <a:srgbClr val="E0E0E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76200" rIns="76200" tIns="38100" bIns="38100"/>
          <a:lstStyle/>
          <a:p>
            <a:pPr algn="ctr"/>
            <a:r>
              <a:rPr sz="850" b="0" i="0" lang="en-US">
                <a:solidFill>
                  <a:srgbClr val="6B6B6B"/>
                </a:solidFill>
                <a:latin typeface="Consolas"/>
              </a:rPr>
              <a:t>@Rule(F(nid='cpr_02'))…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3333750" y="2647950"/>
            <a:ext cx="1333500" cy="304800"/>
          </a:xfrm>
          <a:prstGeom prst="roundRect">
            <a:avLst>
              <a:gd name="adj" fmla="val 12000"/>
            </a:avLst>
          </a:prstGeom>
          <a:solidFill>
            <a:srgbClr val="F5F5F5"/>
          </a:solidFill>
          <a:ln w="12700">
            <a:solidFill>
              <a:srgbClr val="E0E0E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76200" rIns="76200" tIns="38100" bIns="38100"/>
          <a:lstStyle/>
          <a:p>
            <a:pPr algn="ctr"/>
            <a:r>
              <a:rPr sz="850" b="0" i="0" lang="en-US">
                <a:solidFill>
                  <a:srgbClr val="6B6B6B"/>
                </a:solidFill>
                <a:latin typeface="Consolas"/>
              </a:rPr>
              <a:t>@Rule(F(nid='cpr_03'))…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4762500" y="2647950"/>
            <a:ext cx="1333500" cy="304800"/>
          </a:xfrm>
          <a:prstGeom prst="roundRect">
            <a:avLst>
              <a:gd name="adj" fmla="val 12000"/>
            </a:avLst>
          </a:prstGeom>
          <a:solidFill>
            <a:srgbClr val="F5F5F5"/>
          </a:solidFill>
          <a:ln w="12700">
            <a:solidFill>
              <a:srgbClr val="E0E0E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76200" rIns="76200" tIns="38100" bIns="38100"/>
          <a:lstStyle/>
          <a:p>
            <a:pPr algn="ctr"/>
            <a:r>
              <a:rPr sz="850" b="0" i="0" lang="en-US">
                <a:solidFill>
                  <a:srgbClr val="6B6B6B"/>
                </a:solidFill>
                <a:latin typeface="Consolas"/>
              </a:rPr>
              <a:t>@Rule(F(nid='cpr_04'))…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476250" y="3067050"/>
            <a:ext cx="1333500" cy="304800"/>
          </a:xfrm>
          <a:prstGeom prst="roundRect">
            <a:avLst>
              <a:gd name="adj" fmla="val 12000"/>
            </a:avLst>
          </a:prstGeom>
          <a:solidFill>
            <a:srgbClr val="F5F5F5"/>
          </a:solidFill>
          <a:ln w="12700">
            <a:solidFill>
              <a:srgbClr val="E0E0E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76200" rIns="76200" tIns="38100" bIns="38100"/>
          <a:lstStyle/>
          <a:p>
            <a:pPr algn="ctr"/>
            <a:r>
              <a:rPr sz="850" b="0" i="0" lang="en-US">
                <a:solidFill>
                  <a:srgbClr val="6B6B6B"/>
                </a:solidFill>
                <a:latin typeface="Consolas"/>
              </a:rPr>
              <a:t>@Rule(F(nid='hem_01'))…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1905000" y="3067050"/>
            <a:ext cx="1333500" cy="304800"/>
          </a:xfrm>
          <a:prstGeom prst="roundRect">
            <a:avLst>
              <a:gd name="adj" fmla="val 12000"/>
            </a:avLst>
          </a:prstGeom>
          <a:solidFill>
            <a:srgbClr val="F5F5F5"/>
          </a:solidFill>
          <a:ln w="12700">
            <a:solidFill>
              <a:srgbClr val="E0E0E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76200" rIns="76200" tIns="38100" bIns="38100"/>
          <a:lstStyle/>
          <a:p>
            <a:pPr algn="ctr"/>
            <a:r>
              <a:rPr sz="850" b="0" i="0" lang="en-US">
                <a:solidFill>
                  <a:srgbClr val="6B6B6B"/>
                </a:solidFill>
                <a:latin typeface="Consolas"/>
              </a:rPr>
              <a:t>@Rule(F(nid='hem_02'))…</a:t>
            </a:r>
          </a:p>
        </p:txBody>
      </p:sp>
      <p:sp>
        <p:nvSpPr>
          <p:cNvPr id="19" name="Rounded Rectangle 18"/>
          <p:cNvSpPr/>
          <p:nvPr/>
        </p:nvSpPr>
        <p:spPr>
          <a:xfrm>
            <a:off x="3333750" y="3067050"/>
            <a:ext cx="1333500" cy="304800"/>
          </a:xfrm>
          <a:prstGeom prst="roundRect">
            <a:avLst>
              <a:gd name="adj" fmla="val 12000"/>
            </a:avLst>
          </a:prstGeom>
          <a:solidFill>
            <a:srgbClr val="F5F5F5"/>
          </a:solidFill>
          <a:ln w="12700">
            <a:solidFill>
              <a:srgbClr val="E0E0E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76200" rIns="76200" tIns="38100" bIns="38100"/>
          <a:lstStyle/>
          <a:p>
            <a:pPr algn="ctr"/>
            <a:r>
              <a:rPr sz="850" b="0" i="0" lang="en-US">
                <a:solidFill>
                  <a:srgbClr val="6B6B6B"/>
                </a:solidFill>
                <a:latin typeface="Consolas"/>
              </a:rPr>
              <a:t>@Rule(F(nid='air_01'))…</a:t>
            </a:r>
          </a:p>
        </p:txBody>
      </p:sp>
      <p:sp>
        <p:nvSpPr>
          <p:cNvPr id="20" name="Rounded Rectangle 19"/>
          <p:cNvSpPr/>
          <p:nvPr/>
        </p:nvSpPr>
        <p:spPr>
          <a:xfrm>
            <a:off x="4762500" y="3067050"/>
            <a:ext cx="1333500" cy="304800"/>
          </a:xfrm>
          <a:prstGeom prst="roundRect">
            <a:avLst>
              <a:gd name="adj" fmla="val 12000"/>
            </a:avLst>
          </a:prstGeom>
          <a:solidFill>
            <a:srgbClr val="F5F5F5"/>
          </a:solidFill>
          <a:ln w="12700">
            <a:solidFill>
              <a:srgbClr val="E0E0E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76200" rIns="76200" tIns="38100" bIns="38100"/>
          <a:lstStyle/>
          <a:p>
            <a:pPr algn="ctr"/>
            <a:r>
              <a:rPr sz="850" b="0" i="0" lang="en-US">
                <a:solidFill>
                  <a:srgbClr val="6B6B6B"/>
                </a:solidFill>
                <a:latin typeface="Consolas"/>
              </a:rPr>
              <a:t>@Rule(F(nid='air_02'))…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476250" y="3543300"/>
            <a:ext cx="5619750" cy="32385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r>
              <a:rPr sz="1800" b="1" i="0" lang="en-US">
                <a:solidFill>
                  <a:srgbClr val="6B6B6B"/>
                </a:solidFill>
                <a:latin typeface="Noto Sans"/>
              </a:rPr>
              <a:t>× 59 rules</a:t>
            </a:r>
          </a:p>
        </p:txBody>
      </p:sp>
      <p:cxnSp>
        <p:nvCxnSpPr>
          <p:cNvPr id="22" name="Connector 21"/>
          <p:cNvCxnSpPr/>
          <p:nvPr/>
        </p:nvCxnSpPr>
        <p:spPr>
          <a:xfrm>
            <a:off x="571500" y="1857375"/>
            <a:ext cx="5429250" cy="1905000"/>
          </a:xfrm>
          <a:prstGeom prst="line">
            <a:avLst/>
          </a:prstGeom>
          <a:ln w="63500">
            <a:solidFill>
              <a:srgbClr val="CC0000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3" name="Connector 22"/>
          <p:cNvCxnSpPr/>
          <p:nvPr/>
        </p:nvCxnSpPr>
        <p:spPr>
          <a:xfrm flipH="1">
            <a:off x="571500" y="1857375"/>
            <a:ext cx="5429250" cy="1905000"/>
          </a:xfrm>
          <a:prstGeom prst="line">
            <a:avLst/>
          </a:prstGeom>
          <a:ln w="63500">
            <a:solidFill>
              <a:srgbClr val="CC0000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4" name="Rounded Rectangle 23"/>
          <p:cNvSpPr/>
          <p:nvPr/>
        </p:nvSpPr>
        <p:spPr>
          <a:xfrm>
            <a:off x="6667500" y="1876425"/>
            <a:ext cx="76200" cy="76200"/>
          </a:xfrm>
          <a:prstGeom prst="roundRect">
            <a:avLst>
              <a:gd name="adj" fmla="val 30000"/>
            </a:avLst>
          </a:prstGeom>
          <a:solidFill>
            <a:srgbClr val="CC000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76200" rIns="76200" tIns="38100" bIns="38100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6858000" y="1809750"/>
            <a:ext cx="4953000" cy="5715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>
              <a:lnSpc>
                <a:spcPct val="110000"/>
              </a:lnSpc>
            </a:pPr>
            <a:r>
              <a:rPr sz="1500" b="0" i="0" lang="en-US">
                <a:solidFill>
                  <a:srgbClr val="1A1A1A"/>
                </a:solidFill>
                <a:latin typeface="Noto Sans"/>
              </a:rPr>
              <a:t>Knowledge </a:t>
            </a:r>
            <a:r>
              <a:rPr sz="1500" b="1" i="0" lang="en-US">
                <a:solidFill>
                  <a:srgbClr val="1A1A1A"/>
                </a:solidFill>
                <a:latin typeface="Noto Sans"/>
              </a:rPr>
              <a:t>trapped inside code</a:t>
            </a:r>
            <a:r>
              <a:rPr sz="1500" b="0" i="0" lang="en-US">
                <a:solidFill>
                  <a:srgbClr val="1A1A1A"/>
                </a:solidFill>
                <a:latin typeface="Noto Sans"/>
              </a:rPr>
              <a:t> — every medical revision is a code change.</a:t>
            </a:r>
          </a:p>
        </p:txBody>
      </p:sp>
      <p:sp>
        <p:nvSpPr>
          <p:cNvPr id="26" name="Rounded Rectangle 25"/>
          <p:cNvSpPr/>
          <p:nvPr/>
        </p:nvSpPr>
        <p:spPr>
          <a:xfrm>
            <a:off x="6667500" y="2495550"/>
            <a:ext cx="76200" cy="76200"/>
          </a:xfrm>
          <a:prstGeom prst="roundRect">
            <a:avLst>
              <a:gd name="adj" fmla="val 30000"/>
            </a:avLst>
          </a:prstGeom>
          <a:solidFill>
            <a:srgbClr val="CC000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76200" rIns="76200" tIns="38100" bIns="38100"/>
          <a:lstStyle/>
          <a:p>
            <a:pPr algn="ctr"/>
          </a:p>
        </p:txBody>
      </p:sp>
      <p:sp>
        <p:nvSpPr>
          <p:cNvPr id="27" name="TextBox 26"/>
          <p:cNvSpPr txBox="1"/>
          <p:nvPr/>
        </p:nvSpPr>
        <p:spPr>
          <a:xfrm>
            <a:off x="6858000" y="2428875"/>
            <a:ext cx="4953000" cy="5715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>
              <a:lnSpc>
                <a:spcPct val="110000"/>
              </a:lnSpc>
            </a:pPr>
            <a:r>
              <a:rPr sz="1500" b="0" i="0" lang="en-US">
                <a:solidFill>
                  <a:srgbClr val="1A1A1A"/>
                </a:solidFill>
                <a:latin typeface="Noto Sans"/>
              </a:rPr>
              <a:t>The rule engine adds nothing: </a:t>
            </a:r>
            <a:r>
              <a:rPr sz="1500" b="1" i="0" lang="en-US">
                <a:solidFill>
                  <a:srgbClr val="1A1A1A"/>
                </a:solidFill>
                <a:latin typeface="Noto Sans"/>
              </a:rPr>
              <a:t>no inference is demonstrated</a:t>
            </a:r>
            <a:r>
              <a:rPr sz="1500" b="0" i="0" lang="en-US">
                <a:solidFill>
                  <a:srgbClr val="1A1A1A"/>
                </a:solidFill>
                <a:latin typeface="Noto Sans"/>
              </a:rPr>
              <a:t>.</a:t>
            </a:r>
          </a:p>
        </p:txBody>
      </p:sp>
      <p:sp>
        <p:nvSpPr>
          <p:cNvPr id="28" name="Rounded Rectangle 27"/>
          <p:cNvSpPr/>
          <p:nvPr/>
        </p:nvSpPr>
        <p:spPr>
          <a:xfrm>
            <a:off x="6667500" y="3114675"/>
            <a:ext cx="76200" cy="76200"/>
          </a:xfrm>
          <a:prstGeom prst="roundRect">
            <a:avLst>
              <a:gd name="adj" fmla="val 30000"/>
            </a:avLst>
          </a:prstGeom>
          <a:solidFill>
            <a:srgbClr val="CC000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76200" rIns="76200" tIns="38100" bIns="38100"/>
          <a:lstStyle/>
          <a:p>
            <a:pPr algn="ctr"/>
          </a:p>
        </p:txBody>
      </p:sp>
      <p:sp>
        <p:nvSpPr>
          <p:cNvPr id="29" name="TextBox 28"/>
          <p:cNvSpPr txBox="1"/>
          <p:nvPr/>
        </p:nvSpPr>
        <p:spPr>
          <a:xfrm>
            <a:off x="6858000" y="3048000"/>
            <a:ext cx="4953000" cy="5715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>
              <a:lnSpc>
                <a:spcPct val="110000"/>
              </a:lnSpc>
            </a:pPr>
            <a:r>
              <a:rPr sz="1500" b="0" i="0" lang="en-US">
                <a:solidFill>
                  <a:srgbClr val="1A1A1A"/>
                </a:solidFill>
                <a:latin typeface="Noto Sans"/>
              </a:rPr>
              <a:t>Experta reduced to a </a:t>
            </a:r>
            <a:r>
              <a:rPr sz="1500" b="1" i="0" lang="en-US">
                <a:solidFill>
                  <a:srgbClr val="1A1A1A"/>
                </a:solidFill>
                <a:latin typeface="Noto Sans"/>
              </a:rPr>
              <a:t>flowchart costume</a:t>
            </a:r>
            <a:r>
              <a:rPr sz="1500" b="0" i="0" lang="en-US">
                <a:solidFill>
                  <a:srgbClr val="1A1A1A"/>
                </a:solidFill>
                <a:latin typeface="Noto Sans"/>
              </a:rPr>
              <a:t>.</a:t>
            </a:r>
          </a:p>
        </p:txBody>
      </p:sp>
      <p:sp>
        <p:nvSpPr>
          <p:cNvPr id="30" name="Rounded Rectangle 29"/>
          <p:cNvSpPr/>
          <p:nvPr/>
        </p:nvSpPr>
        <p:spPr>
          <a:xfrm>
            <a:off x="6667500" y="3810000"/>
            <a:ext cx="47625" cy="438150"/>
          </a:xfrm>
          <a:prstGeom prst="roundRect">
            <a:avLst>
              <a:gd name="adj" fmla="val 30000"/>
            </a:avLst>
          </a:prstGeom>
          <a:solidFill>
            <a:srgbClr val="CC000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76200" rIns="76200" tIns="38100" bIns="38100"/>
          <a:lstStyle/>
          <a:p>
            <a:pPr algn="ctr"/>
          </a:p>
        </p:txBody>
      </p:sp>
      <p:sp>
        <p:nvSpPr>
          <p:cNvPr id="31" name="TextBox 30"/>
          <p:cNvSpPr txBox="1"/>
          <p:nvPr/>
        </p:nvSpPr>
        <p:spPr>
          <a:xfrm>
            <a:off x="6819900" y="3829050"/>
            <a:ext cx="4991100" cy="5715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>
              <a:lnSpc>
                <a:spcPct val="110000"/>
              </a:lnSpc>
            </a:pPr>
            <a:r>
              <a:rPr sz="1600" b="1" i="0" lang="en-US">
                <a:solidFill>
                  <a:srgbClr val="990000"/>
                </a:solidFill>
                <a:latin typeface="Noto Sans"/>
              </a:rPr>
              <a:t>“Exactly like a web app with static hardcoded pages — and no database.”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11239500" y="6610350"/>
            <a:ext cx="762000" cy="1905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r>
              <a:rPr sz="900" b="0" i="0" lang="en-US">
                <a:solidFill>
                  <a:srgbClr val="6B6B6B"/>
                </a:solidFill>
                <a:latin typeface="Noto Sans"/>
              </a:rPr>
              <a:t>6 / 28</a:t>
            </a:r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68" dur="indefinite" nodeType="mainSeq">
                <p:childTnLst>
                  <p:par>
                    <p:cTn id="36" fill="hold">
                      <p:stCondLst>
                        <p:cond delay="indefinite"/>
                      </p:stCondLst>
                      <p:childTnLst>
                        <p:par>
                          <p:cTn id="37" fill="hold">
                            <p:stCondLst>
                              <p:cond delay="0"/>
                            </p:stCondLst>
                            <p:childTnLst>
                              <p:par>
                                <p:cTn id="2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4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6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8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0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2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4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6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8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0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2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4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6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8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30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32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34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2" fill="hold">
                      <p:stCondLst>
                        <p:cond delay="indefinite"/>
                      </p:stCondLst>
                      <p:childTnLst>
                        <p:par>
                          <p:cTn id="43" fill="hold">
                            <p:stCondLst>
                              <p:cond delay="0"/>
                            </p:stCondLst>
                            <p:childTnLst>
                              <p:par>
                                <p:cTn id="38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40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8" fill="hold">
                      <p:stCondLst>
                        <p:cond delay="indefinite"/>
                      </p:stCondLst>
                      <p:childTnLst>
                        <p:par>
                          <p:cTn id="49" fill="hold">
                            <p:stCondLst>
                              <p:cond delay="0"/>
                            </p:stCondLst>
                            <p:childTnLst>
                              <p:par>
                                <p:cTn id="44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46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4" fill="hold">
                      <p:stCondLst>
                        <p:cond delay="indefinite"/>
                      </p:stCondLst>
                      <p:childTnLst>
                        <p:par>
                          <p:cTn id="55" fill="hold">
                            <p:stCondLst>
                              <p:cond delay="0"/>
                            </p:stCondLst>
                            <p:childTnLst>
                              <p:par>
                                <p:cTn id="50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52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0" fill="hold">
                      <p:stCondLst>
                        <p:cond delay="indefinite"/>
                      </p:stCondLst>
                      <p:childTnLst>
                        <p:par>
                          <p:cTn id="61" fill="hold">
                            <p:stCondLst>
                              <p:cond delay="0"/>
                            </p:stCondLst>
                            <p:childTnLst>
                              <p:par>
                                <p:cTn id="56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58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6" fill="hold">
                      <p:stCondLst>
                        <p:cond delay="indefinite"/>
                      </p:stCondLst>
                      <p:childTnLst>
                        <p:par>
                          <p:cTn id="67" fill="hold">
                            <p:stCondLst>
                              <p:cond delay="0"/>
                            </p:stCondLst>
                            <p:childTnLst>
                              <p:par>
                                <p:cTn id="62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64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19100" y="285750"/>
            <a:ext cx="8572500" cy="1905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r>
              <a:rPr sz="1050" b="1" i="0" lang="en-US">
                <a:solidFill>
                  <a:srgbClr val="CC0000"/>
                </a:solidFill>
                <a:latin typeface="Noto Sans"/>
              </a:rPr>
              <a:t>DESIGN — WHAT WE BUILT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19100" y="495300"/>
            <a:ext cx="9525000" cy="43815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r>
              <a:rPr sz="2500" b="1" i="0" lang="en-US">
                <a:solidFill>
                  <a:srgbClr val="1A1A1A"/>
                </a:solidFill>
                <a:latin typeface="Noto Sans"/>
              </a:rPr>
              <a:t>Knowledge is data; inference is generic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10763250" y="323850"/>
            <a:ext cx="1009650" cy="285750"/>
          </a:xfrm>
          <a:prstGeom prst="roundRect">
            <a:avLst>
              <a:gd name="adj" fmla="val 28000"/>
            </a:avLst>
          </a:prstGeom>
          <a:solidFill>
            <a:srgbClr val="CC000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76200" rIns="76200" tIns="38100" bIns="38100"/>
          <a:lstStyle/>
          <a:p>
            <a:pPr algn="ctr"/>
            <a:r>
              <a:rPr sz="1250" b="1" i="0" lang="en-US">
                <a:solidFill>
                  <a:srgbClr val="FFFFFF"/>
                </a:solidFill>
                <a:latin typeface="Noto Sans"/>
              </a:rPr>
              <a:t>ResQRules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1428750" y="1905000"/>
            <a:ext cx="4000500" cy="1809750"/>
          </a:xfrm>
          <a:prstGeom prst="roundRect">
            <a:avLst>
              <a:gd name="adj" fmla="val 8000"/>
            </a:avLst>
          </a:prstGeom>
          <a:solidFill>
            <a:srgbClr val="FFEAEA"/>
          </a:solidFill>
          <a:ln w="25400">
            <a:solidFill>
              <a:srgbClr val="CC000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76200" rIns="76200" tIns="38100" bIns="38100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1619250" y="2076450"/>
            <a:ext cx="3619500" cy="2667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r>
              <a:rPr sz="1550" b="1" i="0" lang="en-US">
                <a:solidFill>
                  <a:srgbClr val="990000"/>
                </a:solidFill>
                <a:latin typeface="Noto Sans"/>
              </a:rPr>
              <a:t>KNOWLEDGE — data/*.json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619250" y="2381250"/>
            <a:ext cx="3619500" cy="2286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r>
              <a:rPr sz="1100" b="0" i="0" lang="en-US">
                <a:solidFill>
                  <a:srgbClr val="6B6B6B"/>
                </a:solidFill>
                <a:latin typeface="Noto Sans"/>
              </a:rPr>
              <a:t>one tree per chart · 59 nodes · full provenance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1695450" y="2724150"/>
            <a:ext cx="1417320" cy="257175"/>
          </a:xfrm>
          <a:prstGeom prst="roundRect">
            <a:avLst>
              <a:gd name="adj" fmla="val 50000"/>
            </a:avLst>
          </a:prstGeom>
          <a:solidFill>
            <a:srgbClr val="FFFFFF"/>
          </a:solidFill>
          <a:ln w="15875">
            <a:solidFill>
              <a:srgbClr val="CC000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76200" rIns="76200" tIns="38100" bIns="38100"/>
          <a:lstStyle/>
          <a:p>
            <a:pPr algn="ctr"/>
            <a:r>
              <a:rPr sz="1000" b="0" i="0" lang="en-US">
                <a:solidFill>
                  <a:srgbClr val="990000"/>
                </a:solidFill>
                <a:latin typeface="Consolas"/>
              </a:rPr>
              <a:t>general_assessment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3208020" y="2724150"/>
            <a:ext cx="851535" cy="257175"/>
          </a:xfrm>
          <a:prstGeom prst="roundRect">
            <a:avLst>
              <a:gd name="adj" fmla="val 50000"/>
            </a:avLst>
          </a:prstGeom>
          <a:solidFill>
            <a:srgbClr val="FFFFFF"/>
          </a:solidFill>
          <a:ln w="15875">
            <a:solidFill>
              <a:srgbClr val="CC000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76200" rIns="76200" tIns="38100" bIns="38100"/>
          <a:lstStyle/>
          <a:p>
            <a:pPr algn="ctr"/>
            <a:r>
              <a:rPr sz="1000" b="0" i="0" lang="en-US">
                <a:solidFill>
                  <a:srgbClr val="990000"/>
                </a:solidFill>
                <a:latin typeface="Consolas"/>
              </a:rPr>
              <a:t>cpr_adult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4154805" y="2724150"/>
            <a:ext cx="725805" cy="257175"/>
          </a:xfrm>
          <a:prstGeom prst="roundRect">
            <a:avLst>
              <a:gd name="adj" fmla="val 50000"/>
            </a:avLst>
          </a:prstGeom>
          <a:solidFill>
            <a:srgbClr val="FFFFFF"/>
          </a:solidFill>
          <a:ln w="15875">
            <a:solidFill>
              <a:srgbClr val="CC000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76200" rIns="76200" tIns="38100" bIns="38100"/>
          <a:lstStyle/>
          <a:p>
            <a:pPr algn="ctr"/>
            <a:r>
              <a:rPr sz="1000" b="0" i="0" lang="en-US">
                <a:solidFill>
                  <a:srgbClr val="990000"/>
                </a:solidFill>
                <a:latin typeface="Consolas"/>
              </a:rPr>
              <a:t>choking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1695450" y="3067050"/>
            <a:ext cx="662940" cy="257175"/>
          </a:xfrm>
          <a:prstGeom prst="roundRect">
            <a:avLst>
              <a:gd name="adj" fmla="val 50000"/>
            </a:avLst>
          </a:prstGeom>
          <a:solidFill>
            <a:srgbClr val="FFFFFF"/>
          </a:solidFill>
          <a:ln w="15875">
            <a:solidFill>
              <a:srgbClr val="CC000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76200" rIns="76200" tIns="38100" bIns="38100"/>
          <a:lstStyle/>
          <a:p>
            <a:pPr algn="ctr"/>
            <a:r>
              <a:rPr sz="1000" b="0" i="0" lang="en-US">
                <a:solidFill>
                  <a:srgbClr val="990000"/>
                </a:solidFill>
                <a:latin typeface="Consolas"/>
              </a:rPr>
              <a:t>airway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2453640" y="3067050"/>
            <a:ext cx="914400" cy="257175"/>
          </a:xfrm>
          <a:prstGeom prst="roundRect">
            <a:avLst>
              <a:gd name="adj" fmla="val 50000"/>
            </a:avLst>
          </a:prstGeom>
          <a:solidFill>
            <a:srgbClr val="FFFFFF"/>
          </a:solidFill>
          <a:ln w="15875">
            <a:solidFill>
              <a:srgbClr val="CC000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76200" rIns="76200" tIns="38100" bIns="38100"/>
          <a:lstStyle/>
          <a:p>
            <a:pPr algn="ctr"/>
            <a:r>
              <a:rPr sz="1000" b="0" i="0" lang="en-US">
                <a:solidFill>
                  <a:srgbClr val="990000"/>
                </a:solidFill>
                <a:latin typeface="Consolas"/>
              </a:rPr>
              <a:t>hemorrhage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5619750" y="2476500"/>
            <a:ext cx="1047750" cy="66675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r>
              <a:rPr sz="2400" b="1" i="0" lang="en-US">
                <a:solidFill>
                  <a:srgbClr val="4A4A4A"/>
                </a:solidFill>
                <a:latin typeface="Noto Sans"/>
              </a:rPr>
              <a:t>⇄</a:t>
            </a:r>
          </a:p>
          <a:p>
            <a:r>
              <a:rPr sz="950" b="0" i="0" lang="en-US">
                <a:solidFill>
                  <a:srgbClr val="6B6B6B"/>
                </a:solidFill>
                <a:latin typeface="Noto Sans"/>
              </a:rPr>
              <a:t>loads any conforming tree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6858000" y="1905000"/>
            <a:ext cx="3619500" cy="180975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25400">
            <a:solidFill>
              <a:srgbClr val="4A4A4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76200" rIns="76200" tIns="38100" bIns="38100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7048500" y="2133600"/>
            <a:ext cx="3238500" cy="2667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r>
              <a:rPr sz="1550" b="1" i="0" lang="en-US">
                <a:solidFill>
                  <a:srgbClr val="1A1A1A"/>
                </a:solidFill>
                <a:latin typeface="Noto Sans"/>
              </a:rPr>
              <a:t>INFERENCE — engine.py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7048500" y="2457450"/>
            <a:ext cx="3238500" cy="9525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>
              <a:lnSpc>
                <a:spcPct val="125000"/>
              </a:lnSpc>
            </a:pPr>
            <a:r>
              <a:rPr sz="1200" b="0" i="0" lang="en-US">
                <a:solidFill>
                  <a:srgbClr val="4A4A4A"/>
                </a:solidFill>
                <a:latin typeface="Noto Sans"/>
              </a:rPr>
              <a:t>one KnowledgeEngine</a:t>
            </a:r>
          </a:p>
          <a:p>
            <a:pPr>
              <a:lnSpc>
                <a:spcPct val="125000"/>
              </a:lnSpc>
            </a:pPr>
            <a:r>
              <a:rPr sz="2200" b="1" i="0" lang="en-US">
                <a:solidFill>
                  <a:srgbClr val="CC0000"/>
                </a:solidFill>
                <a:latin typeface="Noto Sans"/>
              </a:rPr>
              <a:t>8 generic rules</a:t>
            </a:r>
          </a:p>
          <a:p>
            <a:pPr>
              <a:lnSpc>
                <a:spcPct val="125000"/>
              </a:lnSpc>
            </a:pPr>
            <a:r>
              <a:rPr sz="1200" b="0" i="0" lang="en-US">
                <a:solidFill>
                  <a:srgbClr val="4A4A4A"/>
                </a:solidFill>
                <a:latin typeface="Noto Sans"/>
              </a:rPr>
              <a:t>zero chart-specific code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1428750" y="4000500"/>
            <a:ext cx="9048750" cy="514350"/>
          </a:xfrm>
          <a:prstGeom prst="roundRect">
            <a:avLst>
              <a:gd name="adj" fmla="val 10000"/>
            </a:avLst>
          </a:prstGeom>
          <a:solidFill>
            <a:srgbClr val="FFFFFF"/>
          </a:solidFill>
          <a:ln w="19050">
            <a:solidFill>
              <a:srgbClr val="E0E0E0"/>
            </a:solidFill>
            <a:prstDash val="dash"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76200" rIns="76200" tIns="38100" bIns="38100"/>
          <a:lstStyle/>
          <a:p>
            <a:pPr algn="ctr"/>
            <a:r>
              <a:rPr sz="1200" b="0" i="0" lang="en-US">
                <a:solidFill>
                  <a:srgbClr val="4A4A4A"/>
                </a:solidFill>
                <a:latin typeface="Noto Sans"/>
              </a:rPr>
              <a:t>SCHEMA.md — the contract between them   ·   validate.py — fails loudly on any broken edge, orphan node, or bad leaf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1428750" y="4810125"/>
            <a:ext cx="9048750" cy="32385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r>
              <a:rPr sz="1650" b="1" i="0" lang="en-US">
                <a:solidFill>
                  <a:srgbClr val="990000"/>
                </a:solidFill>
                <a:latin typeface="Noto Sans"/>
              </a:rPr>
              <a:t>This separation is the textbook definition of a knowledge-based system.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11239500" y="6610350"/>
            <a:ext cx="762000" cy="1905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r>
              <a:rPr sz="900" b="0" i="0" lang="en-US">
                <a:solidFill>
                  <a:srgbClr val="6B6B6B"/>
                </a:solidFill>
                <a:latin typeface="Noto Sans"/>
              </a:rPr>
              <a:t>7 / 28</a:t>
            </a:r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40" dur="indefinite" nodeType="mainSeq">
                <p:childTnLst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4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6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8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0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2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4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6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2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4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6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4" fill="hold">
                      <p:stCondLst>
                        <p:cond delay="indefinite"/>
                      </p:stCondLst>
                      <p:childTnLst>
                        <p:par>
                          <p:cTn id="35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32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8" fill="hold">
                      <p:stCondLst>
                        <p:cond delay="indefinite"/>
                      </p:stCondLst>
                      <p:childTnLst>
                        <p:par>
                          <p:cTn id="39" fill="hold">
                            <p:stCondLst>
                              <p:cond delay="0"/>
                            </p:stCondLst>
                            <p:childTnLst>
                              <p:par>
                                <p:cTn id="36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19100" y="285750"/>
            <a:ext cx="8572500" cy="1905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r>
              <a:rPr sz="1050" b="1" i="0" lang="en-US">
                <a:solidFill>
                  <a:srgbClr val="CC0000"/>
                </a:solidFill>
                <a:latin typeface="Noto Sans"/>
              </a:rPr>
              <a:t>DESIGN — WHAT WE BUILT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19100" y="495300"/>
            <a:ext cx="9525000" cy="43815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r>
              <a:rPr sz="2500" b="1" i="0" lang="en-US">
                <a:solidFill>
                  <a:srgbClr val="1A1A1A"/>
                </a:solidFill>
                <a:latin typeface="Noto Sans"/>
              </a:rPr>
              <a:t>…and the whole product stands on that separation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10763250" y="323850"/>
            <a:ext cx="1009650" cy="285750"/>
          </a:xfrm>
          <a:prstGeom prst="roundRect">
            <a:avLst>
              <a:gd name="adj" fmla="val 28000"/>
            </a:avLst>
          </a:prstGeom>
          <a:solidFill>
            <a:srgbClr val="CC000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76200" rIns="76200" tIns="38100" bIns="38100"/>
          <a:lstStyle/>
          <a:p>
            <a:pPr algn="ctr"/>
            <a:r>
              <a:rPr sz="1250" b="1" i="0" lang="en-US">
                <a:solidFill>
                  <a:srgbClr val="FFFFFF"/>
                </a:solidFill>
                <a:latin typeface="Noto Sans"/>
              </a:rPr>
              <a:t>ResQRules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3810000" y="1428750"/>
            <a:ext cx="2190750" cy="800100"/>
          </a:xfrm>
          <a:prstGeom prst="roundRect">
            <a:avLst>
              <a:gd name="adj" fmla="val 10000"/>
            </a:avLst>
          </a:prstGeom>
          <a:solidFill>
            <a:srgbClr val="FFFFFF"/>
          </a:solidFill>
          <a:ln w="22225">
            <a:solidFill>
              <a:srgbClr val="4A4A4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76200" rIns="76200" tIns="38100" bIns="38100"/>
          <a:lstStyle/>
          <a:p>
            <a:pPr algn="ctr"/>
            <a:r>
              <a:rPr sz="1450" b="1" i="0" lang="en-US">
                <a:solidFill>
                  <a:srgbClr val="1A1A1A"/>
                </a:solidFill>
                <a:latin typeface="Noto Sans"/>
              </a:rPr>
              <a:t>Flutter app</a:t>
            </a:r>
          </a:p>
          <a:p>
            <a:pPr algn="ctr"/>
            <a:r>
              <a:rPr sz="1000" b="0" i="0" lang="en-US">
                <a:solidFill>
                  <a:srgbClr val="6B6B6B"/>
                </a:solidFill>
                <a:latin typeface="Noto Sans"/>
              </a:rPr>
              <a:t>renders whatever node the engine serves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6191250" y="1428750"/>
            <a:ext cx="2190750" cy="800100"/>
          </a:xfrm>
          <a:prstGeom prst="roundRect">
            <a:avLst>
              <a:gd name="adj" fmla="val 10000"/>
            </a:avLst>
          </a:prstGeom>
          <a:solidFill>
            <a:srgbClr val="FFFFFF"/>
          </a:solidFill>
          <a:ln w="22225">
            <a:solidFill>
              <a:srgbClr val="4A4A4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76200" rIns="76200" tIns="38100" bIns="38100"/>
          <a:lstStyle/>
          <a:p>
            <a:pPr algn="ctr"/>
            <a:r>
              <a:rPr sz="1450" b="1" i="0" lang="en-US">
                <a:solidFill>
                  <a:srgbClr val="1A1A1A"/>
                </a:solidFill>
                <a:latin typeface="Noto Sans"/>
              </a:rPr>
              <a:t>FastAPI</a:t>
            </a:r>
          </a:p>
          <a:p>
            <a:pPr algn="ctr"/>
            <a:r>
              <a:rPr sz="1000" b="0" i="0" lang="en-US">
                <a:solidFill>
                  <a:srgbClr val="6B6B6B"/>
                </a:solidFill>
                <a:latin typeface="Noto Sans"/>
              </a:rPr>
              <a:t>contract driven by node type — not by rules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3810000" y="2324100"/>
            <a:ext cx="4572000" cy="24765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r>
              <a:rPr sz="1300" b="0" i="0" lang="en-US">
                <a:solidFill>
                  <a:srgbClr val="6B6B6B"/>
                </a:solidFill>
                <a:latin typeface="Noto Sans"/>
              </a:rPr>
              <a:t>▲ sits on top of ▲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2667000" y="2667000"/>
            <a:ext cx="3333750" cy="762000"/>
          </a:xfrm>
          <a:prstGeom prst="roundRect">
            <a:avLst>
              <a:gd name="adj" fmla="val 10000"/>
            </a:avLst>
          </a:prstGeom>
          <a:solidFill>
            <a:srgbClr val="FFEAEA"/>
          </a:solidFill>
          <a:ln w="25400">
            <a:solidFill>
              <a:srgbClr val="CC000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76200" rIns="76200" tIns="38100" bIns="38100"/>
          <a:lstStyle/>
          <a:p>
            <a:pPr algn="ctr"/>
            <a:r>
              <a:rPr sz="1450" b="1" i="0" lang="en-US">
                <a:solidFill>
                  <a:srgbClr val="990000"/>
                </a:solidFill>
                <a:latin typeface="Noto Sans"/>
              </a:rPr>
              <a:t>KNOWLEDGE (JSON)</a:t>
            </a:r>
          </a:p>
          <a:p>
            <a:pPr algn="ctr"/>
            <a:r>
              <a:rPr sz="1050" b="0" i="0" lang="en-US">
                <a:solidFill>
                  <a:srgbClr val="6B6B6B"/>
                </a:solidFill>
                <a:latin typeface="Noto Sans"/>
              </a:rPr>
              <a:t>5 charts · 59 nodes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6191250" y="2667000"/>
            <a:ext cx="3333750" cy="762000"/>
          </a:xfrm>
          <a:prstGeom prst="roundRect">
            <a:avLst>
              <a:gd name="adj" fmla="val 10000"/>
            </a:avLst>
          </a:prstGeom>
          <a:solidFill>
            <a:srgbClr val="FFFFFF"/>
          </a:solidFill>
          <a:ln w="25400">
            <a:solidFill>
              <a:srgbClr val="4A4A4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76200" rIns="76200" tIns="38100" bIns="38100"/>
          <a:lstStyle/>
          <a:p>
            <a:pPr algn="ctr"/>
            <a:r>
              <a:rPr sz="1450" b="1" i="0" lang="en-US">
                <a:solidFill>
                  <a:srgbClr val="1A1A1A"/>
                </a:solidFill>
                <a:latin typeface="Noto Sans"/>
              </a:rPr>
              <a:t>INFERENCE (Experta)</a:t>
            </a:r>
          </a:p>
          <a:p>
            <a:pPr algn="ctr"/>
            <a:r>
              <a:rPr sz="1050" b="0" i="0" lang="en-US">
                <a:solidFill>
                  <a:srgbClr val="6B6B6B"/>
                </a:solidFill>
                <a:latin typeface="Noto Sans"/>
              </a:rPr>
              <a:t>8 generic rules + 3 inference layers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3810000" y="3714750"/>
            <a:ext cx="1428750" cy="7620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r>
              <a:rPr sz="3400" b="1" i="0" lang="en-US">
                <a:solidFill>
                  <a:srgbClr val="CC0000"/>
                </a:solidFill>
                <a:latin typeface="Noto Sans"/>
              </a:rPr>
              <a:t>8</a:t>
            </a:r>
          </a:p>
          <a:p>
            <a:r>
              <a:rPr sz="1200" b="0" i="0" lang="en-US">
                <a:solidFill>
                  <a:srgbClr val="4A4A4A"/>
                </a:solidFill>
                <a:latin typeface="Noto Sans"/>
              </a:rPr>
              <a:t>generic rules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5429250" y="3714750"/>
            <a:ext cx="1428750" cy="7620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r>
              <a:rPr sz="3400" b="1" i="0" lang="en-US">
                <a:solidFill>
                  <a:srgbClr val="CC0000"/>
                </a:solidFill>
                <a:latin typeface="Noto Sans"/>
              </a:rPr>
              <a:t>59</a:t>
            </a:r>
          </a:p>
          <a:p>
            <a:r>
              <a:rPr sz="1200" b="0" i="0" lang="en-US">
                <a:solidFill>
                  <a:srgbClr val="4A4A4A"/>
                </a:solidFill>
                <a:latin typeface="Noto Sans"/>
              </a:rPr>
              <a:t>knowledge nodes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7048500" y="3714750"/>
            <a:ext cx="1428750" cy="7620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r>
              <a:rPr sz="3400" b="1" i="0" lang="en-US">
                <a:solidFill>
                  <a:srgbClr val="CC0000"/>
                </a:solidFill>
                <a:latin typeface="Noto Sans"/>
              </a:rPr>
              <a:t>5</a:t>
            </a:r>
          </a:p>
          <a:p>
            <a:r>
              <a:rPr sz="1200" b="0" i="0" lang="en-US">
                <a:solidFill>
                  <a:srgbClr val="4A4A4A"/>
                </a:solidFill>
                <a:latin typeface="Noto Sans"/>
              </a:rPr>
              <a:t>protocols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2381250" y="4762500"/>
            <a:ext cx="7429500" cy="381000"/>
          </a:xfrm>
          <a:prstGeom prst="roundRect">
            <a:avLst>
              <a:gd name="adj" fmla="val 50000"/>
            </a:avLst>
          </a:prstGeom>
          <a:solidFill>
            <a:srgbClr val="FFEAEA"/>
          </a:solidFill>
          <a:ln w="15875">
            <a:solidFill>
              <a:srgbClr val="CC000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76200" rIns="76200" tIns="38100" bIns="38100"/>
          <a:lstStyle/>
          <a:p>
            <a:pPr algn="ctr"/>
            <a:r>
              <a:rPr sz="1300" b="1" i="0" lang="en-US">
                <a:solidFill>
                  <a:srgbClr val="990000"/>
                </a:solidFill>
                <a:latin typeface="Noto Sans"/>
              </a:rPr>
              <a:t>Falsifiable claim: chart #6 = drop one JSON file in data/ — zero code change. Test us in Q&amp;A.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11239500" y="6610350"/>
            <a:ext cx="762000" cy="1905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r>
              <a:rPr sz="900" b="0" i="0" lang="en-US">
                <a:solidFill>
                  <a:srgbClr val="6B6B6B"/>
                </a:solidFill>
                <a:latin typeface="Noto Sans"/>
              </a:rPr>
              <a:t>8 / 28</a:t>
            </a:r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8" dur="indefinite" nodeType="mainSeq">
                <p:childTnLst>
                  <p:par>
                    <p:cTn id="6" fill="hold">
                      <p:stCondLst>
                        <p:cond delay="indefinite"/>
                      </p:stCondLst>
                      <p:childTnLst>
                        <p:par>
                          <p:cTn id="7" fill="hold">
                            <p:stCondLst>
                              <p:cond delay="0"/>
                            </p:stCondLst>
                            <p:childTnLst>
                              <p:par>
                                <p:cTn id="2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4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4" fill="hold">
                      <p:stCondLst>
                        <p:cond delay="indefinite"/>
                      </p:stCondLst>
                      <p:childTnLst>
                        <p:par>
                          <p:cTn id="15" fill="hold">
                            <p:stCondLst>
                              <p:cond delay="0"/>
                            </p:stCondLst>
                            <p:childTnLst>
                              <p:par>
                                <p:cTn id="8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0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2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2" fill="hold">
                      <p:stCondLst>
                        <p:cond delay="indefinite"/>
                      </p:stCondLst>
                      <p:childTnLst>
                        <p:par>
                          <p:cTn id="23" fill="hold">
                            <p:stCondLst>
                              <p:cond delay="0"/>
                            </p:stCondLst>
                            <p:childTnLst>
                              <p:par>
                                <p:cTn id="16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8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0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6" fill="hold">
                      <p:stCondLst>
                        <p:cond delay="indefinite"/>
                      </p:stCondLst>
                      <p:childTnLst>
                        <p:par>
                          <p:cTn id="27" fill="hold">
                            <p:stCondLst>
                              <p:cond delay="0"/>
                            </p:stCondLst>
                            <p:childTnLst>
                              <p:par>
                                <p:cTn id="24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19100" y="285750"/>
            <a:ext cx="8572500" cy="1905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r>
              <a:rPr sz="1050" b="1" i="0" lang="en-US">
                <a:solidFill>
                  <a:srgbClr val="CC0000"/>
                </a:solidFill>
                <a:latin typeface="Noto Sans"/>
              </a:rPr>
              <a:t>KNOWLEDGE ACQUISITION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19100" y="495300"/>
            <a:ext cx="9525000" cy="43815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r>
              <a:rPr sz="2500" b="1" i="0" lang="en-US">
                <a:solidFill>
                  <a:srgbClr val="1A1A1A"/>
                </a:solidFill>
                <a:latin typeface="Noto Sans"/>
              </a:rPr>
              <a:t>Faithfulness is engineered, not promised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10763250" y="323850"/>
            <a:ext cx="1009650" cy="285750"/>
          </a:xfrm>
          <a:prstGeom prst="roundRect">
            <a:avLst>
              <a:gd name="adj" fmla="val 28000"/>
            </a:avLst>
          </a:prstGeom>
          <a:solidFill>
            <a:srgbClr val="CC000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76200" rIns="76200" tIns="38100" bIns="38100"/>
          <a:lstStyle/>
          <a:p>
            <a:pPr algn="ctr"/>
            <a:r>
              <a:rPr sz="1250" b="1" i="0" lang="en-US">
                <a:solidFill>
                  <a:srgbClr val="FFFFFF"/>
                </a:solidFill>
                <a:latin typeface="Noto Sans"/>
              </a:rPr>
              <a:t>ResQRules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419100" y="1905000"/>
            <a:ext cx="2000250" cy="1143000"/>
          </a:xfrm>
          <a:prstGeom prst="roundRect">
            <a:avLst>
              <a:gd name="adj" fmla="val 4000"/>
            </a:avLst>
          </a:prstGeom>
          <a:solidFill>
            <a:srgbClr val="FBF8F1"/>
          </a:solidFill>
          <a:ln w="15240">
            <a:solidFill>
              <a:srgbClr val="B9AE8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76200" rIns="76200" tIns="38100" bIns="38100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552450" y="2019300"/>
            <a:ext cx="1714500" cy="1524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r>
              <a:rPr sz="800" b="1" i="0" lang="en-US">
                <a:solidFill>
                  <a:srgbClr val="8A7F63"/>
                </a:solidFill>
                <a:latin typeface="Noto Sans"/>
              </a:rPr>
              <a:t>drawn on the chart · p.10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571500" y="2228850"/>
            <a:ext cx="1695450" cy="666750"/>
          </a:xfrm>
          <a:prstGeom prst="roundRect">
            <a:avLst>
              <a:gd name="adj" fmla="val 5000"/>
            </a:avLst>
          </a:prstGeom>
          <a:solidFill>
            <a:srgbClr val="FFFFFF"/>
          </a:solidFill>
          <a:ln w="13970">
            <a:solidFill>
              <a:srgbClr val="B9AE8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76200" rIns="76200" tIns="38100" bIns="38100"/>
          <a:lstStyle/>
          <a:p>
            <a:pPr algn="ctr"/>
            <a:r>
              <a:rPr sz="850" b="0" i="0" lang="en-US">
                <a:solidFill>
                  <a:srgbClr val="5C5340"/>
                </a:solidFill>
                <a:latin typeface="Noto Sans"/>
              </a:rPr>
              <a:t>Installation of tourniquet. (Position: one palm's width above the wound…)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2495550" y="2286000"/>
            <a:ext cx="381000" cy="3810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r>
              <a:rPr sz="2000" b="1" i="0" lang="en-US">
                <a:solidFill>
                  <a:srgbClr val="4A4A4A"/>
                </a:solidFill>
                <a:latin typeface="Noto Sans"/>
              </a:rPr>
              <a:t>→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2914650" y="1714500"/>
            <a:ext cx="3143250" cy="1981200"/>
          </a:xfrm>
          <a:prstGeom prst="roundRect">
            <a:avLst>
              <a:gd name="adj" fmla="val 6000"/>
            </a:avLst>
          </a:prstGeom>
          <a:solidFill>
            <a:srgbClr val="F5F5F5"/>
          </a:solidFill>
          <a:ln w="15875">
            <a:solidFill>
              <a:srgbClr val="E0E0E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 wrap="square" lIns="114300" rIns="114300" tIns="76200" bIns="76200"/>
          <a:lstStyle/>
          <a:p>
            <a:pPr algn="ctr">
              <a:lnSpc>
                <a:spcPct val="115000"/>
              </a:lnSpc>
            </a:pPr>
            <a:r>
              <a:rPr sz="1000" b="0" i="0" lang="en-US">
                <a:solidFill>
                  <a:srgbClr val="1A1A1A"/>
                </a:solidFill>
                <a:latin typeface="Consolas"/>
              </a:rPr>
              <a:t>"hem_05": {</a:t>
            </a:r>
          </a:p>
          <a:p>
            <a:pPr>
              <a:lnSpc>
                <a:spcPct val="115000"/>
              </a:lnSpc>
            </a:pPr>
            <a:r>
              <a:rPr sz="1000" b="0" i="0" lang="en-US">
                <a:solidFill>
                  <a:srgbClr val="1A1A1A"/>
                </a:solidFill>
                <a:latin typeface="Consolas"/>
              </a:rPr>
              <a:t>  "type": "instruction",</a:t>
            </a:r>
          </a:p>
          <a:p>
            <a:pPr>
              <a:lnSpc>
                <a:spcPct val="115000"/>
              </a:lnSpc>
            </a:pPr>
            <a:r>
              <a:rPr sz="1000" b="0" i="0" lang="en-US">
                <a:solidFill>
                  <a:srgbClr val="1A1A1A"/>
                </a:solidFill>
                <a:latin typeface="Consolas"/>
              </a:rPr>
              <a:t>  "text_en": "Installation of</a:t>
            </a:r>
          </a:p>
          <a:p>
            <a:pPr>
              <a:lnSpc>
                <a:spcPct val="115000"/>
              </a:lnSpc>
            </a:pPr>
            <a:r>
              <a:rPr sz="1000" b="0" i="0" lang="en-US">
                <a:solidFill>
                  <a:srgbClr val="1A1A1A"/>
                </a:solidFill>
                <a:latin typeface="Consolas"/>
              </a:rPr>
              <a:t>              tourniquet. …",</a:t>
            </a:r>
          </a:p>
          <a:p>
            <a:pPr>
              <a:lnSpc>
                <a:spcPct val="115000"/>
              </a:lnSpc>
            </a:pPr>
            <a:r>
              <a:rPr sz="1000" b="0" i="0" lang="en-US">
                <a:solidFill>
                  <a:srgbClr val="1A1A1A"/>
                </a:solidFill>
                <a:latin typeface="Consolas"/>
              </a:rPr>
              <a:t>  "text_ar": "…تركيب الرباط الضاغط",</a:t>
            </a:r>
          </a:p>
          <a:p>
            <a:pPr>
              <a:lnSpc>
                <a:spcPct val="115000"/>
              </a:lnSpc>
            </a:pPr>
            <a:r>
              <a:rPr sz="1000" b="0" i="0" lang="en-US">
                <a:solidFill>
                  <a:srgbClr val="1A1A1A"/>
                </a:solidFill>
                <a:latin typeface="Consolas"/>
              </a:rPr>
              <a:t>  "page": 10,</a:t>
            </a:r>
          </a:p>
          <a:p>
            <a:pPr>
              <a:lnSpc>
                <a:spcPct val="115000"/>
              </a:lnSpc>
            </a:pPr>
            <a:r>
              <a:rPr sz="1000" b="1" i="0" lang="en-US">
                <a:solidFill>
                  <a:srgbClr val="990000"/>
                </a:solidFill>
                <a:latin typeface="Consolas"/>
              </a:rPr>
              <a:t>  "provenance": "source",</a:t>
            </a:r>
          </a:p>
          <a:p>
            <a:pPr>
              <a:lnSpc>
                <a:spcPct val="115000"/>
              </a:lnSpc>
            </a:pPr>
            <a:r>
              <a:rPr sz="1000" b="0" i="0" lang="en-US">
                <a:solidFill>
                  <a:srgbClr val="1A1A1A"/>
                </a:solidFill>
                <a:latin typeface="Consolas"/>
              </a:rPr>
              <a:t>  "next": "hem_06"</a:t>
            </a:r>
          </a:p>
          <a:p>
            <a:pPr>
              <a:lnSpc>
                <a:spcPct val="115000"/>
              </a:lnSpc>
            </a:pPr>
            <a:r>
              <a:rPr sz="1000" b="0" i="0" lang="en-US">
                <a:solidFill>
                  <a:srgbClr val="1A1A1A"/>
                </a:solidFill>
                <a:latin typeface="Consolas"/>
              </a:rPr>
              <a:t>}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6572250" y="1685925"/>
            <a:ext cx="76200" cy="76200"/>
          </a:xfrm>
          <a:prstGeom prst="roundRect">
            <a:avLst>
              <a:gd name="adj" fmla="val 30000"/>
            </a:avLst>
          </a:prstGeom>
          <a:solidFill>
            <a:srgbClr val="CC000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76200" rIns="76200" tIns="38100" bIns="38100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6762750" y="1619250"/>
            <a:ext cx="5048250" cy="5715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>
              <a:lnSpc>
                <a:spcPct val="110000"/>
              </a:lnSpc>
            </a:pPr>
            <a:r>
              <a:rPr sz="1400" b="1" i="0" lang="en-US">
                <a:solidFill>
                  <a:srgbClr val="1A1A1A"/>
                </a:solidFill>
                <a:latin typeface="Noto Sans"/>
              </a:rPr>
              <a:t>Visual-only extraction</a:t>
            </a:r>
            <a:r>
              <a:rPr sz="1400" b="0" i="0" lang="en-US">
                <a:solidFill>
                  <a:srgbClr val="1A1A1A"/>
                </a:solidFill>
                <a:latin typeface="Noto Sans"/>
              </a:rPr>
              <a:t> — pages rasterized @180 DPI and read as images. Text extraction drops the arrows, and </a:t>
            </a:r>
            <a:r>
              <a:rPr sz="1400" b="1" i="0" lang="en-US">
                <a:solidFill>
                  <a:srgbClr val="1A1A1A"/>
                </a:solidFill>
                <a:latin typeface="Noto Sans"/>
              </a:rPr>
              <a:t>the arrows ARE the logic</a:t>
            </a:r>
            <a:r>
              <a:rPr sz="1400" b="0" i="0" lang="en-US">
                <a:solidFill>
                  <a:srgbClr val="1A1A1A"/>
                </a:solidFill>
                <a:latin typeface="Noto Sans"/>
              </a:rPr>
              <a:t>.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6572250" y="2543175"/>
            <a:ext cx="76200" cy="76200"/>
          </a:xfrm>
          <a:prstGeom prst="roundRect">
            <a:avLst>
              <a:gd name="adj" fmla="val 30000"/>
            </a:avLst>
          </a:prstGeom>
          <a:solidFill>
            <a:srgbClr val="CC000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76200" rIns="76200" tIns="38100" bIns="38100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6762750" y="2476500"/>
            <a:ext cx="5048250" cy="5715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>
              <a:lnSpc>
                <a:spcPct val="110000"/>
              </a:lnSpc>
            </a:pPr>
            <a:r>
              <a:rPr sz="1400" b="0" i="0" lang="en-US">
                <a:solidFill>
                  <a:srgbClr val="1A1A1A"/>
                </a:solidFill>
                <a:latin typeface="Noto Sans"/>
              </a:rPr>
              <a:t>Every node cites its </a:t>
            </a:r>
            <a:r>
              <a:rPr sz="1400" b="1" i="0" lang="en-US">
                <a:solidFill>
                  <a:srgbClr val="1A1A1A"/>
                </a:solidFill>
                <a:latin typeface="Noto Sans"/>
              </a:rPr>
              <a:t>source page</a:t>
            </a:r>
            <a:r>
              <a:rPr sz="1400" b="0" i="0" lang="en-US">
                <a:solidFill>
                  <a:srgbClr val="1A1A1A"/>
                </a:solidFill>
                <a:latin typeface="Noto Sans"/>
              </a:rPr>
              <a:t>.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6572250" y="3019425"/>
            <a:ext cx="76200" cy="76200"/>
          </a:xfrm>
          <a:prstGeom prst="roundRect">
            <a:avLst>
              <a:gd name="adj" fmla="val 30000"/>
            </a:avLst>
          </a:prstGeom>
          <a:solidFill>
            <a:srgbClr val="CC000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76200" rIns="76200" tIns="38100" bIns="38100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6762750" y="2952750"/>
            <a:ext cx="5048250" cy="5715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>
              <a:lnSpc>
                <a:spcPct val="110000"/>
              </a:lnSpc>
            </a:pPr>
            <a:r>
              <a:rPr sz="1400" b="0" i="0" lang="en-US">
                <a:solidFill>
                  <a:srgbClr val="1A1A1A"/>
                </a:solidFill>
                <a:latin typeface="Noto Sans"/>
              </a:rPr>
              <a:t>Provenance audit trail: </a:t>
            </a:r>
            <a:r>
              <a:rPr sz="1400" b="1" i="0" lang="en-US">
                <a:solidFill>
                  <a:srgbClr val="1A1A1A"/>
                </a:solidFill>
                <a:latin typeface="Noto Sans"/>
              </a:rPr>
              <a:t>58 of 59 nodes are source</a:t>
            </a:r>
            <a:r>
              <a:rPr sz="1400" b="0" i="0" lang="en-US">
                <a:solidFill>
                  <a:srgbClr val="1A1A1A"/>
                </a:solidFill>
                <a:latin typeface="Noto Sans"/>
              </a:rPr>
              <a:t>; exactly 1 is added (navigation-only).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6572250" y="3686175"/>
            <a:ext cx="76200" cy="76200"/>
          </a:xfrm>
          <a:prstGeom prst="roundRect">
            <a:avLst>
              <a:gd name="adj" fmla="val 30000"/>
            </a:avLst>
          </a:prstGeom>
          <a:solidFill>
            <a:srgbClr val="CC000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76200" rIns="76200" tIns="38100" bIns="38100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6762750" y="3619500"/>
            <a:ext cx="5048250" cy="5715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>
              <a:lnSpc>
                <a:spcPct val="110000"/>
              </a:lnSpc>
            </a:pPr>
            <a:r>
              <a:rPr sz="1400" b="0" i="0" lang="en-US">
                <a:solidFill>
                  <a:srgbClr val="1A1A1A"/>
                </a:solidFill>
                <a:latin typeface="Consolas"/>
              </a:rPr>
              <a:t>validate.py </a:t>
            </a:r>
            <a:r>
              <a:rPr sz="1400" b="1" i="0" lang="en-US">
                <a:solidFill>
                  <a:srgbClr val="1A1A1A"/>
                </a:solidFill>
                <a:latin typeface="Noto Sans"/>
              </a:rPr>
              <a:t>fails loudly</a:t>
            </a:r>
            <a:r>
              <a:rPr sz="1400" b="0" i="0" lang="en-US">
                <a:solidFill>
                  <a:srgbClr val="1A1A1A"/>
                </a:solidFill>
                <a:latin typeface="Noto Sans"/>
              </a:rPr>
              <a:t>: broken edge, orphan node, bad leaf → non-zero exit.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11239500" y="6610350"/>
            <a:ext cx="762000" cy="1905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r>
              <a:rPr sz="900" b="0" i="0" lang="en-US">
                <a:solidFill>
                  <a:srgbClr val="6B6B6B"/>
                </a:solidFill>
                <a:latin typeface="Noto Sans"/>
              </a:rPr>
              <a:t>9 / 28</a:t>
            </a:r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40" dur="indefinite" nodeType="mainSeq">
                <p:childTnLst>
                  <p:par>
                    <p:cTn id="10" fill="hold">
                      <p:stCondLst>
                        <p:cond delay="indefinite"/>
                      </p:stCondLst>
                      <p:childTnLst>
                        <p:par>
                          <p:cTn id="11" fill="hold">
                            <p:stCondLst>
                              <p:cond delay="0"/>
                            </p:stCondLst>
                            <p:childTnLst>
                              <p:par>
                                <p:cTn id="2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4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6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8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4" fill="hold">
                      <p:stCondLst>
                        <p:cond delay="indefinite"/>
                      </p:stCondLst>
                      <p:childTnLst>
                        <p:par>
                          <p:cTn id="15" fill="hold">
                            <p:stCondLst>
                              <p:cond delay="0"/>
                            </p:stCondLst>
                            <p:childTnLst>
                              <p:par>
                                <p:cTn id="12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0" fill="hold">
                      <p:stCondLst>
                        <p:cond delay="indefinite"/>
                      </p:stCondLst>
                      <p:childTnLst>
                        <p:par>
                          <p:cTn id="21" fill="hold">
                            <p:stCondLst>
                              <p:cond delay="0"/>
                            </p:stCondLst>
                            <p:childTnLst>
                              <p:par>
                                <p:cTn id="16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8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6" fill="hold">
                      <p:stCondLst>
                        <p:cond delay="indefinite"/>
                      </p:stCondLst>
                      <p:childTnLst>
                        <p:par>
                          <p:cTn id="27" fill="hold">
                            <p:stCondLst>
                              <p:cond delay="0"/>
                            </p:stCondLst>
                            <p:childTnLst>
                              <p:par>
                                <p:cTn id="22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4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2" fill="hold">
                      <p:stCondLst>
                        <p:cond delay="indefinite"/>
                      </p:stCondLst>
                      <p:childTnLst>
                        <p:par>
                          <p:cTn id="33" fill="hold">
                            <p:stCondLst>
                              <p:cond delay="0"/>
                            </p:stCondLst>
                            <p:childTnLst>
                              <p:par>
                                <p:cTn id="28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30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8" fill="hold">
                      <p:stCondLst>
                        <p:cond delay="indefinite"/>
                      </p:stCondLst>
                      <p:childTnLst>
                        <p:par>
                          <p:cTn id="39" fill="hold">
                            <p:stCondLst>
                              <p:cond delay="0"/>
                            </p:stCondLst>
                            <p:childTnLst>
                              <p:par>
                                <p:cTn id="34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36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19100" y="285750"/>
            <a:ext cx="8572500" cy="1905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r>
              <a:rPr sz="1050" b="1" i="0" lang="en-US">
                <a:solidFill>
                  <a:srgbClr val="CC0000"/>
                </a:solidFill>
                <a:latin typeface="Noto Sans"/>
              </a:rPr>
              <a:t>THE ENGINE, IN EXPERTA TERMS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19100" y="495300"/>
            <a:ext cx="9525000" cy="43815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r>
              <a:rPr sz="2500" b="1" i="0" lang="en-US">
                <a:solidFill>
                  <a:srgbClr val="1A1A1A"/>
                </a:solidFill>
                <a:latin typeface="Noto Sans"/>
              </a:rPr>
              <a:t>Forward chaining = declare → match → fire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10763250" y="323850"/>
            <a:ext cx="1009650" cy="285750"/>
          </a:xfrm>
          <a:prstGeom prst="roundRect">
            <a:avLst>
              <a:gd name="adj" fmla="val 28000"/>
            </a:avLst>
          </a:prstGeom>
          <a:solidFill>
            <a:srgbClr val="CC000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76200" rIns="76200" tIns="38100" bIns="38100"/>
          <a:lstStyle/>
          <a:p>
            <a:pPr algn="ctr"/>
            <a:r>
              <a:rPr sz="1250" b="1" i="0" lang="en-US">
                <a:solidFill>
                  <a:srgbClr val="FFFFFF"/>
                </a:solidFill>
                <a:latin typeface="Noto Sans"/>
              </a:rPr>
              <a:t>ResQRules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419100" y="1619250"/>
            <a:ext cx="5905500" cy="2381250"/>
          </a:xfrm>
          <a:prstGeom prst="roundRect">
            <a:avLst>
              <a:gd name="adj" fmla="val 6000"/>
            </a:avLst>
          </a:prstGeom>
          <a:solidFill>
            <a:srgbClr val="F5F5F5"/>
          </a:solidFill>
          <a:ln w="15875">
            <a:solidFill>
              <a:srgbClr val="E0E0E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 wrap="square" lIns="114300" rIns="114300" tIns="76200" bIns="76200"/>
          <a:lstStyle/>
          <a:p>
            <a:pPr algn="ctr">
              <a:lnSpc>
                <a:spcPct val="115000"/>
              </a:lnSpc>
            </a:pPr>
            <a:r>
              <a:rPr sz="1100" b="0" i="0" lang="en-US">
                <a:solidFill>
                  <a:srgbClr val="6B6B6B"/>
                </a:solidFill>
                <a:latin typeface="Consolas"/>
              </a:rPr>
              <a:t># the baseline walker — engine.py (real code, elided)</a:t>
            </a:r>
          </a:p>
          <a:p>
            <a:pPr>
              <a:lnSpc>
                <a:spcPct val="115000"/>
              </a:lnSpc>
            </a:pPr>
            <a:r>
              <a:rPr sz="1100" b="1" i="0" lang="en-US">
                <a:solidFill>
                  <a:srgbClr val="990000"/>
                </a:solidFill>
                <a:latin typeface="Consolas"/>
              </a:rPr>
              <a:t>@Rule</a:t>
            </a:r>
            <a:r>
              <a:rPr sz="1100" b="0" i="0" lang="en-US">
                <a:solidFill>
                  <a:srgbClr val="1A1A1A"/>
                </a:solidFill>
                <a:latin typeface="Consolas"/>
              </a:rPr>
              <a:t>(AS.p &lt;&lt; </a:t>
            </a:r>
            <a:r>
              <a:rPr sz="1100" b="1" i="0" lang="en-US">
                <a:solidFill>
                  <a:srgbClr val="990000"/>
                </a:solidFill>
                <a:latin typeface="Consolas"/>
              </a:rPr>
              <a:t>Position(nid=MATCH.nid)</a:t>
            </a:r>
            <a:r>
              <a:rPr sz="1100" b="0" i="0" lang="en-US">
                <a:solidFill>
                  <a:srgbClr val="1A1A1A"/>
                </a:solidFill>
                <a:latin typeface="Consolas"/>
              </a:rPr>
              <a:t>,</a:t>
            </a:r>
          </a:p>
          <a:p>
            <a:pPr>
              <a:lnSpc>
                <a:spcPct val="115000"/>
              </a:lnSpc>
            </a:pPr>
            <a:r>
              <a:rPr sz="1100" b="0" i="0" lang="en-US">
                <a:solidFill>
                  <a:srgbClr val="1A1A1A"/>
                </a:solidFill>
                <a:latin typeface="Consolas"/>
              </a:rPr>
              <a:t>      AS.a &lt;&lt; </a:t>
            </a:r>
            <a:r>
              <a:rPr sz="1100" b="1" i="0" lang="en-US">
                <a:solidFill>
                  <a:srgbClr val="990000"/>
                </a:solidFill>
                <a:latin typeface="Consolas"/>
              </a:rPr>
              <a:t>Active(chart=MATCH.c)</a:t>
            </a:r>
            <a:r>
              <a:rPr sz="1100" b="0" i="0" lang="en-US">
                <a:solidFill>
                  <a:srgbClr val="1A1A1A"/>
                </a:solidFill>
                <a:latin typeface="Consolas"/>
              </a:rPr>
              <a:t>,</a:t>
            </a:r>
          </a:p>
          <a:p>
            <a:pPr>
              <a:lnSpc>
                <a:spcPct val="115000"/>
              </a:lnSpc>
            </a:pPr>
            <a:r>
              <a:rPr sz="1100" b="0" i="0" lang="en-US">
                <a:solidFill>
                  <a:srgbClr val="1A1A1A"/>
                </a:solidFill>
                <a:latin typeface="Consolas"/>
              </a:rPr>
              <a:t>      NOT(Bleeding()), </a:t>
            </a:r>
            <a:r>
              <a:rPr sz="1100" b="1" i="0" lang="en-US">
                <a:solidFill>
                  <a:srgbClr val="990000"/>
                </a:solidFill>
                <a:latin typeface="Consolas"/>
              </a:rPr>
              <a:t>salience=0</a:t>
            </a:r>
            <a:r>
              <a:rPr sz="1100" b="0" i="0" lang="en-US">
                <a:solidFill>
                  <a:srgbClr val="1A1A1A"/>
                </a:solidFill>
                <a:latin typeface="Consolas"/>
              </a:rPr>
              <a:t>)</a:t>
            </a:r>
          </a:p>
          <a:p>
            <a:pPr>
              <a:lnSpc>
                <a:spcPct val="115000"/>
              </a:lnSpc>
            </a:pPr>
            <a:r>
              <a:rPr sz="1100" b="1" i="0" lang="en-US">
                <a:solidFill>
                  <a:srgbClr val="990000"/>
                </a:solidFill>
                <a:latin typeface="Consolas"/>
              </a:rPr>
              <a:t>def</a:t>
            </a:r>
            <a:r>
              <a:rPr sz="1100" b="0" i="0" lang="en-US">
                <a:solidFill>
                  <a:srgbClr val="1A1A1A"/>
                </a:solidFill>
                <a:latin typeface="Consolas"/>
              </a:rPr>
              <a:t> walk(self, p, a, nid, c):</a:t>
            </a:r>
          </a:p>
          <a:p>
            <a:pPr>
              <a:lnSpc>
                <a:spcPct val="115000"/>
              </a:lnSpc>
            </a:pPr>
            <a:r>
              <a:rPr sz="1100" b="0" i="0" lang="en-US">
                <a:solidFill>
                  <a:srgbClr val="1A1A1A"/>
                </a:solidFill>
                <a:latin typeface="Consolas"/>
              </a:rPr>
              <a:t>    node = self.nodes[nid]    # ← read from the JSON</a:t>
            </a:r>
          </a:p>
          <a:p>
            <a:pPr>
              <a:lnSpc>
                <a:spcPct val="115000"/>
              </a:lnSpc>
            </a:pPr>
            <a:r>
              <a:rPr sz="1100" b="0" i="0" lang="en-US">
                <a:solidFill>
                  <a:srgbClr val="6B6B6B"/>
                </a:solidFill>
                <a:latin typeface="Consolas"/>
              </a:rPr>
              <a:t>    …                         # render node, ask</a:t>
            </a:r>
          </a:p>
          <a:p>
            <a:pPr>
              <a:lnSpc>
                <a:spcPct val="115000"/>
              </a:lnSpc>
            </a:pPr>
            <a:r>
              <a:rPr sz="1100" b="0" i="0" lang="en-US">
                <a:solidFill>
                  <a:srgbClr val="1A1A1A"/>
                </a:solidFill>
                <a:latin typeface="Consolas"/>
              </a:rPr>
              <a:t>    self._move(p, a, next_id) # retract old Position,</a:t>
            </a:r>
          </a:p>
          <a:p>
            <a:pPr>
              <a:lnSpc>
                <a:spcPct val="115000"/>
              </a:lnSpc>
            </a:pPr>
            <a:r>
              <a:rPr sz="1100" b="0" i="0" lang="en-US">
                <a:solidFill>
                  <a:srgbClr val="6B6B6B"/>
                </a:solidFill>
                <a:latin typeface="Consolas"/>
              </a:rPr>
              <a:t>                # declare the new one → RETE re-matches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419100" y="4191000"/>
            <a:ext cx="819150" cy="285750"/>
          </a:xfrm>
          <a:prstGeom prst="roundRect">
            <a:avLst>
              <a:gd name="adj" fmla="val 50000"/>
            </a:avLst>
          </a:prstGeom>
          <a:solidFill>
            <a:srgbClr val="F5F5F5"/>
          </a:solidFill>
          <a:ln w="15875">
            <a:solidFill>
              <a:srgbClr val="E0E0E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76200" rIns="76200" tIns="38100" bIns="38100"/>
          <a:lstStyle/>
          <a:p>
            <a:pPr algn="ctr"/>
            <a:r>
              <a:rPr sz="1100" b="0" i="0" lang="en-US">
                <a:solidFill>
                  <a:srgbClr val="4A4A4A"/>
                </a:solidFill>
                <a:latin typeface="Consolas"/>
              </a:rPr>
              <a:t>Position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1333500" y="4191000"/>
            <a:ext cx="676275" cy="285750"/>
          </a:xfrm>
          <a:prstGeom prst="roundRect">
            <a:avLst>
              <a:gd name="adj" fmla="val 50000"/>
            </a:avLst>
          </a:prstGeom>
          <a:solidFill>
            <a:srgbClr val="F5F5F5"/>
          </a:solidFill>
          <a:ln w="15875">
            <a:solidFill>
              <a:srgbClr val="E0E0E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76200" rIns="76200" tIns="38100" bIns="38100"/>
          <a:lstStyle/>
          <a:p>
            <a:pPr algn="ctr"/>
            <a:r>
              <a:rPr sz="1100" b="0" i="0" lang="en-US">
                <a:solidFill>
                  <a:srgbClr val="4A4A4A"/>
                </a:solidFill>
                <a:latin typeface="Consolas"/>
              </a:rPr>
              <a:t>Active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2105025" y="4191000"/>
            <a:ext cx="676275" cy="285750"/>
          </a:xfrm>
          <a:prstGeom prst="roundRect">
            <a:avLst>
              <a:gd name="adj" fmla="val 50000"/>
            </a:avLst>
          </a:prstGeom>
          <a:solidFill>
            <a:srgbClr val="F5F5F5"/>
          </a:solidFill>
          <a:ln w="15875">
            <a:solidFill>
              <a:srgbClr val="E0E0E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76200" rIns="76200" tIns="38100" bIns="38100"/>
          <a:lstStyle/>
          <a:p>
            <a:pPr algn="ctr"/>
            <a:r>
              <a:rPr sz="1100" b="0" i="0" lang="en-US">
                <a:solidFill>
                  <a:srgbClr val="4A4A4A"/>
                </a:solidFill>
                <a:latin typeface="Consolas"/>
              </a:rPr>
              <a:t>Danger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2876550" y="4191000"/>
            <a:ext cx="819150" cy="285750"/>
          </a:xfrm>
          <a:prstGeom prst="roundRect">
            <a:avLst>
              <a:gd name="adj" fmla="val 50000"/>
            </a:avLst>
          </a:prstGeom>
          <a:solidFill>
            <a:srgbClr val="F5F5F5"/>
          </a:solidFill>
          <a:ln w="15875">
            <a:solidFill>
              <a:srgbClr val="E0E0E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76200" rIns="76200" tIns="38100" bIns="38100"/>
          <a:lstStyle/>
          <a:p>
            <a:pPr algn="ctr"/>
            <a:r>
              <a:rPr sz="1100" b="0" i="0" lang="en-US">
                <a:solidFill>
                  <a:srgbClr val="4A4A4A"/>
                </a:solidFill>
                <a:latin typeface="Consolas"/>
              </a:rPr>
              <a:t>Bleeding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3790950" y="4191000"/>
            <a:ext cx="1176338" cy="285750"/>
          </a:xfrm>
          <a:prstGeom prst="roundRect">
            <a:avLst>
              <a:gd name="adj" fmla="val 50000"/>
            </a:avLst>
          </a:prstGeom>
          <a:solidFill>
            <a:srgbClr val="F5F5F5"/>
          </a:solidFill>
          <a:ln w="15875">
            <a:solidFill>
              <a:srgbClr val="E0E0E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76200" rIns="76200" tIns="38100" bIns="38100"/>
          <a:lstStyle/>
          <a:p>
            <a:pPr algn="ctr"/>
            <a:r>
              <a:rPr sz="1100" b="0" i="0" lang="en-US">
                <a:solidFill>
                  <a:srgbClr val="4A4A4A"/>
                </a:solidFill>
                <a:latin typeface="Consolas"/>
              </a:rPr>
              <a:t>StillBleeding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5062538" y="4191000"/>
            <a:ext cx="962025" cy="285750"/>
          </a:xfrm>
          <a:prstGeom prst="roundRect">
            <a:avLst>
              <a:gd name="adj" fmla="val 50000"/>
            </a:avLst>
          </a:prstGeom>
          <a:solidFill>
            <a:srgbClr val="F5F5F5"/>
          </a:solidFill>
          <a:ln w="15875">
            <a:solidFill>
              <a:srgbClr val="E0E0E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76200" rIns="76200" tIns="38100" bIns="38100"/>
          <a:lstStyle/>
          <a:p>
            <a:pPr algn="ctr"/>
            <a:r>
              <a:rPr sz="1100" b="0" i="0" lang="en-US">
                <a:solidFill>
                  <a:srgbClr val="4A4A4A"/>
                </a:solidFill>
                <a:latin typeface="Consolas"/>
              </a:rPr>
              <a:t>SignOfLife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6176962" y="4229100"/>
            <a:ext cx="3048000" cy="2286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r>
              <a:rPr sz="1050" b="0" i="0" lang="en-US">
                <a:solidFill>
                  <a:srgbClr val="6B6B6B"/>
                </a:solidFill>
                <a:latin typeface="Noto Sans"/>
              </a:rPr>
              <a:t>— the six Fact types = the whole working memory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6667500" y="1781175"/>
            <a:ext cx="76200" cy="76200"/>
          </a:xfrm>
          <a:prstGeom prst="roundRect">
            <a:avLst>
              <a:gd name="adj" fmla="val 30000"/>
            </a:avLst>
          </a:prstGeom>
          <a:solidFill>
            <a:srgbClr val="CC000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76200" rIns="76200" tIns="38100" bIns="38100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6858000" y="1714500"/>
            <a:ext cx="4953000" cy="5715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>
              <a:lnSpc>
                <a:spcPct val="110000"/>
              </a:lnSpc>
            </a:pPr>
            <a:r>
              <a:rPr sz="1450" b="0" i="0" lang="en-US">
                <a:solidFill>
                  <a:srgbClr val="1A1A1A"/>
                </a:solidFill>
                <a:latin typeface="Noto Sans"/>
              </a:rPr>
              <a:t>One </a:t>
            </a:r>
            <a:r>
              <a:rPr sz="1450" b="0" i="0" lang="en-US">
                <a:solidFill>
                  <a:srgbClr val="1A1A1A"/>
                </a:solidFill>
                <a:latin typeface="Consolas"/>
              </a:rPr>
              <a:t>KnowledgeEngine</a:t>
            </a:r>
            <a:r>
              <a:rPr sz="1450" b="0" i="0" lang="en-US">
                <a:solidFill>
                  <a:srgbClr val="1A1A1A"/>
                </a:solidFill>
                <a:latin typeface="Noto Sans"/>
              </a:rPr>
              <a:t> subclass; charts are </a:t>
            </a:r>
            <a:r>
              <a:rPr sz="1450" b="1" i="0" lang="en-US">
                <a:solidFill>
                  <a:srgbClr val="1A1A1A"/>
                </a:solidFill>
                <a:latin typeface="Noto Sans"/>
              </a:rPr>
              <a:t>facts about position</a:t>
            </a:r>
            <a:r>
              <a:rPr sz="1450" b="0" i="0" lang="en-US">
                <a:solidFill>
                  <a:srgbClr val="1A1A1A"/>
                </a:solidFill>
                <a:latin typeface="Noto Sans"/>
              </a:rPr>
              <a:t>, not rules.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6667500" y="2447925"/>
            <a:ext cx="76200" cy="76200"/>
          </a:xfrm>
          <a:prstGeom prst="roundRect">
            <a:avLst>
              <a:gd name="adj" fmla="val 30000"/>
            </a:avLst>
          </a:prstGeom>
          <a:solidFill>
            <a:srgbClr val="CC000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76200" rIns="76200" tIns="38100" bIns="38100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6858000" y="2381250"/>
            <a:ext cx="4953000" cy="5715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>
              <a:lnSpc>
                <a:spcPct val="110000"/>
              </a:lnSpc>
            </a:pPr>
            <a:r>
              <a:rPr sz="1450" b="0" i="0" lang="en-US">
                <a:solidFill>
                  <a:srgbClr val="1A1A1A"/>
                </a:solidFill>
                <a:latin typeface="Noto Sans"/>
              </a:rPr>
              <a:t>Each answer </a:t>
            </a:r>
            <a:r>
              <a:rPr sz="1450" b="1" i="0" lang="en-US">
                <a:solidFill>
                  <a:srgbClr val="1A1A1A"/>
                </a:solidFill>
                <a:latin typeface="Noto Sans"/>
              </a:rPr>
              <a:t>retracts / declares</a:t>
            </a:r>
            <a:r>
              <a:rPr sz="1450" b="0" i="0" lang="en-US">
                <a:solidFill>
                  <a:srgbClr val="1A1A1A"/>
                </a:solidFill>
                <a:latin typeface="Noto Sans"/>
              </a:rPr>
              <a:t> a fact → the RETE network re-matches → the next rule fires. </a:t>
            </a:r>
            <a:r>
              <a:rPr sz="1450" b="1" i="0" lang="en-US">
                <a:solidFill>
                  <a:srgbClr val="1A1A1A"/>
                </a:solidFill>
                <a:latin typeface="Noto Sans"/>
              </a:rPr>
              <a:t>That chain is the inference.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6667500" y="3352800"/>
            <a:ext cx="76200" cy="76200"/>
          </a:xfrm>
          <a:prstGeom prst="roundRect">
            <a:avLst>
              <a:gd name="adj" fmla="val 30000"/>
            </a:avLst>
          </a:prstGeom>
          <a:solidFill>
            <a:srgbClr val="CC000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76200" rIns="76200" tIns="38100" bIns="38100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6858000" y="3286125"/>
            <a:ext cx="4953000" cy="5715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>
              <a:lnSpc>
                <a:spcPct val="110000"/>
              </a:lnSpc>
            </a:pPr>
            <a:r>
              <a:rPr sz="1450" b="1" i="0" lang="en-US">
                <a:solidFill>
                  <a:srgbClr val="1A1A1A"/>
                </a:solidFill>
                <a:latin typeface="Noto Sans"/>
              </a:rPr>
              <a:t>8 rules total</a:t>
            </a:r>
            <a:r>
              <a:rPr sz="1450" b="0" i="0" lang="en-US">
                <a:solidFill>
                  <a:srgbClr val="1A1A1A"/>
                </a:solidFill>
                <a:latin typeface="Noto Sans"/>
              </a:rPr>
              <a:t> walk all 59 nodes.</a:t>
            </a:r>
          </a:p>
        </p:txBody>
      </p:sp>
      <p:sp>
        <p:nvSpPr>
          <p:cNvPr id="19" name="Rounded Rectangle 18"/>
          <p:cNvSpPr/>
          <p:nvPr/>
        </p:nvSpPr>
        <p:spPr>
          <a:xfrm>
            <a:off x="6667500" y="3810000"/>
            <a:ext cx="4572000" cy="342900"/>
          </a:xfrm>
          <a:prstGeom prst="roundRect">
            <a:avLst>
              <a:gd name="adj" fmla="val 50000"/>
            </a:avLst>
          </a:prstGeom>
          <a:solidFill>
            <a:srgbClr val="F0FAF5"/>
          </a:solidFill>
          <a:ln w="15875">
            <a:solidFill>
              <a:srgbClr val="2D6A4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76200" rIns="76200" tIns="38100" bIns="38100"/>
          <a:lstStyle/>
          <a:p>
            <a:pPr algn="ctr"/>
            <a:r>
              <a:rPr sz="1150" b="1" i="0" lang="en-US">
                <a:solidFill>
                  <a:srgbClr val="2D6A4F"/>
                </a:solidFill>
                <a:latin typeface="Noto Sans"/>
              </a:rPr>
              <a:t>11 automated tests — every inference behavior is proven, not claimed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11239500" y="6610350"/>
            <a:ext cx="762000" cy="1905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r>
              <a:rPr sz="900" b="0" i="0" lang="en-US">
                <a:solidFill>
                  <a:srgbClr val="6B6B6B"/>
                </a:solidFill>
                <a:latin typeface="Noto Sans"/>
              </a:rPr>
              <a:t>10 / 28</a:t>
            </a:r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44" dur="indefinite" nodeType="mainSeq">
                <p:childTnLst>
                  <p:par>
                    <p:cTn id="4" fill="hold">
                      <p:stCondLst>
                        <p:cond delay="indefinite"/>
                      </p:stCondLst>
                      <p:childTnLst>
                        <p:par>
                          <p:cTn id="5" fill="hold">
                            <p:stCondLst>
                              <p:cond delay="0"/>
                            </p:stCondLst>
                            <p:childTnLst>
                              <p:par>
                                <p:cTn id="2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0" fill="hold">
                      <p:stCondLst>
                        <p:cond delay="indefinite"/>
                      </p:stCondLst>
                      <p:childTnLst>
                        <p:par>
                          <p:cTn id="21" fill="hold">
                            <p:stCondLst>
                              <p:cond delay="0"/>
                            </p:stCondLst>
                            <p:childTnLst>
                              <p:par>
                                <p:cTn id="6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8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0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2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4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6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8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6" fill="hold">
                      <p:stCondLst>
                        <p:cond delay="indefinite"/>
                      </p:stCondLst>
                      <p:childTnLst>
                        <p:par>
                          <p:cTn id="27" fill="hold">
                            <p:stCondLst>
                              <p:cond delay="0"/>
                            </p:stCondLst>
                            <p:childTnLst>
                              <p:par>
                                <p:cTn id="22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4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2" fill="hold">
                      <p:stCondLst>
                        <p:cond delay="indefinite"/>
                      </p:stCondLst>
                      <p:childTnLst>
                        <p:par>
                          <p:cTn id="33" fill="hold">
                            <p:stCondLst>
                              <p:cond delay="0"/>
                            </p:stCondLst>
                            <p:childTnLst>
                              <p:par>
                                <p:cTn id="28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30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8" fill="hold">
                      <p:stCondLst>
                        <p:cond delay="indefinite"/>
                      </p:stCondLst>
                      <p:childTnLst>
                        <p:par>
                          <p:cTn id="39" fill="hold">
                            <p:stCondLst>
                              <p:cond delay="0"/>
                            </p:stCondLst>
                            <p:childTnLst>
                              <p:par>
                                <p:cTn id="34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36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2" fill="hold">
                      <p:stCondLst>
                        <p:cond delay="indefinite"/>
                      </p:stCondLst>
                      <p:childTnLst>
                        <p:par>
                          <p:cTn id="43" fill="hold">
                            <p:stCondLst>
                              <p:cond delay="0"/>
                            </p:stCondLst>
                            <p:childTnLst>
                              <p:par>
                                <p:cTn id="40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19100" y="285750"/>
            <a:ext cx="8572500" cy="1905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r>
              <a:rPr sz="1050" b="1" i="0" lang="en-US">
                <a:solidFill>
                  <a:srgbClr val="CC0000"/>
                </a:solidFill>
                <a:latin typeface="Noto Sans"/>
              </a:rPr>
              <a:t>INFERENCE I — SALIENCE &amp; CONFLICT RESOLUTION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19100" y="495300"/>
            <a:ext cx="9525000" cy="43815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r>
              <a:rPr sz="2500" b="1" i="0" lang="en-US">
                <a:solidFill>
                  <a:srgbClr val="1A1A1A"/>
                </a:solidFill>
                <a:latin typeface="Noto Sans"/>
              </a:rPr>
              <a:t>Salience encodes clinical precedence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10763250" y="323850"/>
            <a:ext cx="1009650" cy="285750"/>
          </a:xfrm>
          <a:prstGeom prst="roundRect">
            <a:avLst>
              <a:gd name="adj" fmla="val 28000"/>
            </a:avLst>
          </a:prstGeom>
          <a:solidFill>
            <a:srgbClr val="CC000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76200" rIns="76200" tIns="38100" bIns="38100"/>
          <a:lstStyle/>
          <a:p>
            <a:pPr algn="ctr"/>
            <a:r>
              <a:rPr sz="1250" b="1" i="0" lang="en-US">
                <a:solidFill>
                  <a:srgbClr val="FFFFFF"/>
                </a:solidFill>
                <a:latin typeface="Noto Sans"/>
              </a:rPr>
              <a:t>ResQRules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419100" y="1619250"/>
            <a:ext cx="5334000" cy="609600"/>
          </a:xfrm>
          <a:prstGeom prst="roundRect">
            <a:avLst>
              <a:gd name="adj" fmla="val 10000"/>
            </a:avLst>
          </a:prstGeom>
          <a:solidFill>
            <a:srgbClr val="FFFFFF"/>
          </a:solidFill>
          <a:ln w="25400">
            <a:solidFill>
              <a:srgbClr val="CC000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76200" rIns="76200" tIns="38100" bIns="38100"/>
          <a:lstStyle/>
          <a:p>
            <a:pPr algn="l"/>
            <a:r>
              <a:rPr sz="1900" b="1" i="0" lang="en-US">
                <a:solidFill>
                  <a:srgbClr val="CC0000"/>
                </a:solidFill>
                <a:latin typeface="Noto Sans"/>
              </a:rPr>
              <a:t> 100   </a:t>
            </a:r>
            <a:r>
              <a:rPr sz="1400" b="1" i="0" lang="en-US">
                <a:solidFill>
                  <a:srgbClr val="1A1A1A"/>
                </a:solidFill>
                <a:latin typeface="Consolas"/>
              </a:rPr>
              <a:t>ov_bleeding</a:t>
            </a:r>
            <a:r>
              <a:rPr sz="1050" b="0" i="0" lang="en-US">
                <a:solidFill>
                  <a:srgbClr val="6B6B6B"/>
                </a:solidFill>
                <a:latin typeface="Noto Sans"/>
              </a:rPr>
              <a:t>   catastrophic bleeding — key b · bleed-out kills fastest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419100" y="2343150"/>
            <a:ext cx="5334000" cy="609600"/>
          </a:xfrm>
          <a:prstGeom prst="roundRect">
            <a:avLst>
              <a:gd name="adj" fmla="val 10000"/>
            </a:avLst>
          </a:prstGeom>
          <a:solidFill>
            <a:srgbClr val="FFFFFF"/>
          </a:solidFill>
          <a:ln w="25400">
            <a:solidFill>
              <a:srgbClr val="E0555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76200" rIns="76200" tIns="38100" bIns="38100"/>
          <a:lstStyle/>
          <a:p>
            <a:pPr algn="l"/>
            <a:r>
              <a:rPr sz="1900" b="1" i="0" lang="en-US">
                <a:solidFill>
                  <a:srgbClr val="CC0000"/>
                </a:solidFill>
                <a:latin typeface="Noto Sans"/>
              </a:rPr>
              <a:t> 90   </a:t>
            </a:r>
            <a:r>
              <a:rPr sz="1400" b="1" i="0" lang="en-US">
                <a:solidFill>
                  <a:srgbClr val="1A1A1A"/>
                </a:solidFill>
                <a:latin typeface="Consolas"/>
              </a:rPr>
              <a:t>ov_arrest</a:t>
            </a:r>
            <a:r>
              <a:rPr sz="1050" b="0" i="0" lang="en-US">
                <a:solidFill>
                  <a:srgbClr val="6B6B6B"/>
                </a:solidFill>
                <a:latin typeface="Noto Sans"/>
              </a:rPr>
              <a:t>   not breathing / no pulse — keys n · p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419100" y="3067050"/>
            <a:ext cx="5334000" cy="609600"/>
          </a:xfrm>
          <a:prstGeom prst="roundRect">
            <a:avLst>
              <a:gd name="adj" fmla="val 10000"/>
            </a:avLst>
          </a:prstGeom>
          <a:solidFill>
            <a:srgbClr val="FFFFFF"/>
          </a:solidFill>
          <a:ln w="25400">
            <a:solidFill>
              <a:srgbClr val="EFA1A1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76200" rIns="76200" tIns="38100" bIns="38100"/>
          <a:lstStyle/>
          <a:p>
            <a:pPr algn="l"/>
            <a:r>
              <a:rPr sz="1900" b="1" i="0" lang="en-US">
                <a:solidFill>
                  <a:srgbClr val="CC0000"/>
                </a:solidFill>
                <a:latin typeface="Noto Sans"/>
              </a:rPr>
              <a:t> 80   </a:t>
            </a:r>
            <a:r>
              <a:rPr sz="1400" b="1" i="0" lang="en-US">
                <a:solidFill>
                  <a:srgbClr val="1A1A1A"/>
                </a:solidFill>
                <a:latin typeface="Consolas"/>
              </a:rPr>
              <a:t>ov_unconscious</a:t>
            </a:r>
            <a:r>
              <a:rPr sz="1050" b="0" i="0" lang="en-US">
                <a:solidFill>
                  <a:srgbClr val="6B6B6B"/>
                </a:solidFill>
                <a:latin typeface="Noto Sans"/>
              </a:rPr>
              <a:t>   unconscious — key u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419100" y="3790950"/>
            <a:ext cx="5334000" cy="609600"/>
          </a:xfrm>
          <a:prstGeom prst="roundRect">
            <a:avLst>
              <a:gd name="adj" fmla="val 10000"/>
            </a:avLst>
          </a:prstGeom>
          <a:solidFill>
            <a:srgbClr val="FFFFFF"/>
          </a:solidFill>
          <a:ln w="25400">
            <a:solidFill>
              <a:srgbClr val="E0E0E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76200" rIns="76200" tIns="38100" bIns="38100"/>
          <a:lstStyle/>
          <a:p>
            <a:pPr algn="l"/>
            <a:r>
              <a:rPr sz="1900" b="1" i="0" lang="en-US">
                <a:solidFill>
                  <a:srgbClr val="6B6B6B"/>
                </a:solidFill>
                <a:latin typeface="Noto Sans"/>
              </a:rPr>
              <a:t> 0   </a:t>
            </a:r>
            <a:r>
              <a:rPr sz="1400" b="1" i="0" lang="en-US">
                <a:solidFill>
                  <a:srgbClr val="1A1A1A"/>
                </a:solidFill>
                <a:latin typeface="Consolas"/>
              </a:rPr>
              <a:t>walk</a:t>
            </a:r>
            <a:r>
              <a:rPr sz="1050" b="0" i="0" lang="en-US">
                <a:solidFill>
                  <a:srgbClr val="6B6B6B"/>
                </a:solidFill>
                <a:latin typeface="Noto Sans"/>
              </a:rPr>
              <a:t>   the baseline chart walker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6191250" y="1638300"/>
            <a:ext cx="76200" cy="76200"/>
          </a:xfrm>
          <a:prstGeom prst="roundRect">
            <a:avLst>
              <a:gd name="adj" fmla="val 30000"/>
            </a:avLst>
          </a:prstGeom>
          <a:solidFill>
            <a:srgbClr val="CC000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76200" rIns="76200" tIns="38100" bIns="38100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6381750" y="1571625"/>
            <a:ext cx="5429250" cy="5715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>
              <a:lnSpc>
                <a:spcPct val="110000"/>
              </a:lnSpc>
            </a:pPr>
            <a:r>
              <a:rPr sz="1400" b="0" i="0" lang="en-US">
                <a:solidFill>
                  <a:srgbClr val="1A1A1A"/>
                </a:solidFill>
                <a:latin typeface="Noto Sans"/>
              </a:rPr>
              <a:t>At </a:t>
            </a:r>
            <a:r>
              <a:rPr sz="1400" b="1" i="0" lang="en-US">
                <a:solidFill>
                  <a:srgbClr val="1A1A1A"/>
                </a:solidFill>
                <a:latin typeface="Noto Sans"/>
              </a:rPr>
              <a:t>every</a:t>
            </a:r>
            <a:r>
              <a:rPr sz="1400" b="0" i="0" lang="en-US">
                <a:solidFill>
                  <a:srgbClr val="1A1A1A"/>
                </a:solidFill>
                <a:latin typeface="Noto Sans"/>
              </a:rPr>
              <a:t> prompt, the paramedic can assert a </a:t>
            </a:r>
            <a:r>
              <a:rPr sz="1400" b="0" i="0" lang="en-US">
                <a:solidFill>
                  <a:srgbClr val="1A1A1A"/>
                </a:solidFill>
                <a:latin typeface="Consolas"/>
              </a:rPr>
              <a:t>Danger</a:t>
            </a:r>
            <a:r>
              <a:rPr sz="1400" b="0" i="0" lang="en-US">
                <a:solidFill>
                  <a:srgbClr val="1A1A1A"/>
                </a:solidFill>
                <a:latin typeface="Noto Sans"/>
              </a:rPr>
              <a:t> fact </a:t>
            </a:r>
            <a:r>
              <a:rPr sz="1400" b="1" i="0" lang="en-US">
                <a:solidFill>
                  <a:srgbClr val="1A1A1A"/>
                </a:solidFill>
                <a:latin typeface="Noto Sans"/>
              </a:rPr>
              <a:t>instead of answering</a:t>
            </a:r>
            <a:r>
              <a:rPr sz="1400" b="0" i="0" lang="en-US">
                <a:solidFill>
                  <a:srgbClr val="1A1A1A"/>
                </a:solidFill>
                <a:latin typeface="Noto Sans"/>
              </a:rPr>
              <a:t>.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6191250" y="2257425"/>
            <a:ext cx="76200" cy="76200"/>
          </a:xfrm>
          <a:prstGeom prst="roundRect">
            <a:avLst>
              <a:gd name="adj" fmla="val 30000"/>
            </a:avLst>
          </a:prstGeom>
          <a:solidFill>
            <a:srgbClr val="CC000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76200" rIns="76200" tIns="38100" bIns="38100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6381750" y="2190750"/>
            <a:ext cx="5429250" cy="5715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>
              <a:lnSpc>
                <a:spcPct val="110000"/>
              </a:lnSpc>
            </a:pPr>
            <a:r>
              <a:rPr sz="1400" b="0" i="0" lang="en-US">
                <a:solidFill>
                  <a:srgbClr val="1A1A1A"/>
                </a:solidFill>
                <a:latin typeface="Noto Sans"/>
              </a:rPr>
              <a:t>Two dangers at once? </a:t>
            </a:r>
            <a:r>
              <a:rPr sz="1400" b="1" i="0" lang="en-US">
                <a:solidFill>
                  <a:srgbClr val="1A1A1A"/>
                </a:solidFill>
                <a:latin typeface="Noto Sans"/>
              </a:rPr>
              <a:t>Conflict resolution</a:t>
            </a:r>
            <a:r>
              <a:rPr sz="1400" b="0" i="0" lang="en-US">
                <a:solidFill>
                  <a:srgbClr val="1A1A1A"/>
                </a:solidFill>
                <a:latin typeface="Noto Sans"/>
              </a:rPr>
              <a:t>: the highest salience fires first — proven in TEST 1, not hand-sequenced.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6191250" y="3067050"/>
            <a:ext cx="76200" cy="76200"/>
          </a:xfrm>
          <a:prstGeom prst="roundRect">
            <a:avLst>
              <a:gd name="adj" fmla="val 30000"/>
            </a:avLst>
          </a:prstGeom>
          <a:solidFill>
            <a:srgbClr val="CC000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76200" rIns="76200" tIns="38100" bIns="38100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6381750" y="3000375"/>
            <a:ext cx="5429250" cy="5715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>
              <a:lnSpc>
                <a:spcPct val="110000"/>
              </a:lnSpc>
            </a:pPr>
            <a:r>
              <a:rPr sz="1400" b="0" i="0" lang="en-US">
                <a:solidFill>
                  <a:srgbClr val="1A1A1A"/>
                </a:solidFill>
                <a:latin typeface="Noto Sans"/>
              </a:rPr>
              <a:t>Guards: each override </a:t>
            </a:r>
            <a:r>
              <a:rPr sz="1400" b="0" i="0" lang="en-US">
                <a:solidFill>
                  <a:srgbClr val="1A1A1A"/>
                </a:solidFill>
                <a:latin typeface="Consolas"/>
              </a:rPr>
              <a:t>retract</a:t>
            </a:r>
            <a:r>
              <a:rPr sz="1400" b="0" i="0" lang="en-US">
                <a:solidFill>
                  <a:srgbClr val="1A1A1A"/>
                </a:solidFill>
                <a:latin typeface="Noto Sans"/>
              </a:rPr>
              <a:t>s its Danger (fires once) and never re-enters the protocol it's already in.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6191250" y="3810000"/>
            <a:ext cx="5619750" cy="742950"/>
          </a:xfrm>
          <a:prstGeom prst="roundRect">
            <a:avLst>
              <a:gd name="adj" fmla="val 6000"/>
            </a:avLst>
          </a:prstGeom>
          <a:solidFill>
            <a:srgbClr val="F5F5F5"/>
          </a:solidFill>
          <a:ln w="15875">
            <a:solidFill>
              <a:srgbClr val="E0E0E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 wrap="square" lIns="114300" rIns="114300" tIns="76200" bIns="76200"/>
          <a:lstStyle/>
          <a:p>
            <a:pPr algn="ctr">
              <a:lnSpc>
                <a:spcPct val="115000"/>
              </a:lnSpc>
            </a:pPr>
            <a:r>
              <a:rPr sz="900" b="0" i="0" lang="en-US">
                <a:solidFill>
                  <a:srgbClr val="4A4A4A"/>
                </a:solidFill>
                <a:latin typeface="Consolas"/>
              </a:rPr>
              <a:t>-- DANGER (type letter): [b]leeding  [n]ot-breathing  no-[p]ulse  [u]nconscious</a:t>
            </a:r>
          </a:p>
          <a:p>
            <a:pPr>
              <a:lnSpc>
                <a:spcPct val="115000"/>
              </a:lnSpc>
            </a:pPr>
            <a:r>
              <a:rPr sz="900" b="0" i="0" lang="en-US">
                <a:solidFill>
                  <a:srgbClr val="4A4A4A"/>
                </a:solidFill>
                <a:latin typeface="Consolas"/>
              </a:rPr>
              <a:t>!! DANGER [catastrophic_bleeding] </a:t>
            </a:r>
            <a:r>
              <a:rPr sz="900" b="1" i="0" lang="en-US">
                <a:solidFill>
                  <a:srgbClr val="1A1A1A"/>
                </a:solidFill>
                <a:latin typeface="Consolas"/>
              </a:rPr>
              <a:t>(sal 100): OVERRIDE</a:t>
            </a:r>
            <a:r>
              <a:rPr sz="900" b="0" i="0" lang="en-US">
                <a:solidFill>
                  <a:srgbClr val="4A4A4A"/>
                </a:solidFill>
                <a:latin typeface="Consolas"/>
              </a:rPr>
              <a:t> -&gt; preempt, jump to 'hemorrhage'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6191250" y="4591050"/>
            <a:ext cx="4762500" cy="17145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r>
              <a:rPr sz="850" b="0" i="0" lang="en-US">
                <a:solidFill>
                  <a:srgbClr val="6B6B6B"/>
                </a:solidFill>
                <a:latin typeface="Noto Sans"/>
              </a:rPr>
              <a:t>verbatim engine output · presentation/traces/override_bleeding_en.txt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6191250" y="4953000"/>
            <a:ext cx="47625" cy="438150"/>
          </a:xfrm>
          <a:prstGeom prst="roundRect">
            <a:avLst>
              <a:gd name="adj" fmla="val 30000"/>
            </a:avLst>
          </a:prstGeom>
          <a:solidFill>
            <a:srgbClr val="CC000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76200" rIns="76200" tIns="38100" bIns="38100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6343650" y="4972050"/>
            <a:ext cx="5467350" cy="5715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>
              <a:lnSpc>
                <a:spcPct val="110000"/>
              </a:lnSpc>
            </a:pPr>
            <a:r>
              <a:rPr sz="1700" b="1" i="0" lang="en-US">
                <a:solidFill>
                  <a:srgbClr val="990000"/>
                </a:solidFill>
                <a:latin typeface="Noto Sans"/>
              </a:rPr>
              <a:t>A paper chart cannot accept an asynchronous fact.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11239500" y="6610350"/>
            <a:ext cx="762000" cy="1905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r>
              <a:rPr sz="900" b="0" i="0" lang="en-US">
                <a:solidFill>
                  <a:srgbClr val="6B6B6B"/>
                </a:solidFill>
                <a:latin typeface="Noto Sans"/>
              </a:rPr>
              <a:t>11 / 28</a:t>
            </a:r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48" dur="indefinite" nodeType="mainSeq">
                <p:childTnLst>
                  <p:par>
                    <p:cTn id="4" fill="hold">
                      <p:stCondLst>
                        <p:cond delay="indefinite"/>
                      </p:stCondLst>
                      <p:childTnLst>
                        <p:par>
                          <p:cTn id="5" fill="hold">
                            <p:stCondLst>
                              <p:cond delay="0"/>
                            </p:stCondLst>
                            <p:childTnLst>
                              <p:par>
                                <p:cTn id="2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6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2" fill="hold">
                      <p:stCondLst>
                        <p:cond delay="indefinite"/>
                      </p:stCondLst>
                      <p:childTnLst>
                        <p:par>
                          <p:cTn id="13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6" fill="hold">
                      <p:stCondLst>
                        <p:cond delay="indefinite"/>
                      </p:stCondLst>
                      <p:childTnLst>
                        <p:par>
                          <p:cTn id="17" fill="hold">
                            <p:stCondLst>
                              <p:cond delay="0"/>
                            </p:stCondLst>
                            <p:childTnLst>
                              <p:par>
                                <p:cTn id="14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2" fill="hold">
                      <p:stCondLst>
                        <p:cond delay="indefinite"/>
                      </p:stCondLst>
                      <p:childTnLst>
                        <p:par>
                          <p:cTn id="23" fill="hold">
                            <p:stCondLst>
                              <p:cond delay="0"/>
                            </p:stCondLst>
                            <p:childTnLst>
                              <p:par>
                                <p:cTn id="18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0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24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6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4" fill="hold">
                      <p:stCondLst>
                        <p:cond delay="indefinite"/>
                      </p:stCondLst>
                      <p:childTnLst>
                        <p:par>
                          <p:cTn id="35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32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0" fill="hold">
                      <p:stCondLst>
                        <p:cond delay="indefinite"/>
                      </p:stCondLst>
                      <p:childTnLst>
                        <p:par>
                          <p:cTn id="41" fill="hold">
                            <p:stCondLst>
                              <p:cond delay="0"/>
                            </p:stCondLst>
                            <p:childTnLst>
                              <p:par>
                                <p:cTn id="36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38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6" fill="hold">
                      <p:stCondLst>
                        <p:cond delay="indefinite"/>
                      </p:stCondLst>
                      <p:childTnLst>
                        <p:par>
                          <p:cTn id="47" fill="hold">
                            <p:stCondLst>
                              <p:cond delay="0"/>
                            </p:stCondLst>
                            <p:childTnLst>
                              <p:par>
                                <p:cTn id="42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44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19100" y="285750"/>
            <a:ext cx="8572500" cy="1905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r>
              <a:rPr sz="1050" b="1" i="0" lang="en-US">
                <a:solidFill>
                  <a:srgbClr val="CC0000"/>
                </a:solidFill>
                <a:latin typeface="Noto Sans"/>
              </a:rPr>
              <a:t>INFERENCE II — CERTAINTY FACTOR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19100" y="495300"/>
            <a:ext cx="9525000" cy="43815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r>
              <a:rPr sz="2500" b="1" i="0" lang="en-US">
                <a:solidFill>
                  <a:srgbClr val="1A1A1A"/>
                </a:solidFill>
                <a:latin typeface="Noto Sans"/>
              </a:rPr>
              <a:t>Uncertainty is data too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10763250" y="323850"/>
            <a:ext cx="1009650" cy="285750"/>
          </a:xfrm>
          <a:prstGeom prst="roundRect">
            <a:avLst>
              <a:gd name="adj" fmla="val 28000"/>
            </a:avLst>
          </a:prstGeom>
          <a:solidFill>
            <a:srgbClr val="CC000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76200" rIns="76200" tIns="38100" bIns="38100"/>
          <a:lstStyle/>
          <a:p>
            <a:pPr algn="ctr"/>
            <a:r>
              <a:rPr sz="1250" b="1" i="0" lang="en-US">
                <a:solidFill>
                  <a:srgbClr val="FFFFFF"/>
                </a:solidFill>
                <a:latin typeface="Noto Sans"/>
              </a:rPr>
              <a:t>ResQRules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419100" y="1428750"/>
            <a:ext cx="2286000" cy="304800"/>
          </a:xfrm>
          <a:prstGeom prst="roundRect">
            <a:avLst>
              <a:gd name="adj" fmla="val 50000"/>
            </a:avLst>
          </a:prstGeom>
          <a:solidFill>
            <a:srgbClr val="FFFFFF"/>
          </a:solidFill>
          <a:ln w="15875">
            <a:solidFill>
              <a:srgbClr val="E0E0E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76200" rIns="76200" tIns="38100" bIns="38100"/>
          <a:lstStyle/>
          <a:p>
            <a:pPr algn="ctr"/>
            <a:r>
              <a:rPr sz="1150" b="1" i="0" lang="en-US">
                <a:solidFill>
                  <a:srgbClr val="4A4A4A"/>
                </a:solidFill>
                <a:latin typeface="Noto Sans"/>
              </a:rPr>
              <a:t>cpr_11 — “[1] Sign of life?”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2857500" y="1428750"/>
            <a:ext cx="4762500" cy="304800"/>
          </a:xfrm>
          <a:prstGeom prst="roundRect">
            <a:avLst>
              <a:gd name="adj" fmla="val 50000"/>
            </a:avLst>
          </a:prstGeom>
          <a:solidFill>
            <a:srgbClr val="FFF3EB"/>
          </a:solidFill>
          <a:ln w="15875">
            <a:solidFill>
              <a:srgbClr val="B54A0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76200" rIns="76200" tIns="38100" bIns="38100"/>
          <a:lstStyle/>
          <a:p>
            <a:pPr algn="ctr"/>
            <a:r>
              <a:rPr sz="1150" b="1" i="0" lang="en-US">
                <a:solidFill>
                  <a:srgbClr val="B54A00"/>
                </a:solidFill>
                <a:latin typeface="Noto Sans"/>
              </a:rPr>
              <a:t>“Gasping is not considered efficient breathing” — chart #3, p.3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571500" y="2552700"/>
            <a:ext cx="8277225" cy="95250"/>
          </a:xfrm>
          <a:prstGeom prst="roundRect">
            <a:avLst>
              <a:gd name="adj" fmla="val 50000"/>
            </a:avLst>
          </a:prstGeom>
          <a:solidFill>
            <a:srgbClr val="FFEAEA"/>
          </a:solidFill>
          <a:ln w="12700">
            <a:solidFill>
              <a:srgbClr val="E0E0E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76200" rIns="76200" tIns="38100" bIns="38100"/>
          <a:lstStyle/>
          <a:p>
            <a:pPr algn="ctr"/>
          </a:p>
        </p:txBody>
      </p:sp>
      <p:sp>
        <p:nvSpPr>
          <p:cNvPr id="8" name="Rounded Rectangle 7"/>
          <p:cNvSpPr/>
          <p:nvPr/>
        </p:nvSpPr>
        <p:spPr>
          <a:xfrm>
            <a:off x="8848725" y="2552700"/>
            <a:ext cx="2771775" cy="95250"/>
          </a:xfrm>
          <a:prstGeom prst="roundRect">
            <a:avLst>
              <a:gd name="adj" fmla="val 50000"/>
            </a:avLst>
          </a:prstGeom>
          <a:solidFill>
            <a:srgbClr val="F0FAF5"/>
          </a:solidFill>
          <a:ln w="12700">
            <a:solidFill>
              <a:srgbClr val="E0E0E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76200" rIns="76200" tIns="38100" bIns="38100"/>
          <a:lstStyle/>
          <a:p>
            <a:pPr algn="ctr"/>
          </a:p>
        </p:txBody>
      </p:sp>
      <p:sp>
        <p:nvSpPr>
          <p:cNvPr id="9" name="Rectangle 8"/>
          <p:cNvSpPr/>
          <p:nvPr/>
        </p:nvSpPr>
        <p:spPr>
          <a:xfrm>
            <a:off x="8829675" y="2343150"/>
            <a:ext cx="28575" cy="495300"/>
          </a:xfrm>
          <a:prstGeom prst="rect">
            <a:avLst/>
          </a:prstGeom>
          <a:solidFill>
            <a:srgbClr val="1A1A1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76200" rIns="76200" tIns="38100" bIns="38100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7572375" y="2114550"/>
            <a:ext cx="1190625" cy="1905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r>
              <a:rPr sz="1100" b="1" i="0" lang="en-US">
                <a:solidFill>
                  <a:srgbClr val="1A1A1A"/>
                </a:solidFill>
                <a:latin typeface="Noto Sans"/>
              </a:rPr>
              <a:t>threshold 0.5</a:t>
            </a:r>
          </a:p>
        </p:txBody>
      </p:sp>
      <p:sp>
        <p:nvSpPr>
          <p:cNvPr id="11" name="Oval 10"/>
          <p:cNvSpPr/>
          <p:nvPr/>
        </p:nvSpPr>
        <p:spPr>
          <a:xfrm>
            <a:off x="725805" y="2533650"/>
            <a:ext cx="133350" cy="133350"/>
          </a:xfrm>
          <a:prstGeom prst="ellipse">
            <a:avLst/>
          </a:prstGeom>
          <a:solidFill>
            <a:srgbClr val="CC0000"/>
          </a:solidFill>
          <a:ln w="25400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76200" rIns="76200" tIns="38100" bIns="38100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268605" y="2152650"/>
            <a:ext cx="1047750" cy="3429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r>
              <a:rPr sz="1200" b="1" i="0" lang="en-US">
                <a:solidFill>
                  <a:srgbClr val="1A1A1A"/>
                </a:solidFill>
                <a:latin typeface="Noto Sans"/>
              </a:rPr>
              <a:t>none</a:t>
            </a:r>
          </a:p>
          <a:p>
            <a:r>
              <a:rPr sz="950" b="0" i="0" lang="en-US">
                <a:solidFill>
                  <a:srgbClr val="6B6B6B"/>
                </a:solidFill>
                <a:latin typeface="Noto Sans"/>
              </a:rPr>
              <a:t>CF −1.0</a:t>
            </a:r>
          </a:p>
        </p:txBody>
      </p:sp>
      <p:sp>
        <p:nvSpPr>
          <p:cNvPr id="13" name="Oval 12"/>
          <p:cNvSpPr/>
          <p:nvPr/>
        </p:nvSpPr>
        <p:spPr>
          <a:xfrm>
            <a:off x="7023735" y="2533650"/>
            <a:ext cx="133350" cy="133350"/>
          </a:xfrm>
          <a:prstGeom prst="ellipse">
            <a:avLst/>
          </a:prstGeom>
          <a:solidFill>
            <a:srgbClr val="CC0000"/>
          </a:solidFill>
          <a:ln w="25400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76200" rIns="76200" tIns="38100" bIns="38100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6566535" y="2152650"/>
            <a:ext cx="1047750" cy="3429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r>
              <a:rPr sz="1200" b="1" i="0" lang="en-US">
                <a:solidFill>
                  <a:srgbClr val="1A1A1A"/>
                </a:solidFill>
                <a:latin typeface="Noto Sans"/>
              </a:rPr>
              <a:t>unsure</a:t>
            </a:r>
          </a:p>
          <a:p>
            <a:r>
              <a:rPr sz="950" b="0" i="0" lang="en-US">
                <a:solidFill>
                  <a:srgbClr val="6B6B6B"/>
                </a:solidFill>
                <a:latin typeface="Noto Sans"/>
              </a:rPr>
              <a:t>CF +0.2</a:t>
            </a:r>
          </a:p>
        </p:txBody>
      </p:sp>
      <p:sp>
        <p:nvSpPr>
          <p:cNvPr id="15" name="Oval 14"/>
          <p:cNvSpPr/>
          <p:nvPr/>
        </p:nvSpPr>
        <p:spPr>
          <a:xfrm>
            <a:off x="9288780" y="2533650"/>
            <a:ext cx="133350" cy="133350"/>
          </a:xfrm>
          <a:prstGeom prst="ellipse">
            <a:avLst/>
          </a:prstGeom>
          <a:solidFill>
            <a:srgbClr val="2D6A4F"/>
          </a:solidFill>
          <a:ln w="25400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76200" rIns="76200" tIns="38100" bIns="38100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8831580" y="2152650"/>
            <a:ext cx="1047750" cy="3429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r>
              <a:rPr sz="1200" b="1" i="0" lang="en-US">
                <a:solidFill>
                  <a:srgbClr val="1A1A1A"/>
                </a:solidFill>
                <a:latin typeface="Noto Sans"/>
              </a:rPr>
              <a:t>likely</a:t>
            </a:r>
          </a:p>
          <a:p>
            <a:r>
              <a:rPr sz="950" b="0" i="0" lang="en-US">
                <a:solidFill>
                  <a:srgbClr val="6B6B6B"/>
                </a:solidFill>
                <a:latin typeface="Noto Sans"/>
              </a:rPr>
              <a:t>CF +0.6</a:t>
            </a:r>
          </a:p>
        </p:txBody>
      </p:sp>
      <p:sp>
        <p:nvSpPr>
          <p:cNvPr id="17" name="Oval 16"/>
          <p:cNvSpPr/>
          <p:nvPr/>
        </p:nvSpPr>
        <p:spPr>
          <a:xfrm>
            <a:off x="11332845" y="2533650"/>
            <a:ext cx="133350" cy="133350"/>
          </a:xfrm>
          <a:prstGeom prst="ellipse">
            <a:avLst/>
          </a:prstGeom>
          <a:solidFill>
            <a:srgbClr val="2D6A4F"/>
          </a:solidFill>
          <a:ln w="25400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76200" rIns="76200" tIns="38100" bIns="38100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10875645" y="2152650"/>
            <a:ext cx="1047750" cy="3429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r>
              <a:rPr sz="1200" b="1" i="0" lang="en-US">
                <a:solidFill>
                  <a:srgbClr val="1A1A1A"/>
                </a:solidFill>
                <a:latin typeface="Noto Sans"/>
              </a:rPr>
              <a:t>certain</a:t>
            </a:r>
          </a:p>
          <a:p>
            <a:r>
              <a:rPr sz="950" b="0" i="0" lang="en-US">
                <a:solidFill>
                  <a:srgbClr val="6B6B6B"/>
                </a:solidFill>
                <a:latin typeface="Noto Sans"/>
              </a:rPr>
              <a:t>CF +1.0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571500" y="2857500"/>
            <a:ext cx="5905500" cy="2286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r>
              <a:rPr sz="1250" b="1" i="0" lang="en-US">
                <a:solidFill>
                  <a:srgbClr val="990000"/>
                </a:solidFill>
                <a:latin typeface="Noto Sans"/>
              </a:rPr>
              <a:t>← below 0.5 → CPR branch (cpr_14) — “if in doubt, compress”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6667500" y="2857500"/>
            <a:ext cx="4953000" cy="2286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r>
              <a:rPr sz="1250" b="1" i="0" lang="en-US">
                <a:solidFill>
                  <a:srgbClr val="2D6A4F"/>
                </a:solidFill>
                <a:latin typeface="Noto Sans"/>
              </a:rPr>
              <a:t>≥ 0.5 → ventilation branch (cpr_12) →</a:t>
            </a:r>
          </a:p>
        </p:txBody>
      </p:sp>
      <p:sp>
        <p:nvSpPr>
          <p:cNvPr id="21" name="Rounded Rectangle 20"/>
          <p:cNvSpPr/>
          <p:nvPr/>
        </p:nvSpPr>
        <p:spPr>
          <a:xfrm>
            <a:off x="419100" y="3590925"/>
            <a:ext cx="76200" cy="76200"/>
          </a:xfrm>
          <a:prstGeom prst="roundRect">
            <a:avLst>
              <a:gd name="adj" fmla="val 30000"/>
            </a:avLst>
          </a:prstGeom>
          <a:solidFill>
            <a:srgbClr val="CC000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76200" rIns="76200" tIns="38100" bIns="38100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609600" y="3524250"/>
            <a:ext cx="5524500" cy="5715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>
              <a:lnSpc>
                <a:spcPct val="110000"/>
              </a:lnSpc>
            </a:pPr>
            <a:r>
              <a:rPr sz="1400" b="0" i="0" lang="en-US">
                <a:solidFill>
                  <a:srgbClr val="1A1A1A"/>
                </a:solidFill>
                <a:latin typeface="Noto Sans"/>
              </a:rPr>
              <a:t>Experta has </a:t>
            </a:r>
            <a:r>
              <a:rPr sz="1400" b="1" i="0" lang="en-US">
                <a:solidFill>
                  <a:srgbClr val="1A1A1A"/>
                </a:solidFill>
                <a:latin typeface="Noto Sans"/>
              </a:rPr>
              <a:t>no native CF</a:t>
            </a:r>
            <a:r>
              <a:rPr sz="1400" b="0" i="0" lang="en-US">
                <a:solidFill>
                  <a:srgbClr val="1A1A1A"/>
                </a:solidFill>
                <a:latin typeface="Noto Sans"/>
              </a:rPr>
              <a:t> → we model it as data: a </a:t>
            </a:r>
            <a:r>
              <a:rPr sz="1400" b="0" i="0" lang="en-US">
                <a:solidFill>
                  <a:srgbClr val="1A1A1A"/>
                </a:solidFill>
                <a:latin typeface="Consolas"/>
              </a:rPr>
              <a:t>SignOfLife(cf)</a:t>
            </a:r>
            <a:r>
              <a:rPr sz="1400" b="0" i="0" lang="en-US">
                <a:solidFill>
                  <a:srgbClr val="1A1A1A"/>
                </a:solidFill>
                <a:latin typeface="Noto Sans"/>
              </a:rPr>
              <a:t> fact + </a:t>
            </a:r>
            <a:r>
              <a:rPr sz="1400" b="1" i="0" lang="en-US">
                <a:solidFill>
                  <a:srgbClr val="1A1A1A"/>
                </a:solidFill>
                <a:latin typeface="Noto Sans"/>
              </a:rPr>
              <a:t>one thresholding rule</a:t>
            </a:r>
            <a:r>
              <a:rPr sz="1400" b="0" i="0" lang="en-US">
                <a:solidFill>
                  <a:srgbClr val="1A1A1A"/>
                </a:solidFill>
                <a:latin typeface="Noto Sans"/>
              </a:rPr>
              <a:t> (salience 20).</a:t>
            </a:r>
          </a:p>
        </p:txBody>
      </p:sp>
      <p:sp>
        <p:nvSpPr>
          <p:cNvPr id="23" name="Rounded Rectangle 22"/>
          <p:cNvSpPr/>
          <p:nvPr/>
        </p:nvSpPr>
        <p:spPr>
          <a:xfrm>
            <a:off x="419100" y="4400550"/>
            <a:ext cx="76200" cy="76200"/>
          </a:xfrm>
          <a:prstGeom prst="roundRect">
            <a:avLst>
              <a:gd name="adj" fmla="val 30000"/>
            </a:avLst>
          </a:prstGeom>
          <a:solidFill>
            <a:srgbClr val="CC000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76200" rIns="76200" tIns="38100" bIns="38100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609600" y="4333875"/>
            <a:ext cx="5524500" cy="5715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>
              <a:lnSpc>
                <a:spcPct val="110000"/>
              </a:lnSpc>
            </a:pPr>
            <a:r>
              <a:rPr sz="1400" b="0" i="0" lang="en-US">
                <a:solidFill>
                  <a:srgbClr val="1A1A1A"/>
                </a:solidFill>
                <a:latin typeface="Noto Sans"/>
              </a:rPr>
              <a:t>The conservative bias lives </a:t>
            </a:r>
            <a:r>
              <a:rPr sz="1400" b="1" i="0" lang="en-US">
                <a:solidFill>
                  <a:srgbClr val="1A1A1A"/>
                </a:solidFill>
                <a:latin typeface="Noto Sans"/>
              </a:rPr>
              <a:t>in the scale</a:t>
            </a:r>
            <a:r>
              <a:rPr sz="1400" b="0" i="0" lang="en-US">
                <a:solidFill>
                  <a:srgbClr val="1A1A1A"/>
                </a:solidFill>
                <a:latin typeface="Noto Sans"/>
              </a:rPr>
              <a:t>: genuine doubt scores 0.2, far below the cut. Endpoints match a plain yes/no — only the ambiguous middle re-routes.</a:t>
            </a:r>
          </a:p>
        </p:txBody>
      </p:sp>
      <p:sp>
        <p:nvSpPr>
          <p:cNvPr id="25" name="Rounded Rectangle 24"/>
          <p:cNvSpPr/>
          <p:nvPr/>
        </p:nvSpPr>
        <p:spPr>
          <a:xfrm>
            <a:off x="6572250" y="3619500"/>
            <a:ext cx="5238750" cy="876300"/>
          </a:xfrm>
          <a:prstGeom prst="roundRect">
            <a:avLst>
              <a:gd name="adj" fmla="val 6000"/>
            </a:avLst>
          </a:prstGeom>
          <a:solidFill>
            <a:srgbClr val="F5F5F5"/>
          </a:solidFill>
          <a:ln w="15875">
            <a:solidFill>
              <a:srgbClr val="E0E0E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 wrap="square" lIns="114300" rIns="114300" tIns="76200" bIns="76200"/>
          <a:lstStyle/>
          <a:p>
            <a:pPr algn="ctr">
              <a:lnSpc>
                <a:spcPct val="115000"/>
              </a:lnSpc>
            </a:pPr>
            <a:r>
              <a:rPr sz="950" b="0" i="0" lang="en-US">
                <a:solidFill>
                  <a:srgbClr val="4A4A4A"/>
                </a:solidFill>
                <a:latin typeface="Consolas"/>
              </a:rPr>
              <a:t>?? Confidence the patient has a SIGN OF LIFE?</a:t>
            </a:r>
          </a:p>
          <a:p>
            <a:pPr>
              <a:lnSpc>
                <a:spcPct val="115000"/>
              </a:lnSpc>
            </a:pPr>
            <a:r>
              <a:rPr sz="950" b="0" i="0" lang="en-US">
                <a:solidFill>
                  <a:srgbClr val="4A4A4A"/>
                </a:solidFill>
                <a:latin typeface="Consolas"/>
              </a:rPr>
              <a:t>3) unsure  (CF +0.20)</a:t>
            </a:r>
          </a:p>
          <a:p>
            <a:pPr>
              <a:lnSpc>
                <a:spcPct val="115000"/>
              </a:lnSpc>
            </a:pPr>
            <a:r>
              <a:rPr sz="950" b="0" i="0" lang="en-US">
                <a:solidFill>
                  <a:srgbClr val="4A4A4A"/>
                </a:solidFill>
                <a:latin typeface="Consolas"/>
              </a:rPr>
              <a:t>~ CF +0.20 &lt;  +0.50: </a:t>
            </a:r>
            <a:r>
              <a:rPr sz="950" b="1" i="0" lang="en-US">
                <a:solidFill>
                  <a:srgbClr val="1A1A1A"/>
                </a:solidFill>
                <a:latin typeface="Consolas"/>
              </a:rPr>
              <a:t>doubt -&gt; CPR branch</a:t>
            </a:r>
            <a:r>
              <a:rPr sz="950" b="0" i="0" lang="en-US">
                <a:solidFill>
                  <a:srgbClr val="4A4A4A"/>
                </a:solidFill>
                <a:latin typeface="Consolas"/>
              </a:rPr>
              <a:t> (if in doubt, compress)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6572250" y="4533900"/>
            <a:ext cx="4572000" cy="17145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r>
              <a:rPr sz="850" b="0" i="0" lang="en-US">
                <a:solidFill>
                  <a:srgbClr val="6B6B6B"/>
                </a:solidFill>
                <a:latin typeface="Noto Sans"/>
              </a:rPr>
              <a:t>verbatim engine output · presentation/traces/cf_unsure_en.txt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11239500" y="6610350"/>
            <a:ext cx="762000" cy="1905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r>
              <a:rPr sz="900" b="0" i="0" lang="en-US">
                <a:solidFill>
                  <a:srgbClr val="6B6B6B"/>
                </a:solidFill>
                <a:latin typeface="Noto Sans"/>
              </a:rPr>
              <a:t>12 / 28</a:t>
            </a:r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58" dur="indefinite" nodeType="mainSeq">
                <p:childTnLst>
                  <p:par>
                    <p:cTn id="6" fill="hold">
                      <p:stCondLst>
                        <p:cond delay="indefinite"/>
                      </p:stCondLst>
                      <p:childTnLst>
                        <p:par>
                          <p:cTn id="7" fill="hold">
                            <p:stCondLst>
                              <p:cond delay="0"/>
                            </p:stCondLst>
                            <p:childTnLst>
                              <p:par>
                                <p:cTn id="2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4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2" fill="hold">
                      <p:stCondLst>
                        <p:cond delay="indefinite"/>
                      </p:stCondLst>
                      <p:childTnLst>
                        <p:par>
                          <p:cTn id="33" fill="hold">
                            <p:stCondLst>
                              <p:cond delay="0"/>
                            </p:stCondLst>
                            <p:childTnLst>
                              <p:par>
                                <p:cTn id="8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0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2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4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6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8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0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2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4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6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8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30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8" fill="hold">
                      <p:stCondLst>
                        <p:cond delay="indefinite"/>
                      </p:stCondLst>
                      <p:childTnLst>
                        <p:par>
                          <p:cTn id="39" fill="hold">
                            <p:stCondLst>
                              <p:cond delay="0"/>
                            </p:stCondLst>
                            <p:childTnLst>
                              <p:par>
                                <p:cTn id="34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36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4" fill="hold">
                      <p:stCondLst>
                        <p:cond delay="indefinite"/>
                      </p:stCondLst>
                      <p:childTnLst>
                        <p:par>
                          <p:cTn id="45" fill="hold">
                            <p:stCondLst>
                              <p:cond delay="0"/>
                            </p:stCondLst>
                            <p:childTnLst>
                              <p:par>
                                <p:cTn id="40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42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0" fill="hold">
                      <p:stCondLst>
                        <p:cond delay="indefinite"/>
                      </p:stCondLst>
                      <p:childTnLst>
                        <p:par>
                          <p:cTn id="51" fill="hold">
                            <p:stCondLst>
                              <p:cond delay="0"/>
                            </p:stCondLst>
                            <p:childTnLst>
                              <p:par>
                                <p:cTn id="46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48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6" fill="hold">
                      <p:stCondLst>
                        <p:cond delay="indefinite"/>
                      </p:stCondLst>
                      <p:childTnLst>
                        <p:par>
                          <p:cTn id="57" fill="hold">
                            <p:stCondLst>
                              <p:cond delay="0"/>
                            </p:stCondLst>
                            <p:childTnLst>
                              <p:par>
                                <p:cTn id="52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54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19100" y="285750"/>
            <a:ext cx="8572500" cy="1905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r>
              <a:rPr sz="1050" b="1" i="0" lang="en-US">
                <a:solidFill>
                  <a:srgbClr val="CC0000"/>
                </a:solidFill>
                <a:latin typeface="Noto Sans"/>
              </a:rPr>
              <a:t>FLOW WALKTHROUGH · STEP 1 OF 10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19100" y="495300"/>
            <a:ext cx="9525000" cy="43815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r>
              <a:rPr sz="2100" b="1" i="0" lang="en-US">
                <a:solidFill>
                  <a:srgbClr val="1A1A1A"/>
                </a:solidFill>
                <a:latin typeface="Noto Sans"/>
              </a:rPr>
              <a:t>Two facts. One generic rule.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10763250" y="323850"/>
            <a:ext cx="1009650" cy="285750"/>
          </a:xfrm>
          <a:prstGeom prst="roundRect">
            <a:avLst>
              <a:gd name="adj" fmla="val 28000"/>
            </a:avLst>
          </a:prstGeom>
          <a:solidFill>
            <a:srgbClr val="CC000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76200" rIns="76200" tIns="38100" bIns="38100"/>
          <a:lstStyle/>
          <a:p>
            <a:pPr algn="ctr"/>
            <a:r>
              <a:rPr sz="1250" b="1" i="0" lang="en-US">
                <a:solidFill>
                  <a:srgbClr val="FFFFFF"/>
                </a:solidFill>
                <a:latin typeface="Noto Sans"/>
              </a:rPr>
              <a:t>ResQRules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14350" y="1123950"/>
            <a:ext cx="3810000" cy="1524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r>
              <a:rPr sz="850" b="1" i="0" lang="en-US">
                <a:solidFill>
                  <a:srgbClr val="6B6B6B"/>
                </a:solidFill>
                <a:latin typeface="Noto Sans"/>
              </a:rPr>
              <a:t>GENERAL ASSESSMENT — CHART #1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14350" y="2114550"/>
            <a:ext cx="4191000" cy="1524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r>
              <a:rPr sz="850" b="1" i="0" lang="en-US">
                <a:solidFill>
                  <a:srgbClr val="6B6B6B"/>
                </a:solidFill>
                <a:latin typeface="Noto Sans"/>
              </a:rPr>
              <a:t>CATASTROPHIC HEMORRHAGE — CHART #10</a:t>
            </a:r>
          </a:p>
        </p:txBody>
      </p:sp>
      <p:cxnSp>
        <p:nvCxnSpPr>
          <p:cNvPr id="7" name="Connector 6"/>
          <p:cNvCxnSpPr/>
          <p:nvPr/>
        </p:nvCxnSpPr>
        <p:spPr>
          <a:xfrm>
            <a:off x="1733550" y="1571625"/>
            <a:ext cx="171450" cy="0"/>
          </a:xfrm>
          <a:prstGeom prst="line">
            <a:avLst/>
          </a:prstGeom>
          <a:ln w="19050">
            <a:solidFill>
              <a:srgbClr val="C7C7C7"/>
            </a:solidFill>
            <a:tailEnd type="triangle" w="med" len="med"/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8" name="Connector 7"/>
          <p:cNvCxnSpPr/>
          <p:nvPr/>
        </p:nvCxnSpPr>
        <p:spPr>
          <a:xfrm>
            <a:off x="3162300" y="1571625"/>
            <a:ext cx="171450" cy="0"/>
          </a:xfrm>
          <a:prstGeom prst="line">
            <a:avLst/>
          </a:prstGeom>
          <a:ln w="19050">
            <a:solidFill>
              <a:srgbClr val="C7C7C7"/>
            </a:solidFill>
            <a:tailEnd type="triangle" w="med" len="med"/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9" name="Connector 8"/>
          <p:cNvCxnSpPr/>
          <p:nvPr/>
        </p:nvCxnSpPr>
        <p:spPr>
          <a:xfrm>
            <a:off x="4591050" y="1571625"/>
            <a:ext cx="133350" cy="0"/>
          </a:xfrm>
          <a:prstGeom prst="line">
            <a:avLst/>
          </a:prstGeom>
          <a:ln w="19050">
            <a:solidFill>
              <a:srgbClr val="C7C7C7"/>
            </a:solidFill>
            <a:tailEnd type="triangle" w="med" len="med"/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0" name="Connector 9"/>
          <p:cNvCxnSpPr/>
          <p:nvPr/>
        </p:nvCxnSpPr>
        <p:spPr>
          <a:xfrm>
            <a:off x="6667500" y="1571625"/>
            <a:ext cx="104775" cy="0"/>
          </a:xfrm>
          <a:prstGeom prst="line">
            <a:avLst/>
          </a:prstGeom>
          <a:ln w="19050">
            <a:solidFill>
              <a:srgbClr val="C7C7C7"/>
            </a:solidFill>
            <a:tailEnd type="triangle" w="med" len="med"/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1" name="Connector 10"/>
          <p:cNvCxnSpPr/>
          <p:nvPr/>
        </p:nvCxnSpPr>
        <p:spPr>
          <a:xfrm>
            <a:off x="7524750" y="1866900"/>
            <a:ext cx="0" cy="95250"/>
          </a:xfrm>
          <a:prstGeom prst="line">
            <a:avLst/>
          </a:prstGeom>
          <a:ln w="19050">
            <a:solidFill>
              <a:srgbClr val="C7C7C7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2" name="Connector 11"/>
          <p:cNvCxnSpPr/>
          <p:nvPr/>
        </p:nvCxnSpPr>
        <p:spPr>
          <a:xfrm flipH="1">
            <a:off x="2276475" y="1962150"/>
            <a:ext cx="5248275" cy="0"/>
          </a:xfrm>
          <a:prstGeom prst="line">
            <a:avLst/>
          </a:prstGeom>
          <a:ln w="19050">
            <a:solidFill>
              <a:srgbClr val="C7C7C7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3" name="Connector 12"/>
          <p:cNvCxnSpPr/>
          <p:nvPr/>
        </p:nvCxnSpPr>
        <p:spPr>
          <a:xfrm>
            <a:off x="2276475" y="1962150"/>
            <a:ext cx="0" cy="342900"/>
          </a:xfrm>
          <a:prstGeom prst="line">
            <a:avLst/>
          </a:prstGeom>
          <a:ln w="19050">
            <a:solidFill>
              <a:srgbClr val="C7C7C7"/>
            </a:solidFill>
            <a:tailEnd type="triangle" w="med" len="med"/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4" name="Connector 13"/>
          <p:cNvCxnSpPr/>
          <p:nvPr/>
        </p:nvCxnSpPr>
        <p:spPr>
          <a:xfrm>
            <a:off x="3676650" y="2667000"/>
            <a:ext cx="323850" cy="0"/>
          </a:xfrm>
          <a:prstGeom prst="line">
            <a:avLst/>
          </a:prstGeom>
          <a:ln w="19050">
            <a:solidFill>
              <a:srgbClr val="C7C7C7"/>
            </a:solidFill>
            <a:tailEnd type="triangle" w="med" len="med"/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5" name="Connector 14"/>
          <p:cNvCxnSpPr/>
          <p:nvPr/>
        </p:nvCxnSpPr>
        <p:spPr>
          <a:xfrm>
            <a:off x="4953000" y="2990850"/>
            <a:ext cx="0" cy="276225"/>
          </a:xfrm>
          <a:prstGeom prst="line">
            <a:avLst/>
          </a:prstGeom>
          <a:ln w="19050">
            <a:solidFill>
              <a:srgbClr val="C7C7C7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6" name="Connector 15"/>
          <p:cNvCxnSpPr/>
          <p:nvPr/>
        </p:nvCxnSpPr>
        <p:spPr>
          <a:xfrm flipH="1">
            <a:off x="2276475" y="3267075"/>
            <a:ext cx="2676525" cy="0"/>
          </a:xfrm>
          <a:prstGeom prst="line">
            <a:avLst/>
          </a:prstGeom>
          <a:ln w="19050">
            <a:solidFill>
              <a:srgbClr val="C7C7C7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7" name="Connector 16"/>
          <p:cNvCxnSpPr/>
          <p:nvPr/>
        </p:nvCxnSpPr>
        <p:spPr>
          <a:xfrm>
            <a:off x="2276475" y="3267075"/>
            <a:ext cx="0" cy="180975"/>
          </a:xfrm>
          <a:prstGeom prst="line">
            <a:avLst/>
          </a:prstGeom>
          <a:ln w="19050">
            <a:solidFill>
              <a:srgbClr val="C7C7C7"/>
            </a:solidFill>
            <a:tailEnd type="triangle" w="med" len="med"/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8" name="Connector 17"/>
          <p:cNvCxnSpPr/>
          <p:nvPr/>
        </p:nvCxnSpPr>
        <p:spPr>
          <a:xfrm>
            <a:off x="5905500" y="2667000"/>
            <a:ext cx="285750" cy="0"/>
          </a:xfrm>
          <a:prstGeom prst="line">
            <a:avLst/>
          </a:prstGeom>
          <a:ln w="19050">
            <a:solidFill>
              <a:srgbClr val="C7C7C7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9" name="Connector 18"/>
          <p:cNvCxnSpPr/>
          <p:nvPr/>
        </p:nvCxnSpPr>
        <p:spPr>
          <a:xfrm>
            <a:off x="6191250" y="2667000"/>
            <a:ext cx="0" cy="419100"/>
          </a:xfrm>
          <a:prstGeom prst="line">
            <a:avLst/>
          </a:prstGeom>
          <a:ln w="19050">
            <a:solidFill>
              <a:srgbClr val="C7C7C7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0" name="Connector 19"/>
          <p:cNvCxnSpPr/>
          <p:nvPr/>
        </p:nvCxnSpPr>
        <p:spPr>
          <a:xfrm>
            <a:off x="6191250" y="3086100"/>
            <a:ext cx="190500" cy="0"/>
          </a:xfrm>
          <a:prstGeom prst="line">
            <a:avLst/>
          </a:prstGeom>
          <a:ln w="19050">
            <a:solidFill>
              <a:srgbClr val="C7C7C7"/>
            </a:solidFill>
            <a:tailEnd type="triangle" w="med" len="med"/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1" name="Connector 20"/>
          <p:cNvCxnSpPr/>
          <p:nvPr/>
        </p:nvCxnSpPr>
        <p:spPr>
          <a:xfrm>
            <a:off x="3676650" y="3810000"/>
            <a:ext cx="323850" cy="0"/>
          </a:xfrm>
          <a:prstGeom prst="line">
            <a:avLst/>
          </a:prstGeom>
          <a:ln w="19050">
            <a:solidFill>
              <a:srgbClr val="C7C7C7"/>
            </a:solidFill>
            <a:tailEnd type="triangle" w="med" len="med"/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2" name="Connector 21"/>
          <p:cNvCxnSpPr/>
          <p:nvPr/>
        </p:nvCxnSpPr>
        <p:spPr>
          <a:xfrm>
            <a:off x="4953000" y="4133850"/>
            <a:ext cx="0" cy="276225"/>
          </a:xfrm>
          <a:prstGeom prst="line">
            <a:avLst/>
          </a:prstGeom>
          <a:ln w="19050">
            <a:solidFill>
              <a:srgbClr val="C7C7C7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3" name="Connector 22"/>
          <p:cNvCxnSpPr/>
          <p:nvPr/>
        </p:nvCxnSpPr>
        <p:spPr>
          <a:xfrm flipH="1">
            <a:off x="2276475" y="4410075"/>
            <a:ext cx="2676525" cy="0"/>
          </a:xfrm>
          <a:prstGeom prst="line">
            <a:avLst/>
          </a:prstGeom>
          <a:ln w="19050">
            <a:solidFill>
              <a:srgbClr val="C7C7C7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4" name="Connector 23"/>
          <p:cNvCxnSpPr/>
          <p:nvPr/>
        </p:nvCxnSpPr>
        <p:spPr>
          <a:xfrm>
            <a:off x="2276475" y="4410075"/>
            <a:ext cx="0" cy="180975"/>
          </a:xfrm>
          <a:prstGeom prst="line">
            <a:avLst/>
          </a:prstGeom>
          <a:ln w="19050">
            <a:solidFill>
              <a:srgbClr val="C7C7C7"/>
            </a:solidFill>
            <a:tailEnd type="triangle" w="med" len="med"/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5" name="Connector 24"/>
          <p:cNvCxnSpPr/>
          <p:nvPr/>
        </p:nvCxnSpPr>
        <p:spPr>
          <a:xfrm>
            <a:off x="5905500" y="3810000"/>
            <a:ext cx="285750" cy="0"/>
          </a:xfrm>
          <a:prstGeom prst="line">
            <a:avLst/>
          </a:prstGeom>
          <a:ln w="19050">
            <a:solidFill>
              <a:srgbClr val="C7C7C7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6" name="Connector 25"/>
          <p:cNvCxnSpPr/>
          <p:nvPr/>
        </p:nvCxnSpPr>
        <p:spPr>
          <a:xfrm flipV="1">
            <a:off x="6191250" y="3371850"/>
            <a:ext cx="0" cy="438150"/>
          </a:xfrm>
          <a:prstGeom prst="line">
            <a:avLst/>
          </a:prstGeom>
          <a:ln w="19050">
            <a:solidFill>
              <a:srgbClr val="C7C7C7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7" name="Connector 26"/>
          <p:cNvCxnSpPr/>
          <p:nvPr/>
        </p:nvCxnSpPr>
        <p:spPr>
          <a:xfrm>
            <a:off x="6191250" y="3371850"/>
            <a:ext cx="190500" cy="0"/>
          </a:xfrm>
          <a:prstGeom prst="line">
            <a:avLst/>
          </a:prstGeom>
          <a:ln w="19050">
            <a:solidFill>
              <a:srgbClr val="C7C7C7"/>
            </a:solidFill>
            <a:tailEnd type="triangle" w="med" len="med"/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8" name="Connector 27"/>
          <p:cNvCxnSpPr/>
          <p:nvPr/>
        </p:nvCxnSpPr>
        <p:spPr>
          <a:xfrm>
            <a:off x="3676650" y="4953000"/>
            <a:ext cx="323850" cy="0"/>
          </a:xfrm>
          <a:prstGeom prst="line">
            <a:avLst/>
          </a:prstGeom>
          <a:ln w="19050">
            <a:solidFill>
              <a:srgbClr val="C7C7C7"/>
            </a:solidFill>
            <a:tailEnd type="triangle" w="med" len="med"/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9" name="Connector 28"/>
          <p:cNvCxnSpPr/>
          <p:nvPr/>
        </p:nvCxnSpPr>
        <p:spPr>
          <a:xfrm>
            <a:off x="5905500" y="4953000"/>
            <a:ext cx="457200" cy="0"/>
          </a:xfrm>
          <a:prstGeom prst="line">
            <a:avLst/>
          </a:prstGeom>
          <a:ln w="19050">
            <a:solidFill>
              <a:srgbClr val="C7C7C7"/>
            </a:solidFill>
            <a:tailEnd type="triangle" w="med" len="med"/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0" name="Connector 29"/>
          <p:cNvCxnSpPr/>
          <p:nvPr/>
        </p:nvCxnSpPr>
        <p:spPr>
          <a:xfrm>
            <a:off x="4953000" y="5276850"/>
            <a:ext cx="0" cy="276225"/>
          </a:xfrm>
          <a:prstGeom prst="line">
            <a:avLst/>
          </a:prstGeom>
          <a:ln w="19050">
            <a:solidFill>
              <a:srgbClr val="C7C7C7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1" name="Connector 30"/>
          <p:cNvCxnSpPr/>
          <p:nvPr/>
        </p:nvCxnSpPr>
        <p:spPr>
          <a:xfrm>
            <a:off x="4953000" y="5553075"/>
            <a:ext cx="2228850" cy="0"/>
          </a:xfrm>
          <a:prstGeom prst="line">
            <a:avLst/>
          </a:prstGeom>
          <a:ln w="19050">
            <a:solidFill>
              <a:srgbClr val="C7C7C7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2" name="Connector 31"/>
          <p:cNvCxnSpPr/>
          <p:nvPr/>
        </p:nvCxnSpPr>
        <p:spPr>
          <a:xfrm flipV="1">
            <a:off x="7181850" y="5200650"/>
            <a:ext cx="0" cy="352425"/>
          </a:xfrm>
          <a:prstGeom prst="line">
            <a:avLst/>
          </a:prstGeom>
          <a:ln w="19050">
            <a:solidFill>
              <a:srgbClr val="C7C7C7"/>
            </a:solidFill>
            <a:tailEnd type="triangle" w="med" len="med"/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33" name="Rounded Rectangle 32"/>
          <p:cNvSpPr/>
          <p:nvPr/>
        </p:nvSpPr>
        <p:spPr>
          <a:xfrm>
            <a:off x="514350" y="1371600"/>
            <a:ext cx="1219200" cy="419100"/>
          </a:xfrm>
          <a:prstGeom prst="roundRect">
            <a:avLst>
              <a:gd name="adj" fmla="val 14000"/>
            </a:avLst>
          </a:prstGeom>
          <a:solidFill>
            <a:srgbClr val="FFEAEA"/>
          </a:solidFill>
          <a:ln w="31750">
            <a:solidFill>
              <a:srgbClr val="CC000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76200" rIns="76200" tIns="38100" bIns="38100"/>
          <a:lstStyle/>
          <a:p>
            <a:pPr algn="ctr"/>
            <a:r>
              <a:rPr sz="1100" b="1" i="0" lang="en-US">
                <a:solidFill>
                  <a:srgbClr val="1A1A1A"/>
                </a:solidFill>
                <a:latin typeface="Noto Sans"/>
              </a:rPr>
              <a:t>Safety</a:t>
            </a:r>
          </a:p>
          <a:p>
            <a:pPr algn="ctr"/>
            <a:r>
              <a:rPr sz="750" b="0" i="0" lang="en-US">
                <a:solidFill>
                  <a:srgbClr val="6B6B6B"/>
                </a:solidFill>
                <a:latin typeface="Noto Sans"/>
              </a:rPr>
              <a:t>gen_01</a:t>
            </a:r>
          </a:p>
        </p:txBody>
      </p:sp>
      <p:sp>
        <p:nvSpPr>
          <p:cNvPr id="34" name="Rounded Rectangle 33"/>
          <p:cNvSpPr/>
          <p:nvPr/>
        </p:nvSpPr>
        <p:spPr>
          <a:xfrm>
            <a:off x="1905000" y="1371600"/>
            <a:ext cx="1257300" cy="419100"/>
          </a:xfrm>
          <a:prstGeom prst="roundRect">
            <a:avLst>
              <a:gd name="adj" fmla="val 14000"/>
            </a:avLst>
          </a:prstGeom>
          <a:solidFill>
            <a:srgbClr val="FFFFFF"/>
          </a:solidFill>
          <a:ln w="19050">
            <a:solidFill>
              <a:srgbClr val="E0E0E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76200" rIns="76200" tIns="38100" bIns="38100"/>
          <a:lstStyle/>
          <a:p>
            <a:pPr algn="ctr"/>
            <a:r>
              <a:rPr sz="1100" b="0" i="0" lang="en-US">
                <a:solidFill>
                  <a:srgbClr val="6B6B6B"/>
                </a:solidFill>
                <a:latin typeface="Noto Sans"/>
              </a:rPr>
              <a:t>Scene</a:t>
            </a:r>
          </a:p>
          <a:p>
            <a:pPr algn="ctr"/>
            <a:r>
              <a:rPr sz="750" b="0" i="0" lang="en-US">
                <a:solidFill>
                  <a:srgbClr val="6B6B6B"/>
                </a:solidFill>
                <a:latin typeface="Noto Sans"/>
              </a:rPr>
              <a:t>gen_02</a:t>
            </a:r>
          </a:p>
        </p:txBody>
      </p:sp>
      <p:sp>
        <p:nvSpPr>
          <p:cNvPr id="35" name="Rounded Rectangle 34"/>
          <p:cNvSpPr/>
          <p:nvPr/>
        </p:nvSpPr>
        <p:spPr>
          <a:xfrm>
            <a:off x="3333750" y="1371600"/>
            <a:ext cx="1257300" cy="419100"/>
          </a:xfrm>
          <a:prstGeom prst="roundRect">
            <a:avLst>
              <a:gd name="adj" fmla="val 14000"/>
            </a:avLst>
          </a:prstGeom>
          <a:solidFill>
            <a:srgbClr val="FFFFFF"/>
          </a:solidFill>
          <a:ln w="19050">
            <a:solidFill>
              <a:srgbClr val="E0E0E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76200" rIns="76200" tIns="38100" bIns="38100"/>
          <a:lstStyle/>
          <a:p>
            <a:pPr algn="ctr"/>
            <a:r>
              <a:rPr sz="1100" b="0" i="0" lang="en-US">
                <a:solidFill>
                  <a:srgbClr val="6B6B6B"/>
                </a:solidFill>
                <a:latin typeface="Noto Sans"/>
              </a:rPr>
              <a:t>Situation</a:t>
            </a:r>
          </a:p>
          <a:p>
            <a:pPr algn="ctr"/>
            <a:r>
              <a:rPr sz="750" b="0" i="0" lang="en-US">
                <a:solidFill>
                  <a:srgbClr val="6B6B6B"/>
                </a:solidFill>
                <a:latin typeface="Noto Sans"/>
              </a:rPr>
              <a:t>gen_03</a:t>
            </a:r>
          </a:p>
        </p:txBody>
      </p:sp>
      <p:sp>
        <p:nvSpPr>
          <p:cNvPr id="36" name="Rounded Rectangle 35"/>
          <p:cNvSpPr/>
          <p:nvPr/>
        </p:nvSpPr>
        <p:spPr>
          <a:xfrm>
            <a:off x="4762500" y="1314450"/>
            <a:ext cx="1866900" cy="533400"/>
          </a:xfrm>
          <a:prstGeom prst="roundRect">
            <a:avLst>
              <a:gd name="adj" fmla="val 14000"/>
            </a:avLst>
          </a:prstGeom>
          <a:solidFill>
            <a:srgbClr val="FFFFFF"/>
          </a:solidFill>
          <a:ln w="19050">
            <a:solidFill>
              <a:srgbClr val="E0E0E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76200" rIns="76200" tIns="38100" bIns="38100"/>
          <a:lstStyle/>
          <a:p>
            <a:pPr algn="ctr"/>
            <a:r>
              <a:rPr sz="1100" b="0" i="0" lang="en-US">
                <a:solidFill>
                  <a:srgbClr val="6B6B6B"/>
                </a:solidFill>
                <a:latin typeface="Noto Sans"/>
              </a:rPr>
              <a:t>◇ Life-threatening bleeding?</a:t>
            </a:r>
          </a:p>
          <a:p>
            <a:pPr algn="ctr"/>
            <a:r>
              <a:rPr sz="750" b="0" i="0" lang="en-US">
                <a:solidFill>
                  <a:srgbClr val="6B6B6B"/>
                </a:solidFill>
                <a:latin typeface="Noto Sans"/>
              </a:rPr>
              <a:t>gen_04</a:t>
            </a:r>
          </a:p>
        </p:txBody>
      </p:sp>
      <p:sp>
        <p:nvSpPr>
          <p:cNvPr id="37" name="Rounded Rectangle 36"/>
          <p:cNvSpPr/>
          <p:nvPr/>
        </p:nvSpPr>
        <p:spPr>
          <a:xfrm>
            <a:off x="6819900" y="1352550"/>
            <a:ext cx="1409700" cy="495300"/>
          </a:xfrm>
          <a:prstGeom prst="roundRect">
            <a:avLst>
              <a:gd name="adj" fmla="val 14000"/>
            </a:avLst>
          </a:prstGeom>
          <a:solidFill>
            <a:srgbClr val="FFFFFF"/>
          </a:solidFill>
          <a:ln w="19050">
            <a:solidFill>
              <a:srgbClr val="E0E0E0"/>
            </a:solidFill>
            <a:prstDash val="dash"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76200" rIns="76200" tIns="38100" bIns="38100"/>
          <a:lstStyle/>
          <a:p>
            <a:pPr algn="ctr"/>
            <a:r>
              <a:rPr sz="1100" b="0" i="0" lang="en-US">
                <a:solidFill>
                  <a:srgbClr val="6B6B6B"/>
                </a:solidFill>
                <a:latin typeface="Noto Sans"/>
              </a:rPr>
              <a:t>⇢ Hemorrhage</a:t>
            </a:r>
          </a:p>
          <a:p>
            <a:pPr algn="ctr"/>
            <a:r>
              <a:rPr sz="750" b="0" i="0" lang="en-US">
                <a:solidFill>
                  <a:srgbClr val="6B6B6B"/>
                </a:solidFill>
                <a:latin typeface="Noto Sans"/>
              </a:rPr>
              <a:t>gen_05 · jump</a:t>
            </a:r>
          </a:p>
        </p:txBody>
      </p:sp>
      <p:sp>
        <p:nvSpPr>
          <p:cNvPr id="38" name="Rounded Rectangle 37"/>
          <p:cNvSpPr/>
          <p:nvPr/>
        </p:nvSpPr>
        <p:spPr>
          <a:xfrm>
            <a:off x="895350" y="2362200"/>
            <a:ext cx="2781300" cy="609600"/>
          </a:xfrm>
          <a:prstGeom prst="roundRect">
            <a:avLst>
              <a:gd name="adj" fmla="val 14000"/>
            </a:avLst>
          </a:prstGeom>
          <a:solidFill>
            <a:srgbClr val="FFFFFF"/>
          </a:solidFill>
          <a:ln w="19050">
            <a:solidFill>
              <a:srgbClr val="E0E0E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76200" rIns="76200" tIns="38100" bIns="38100"/>
          <a:lstStyle/>
          <a:p>
            <a:pPr algn="ctr"/>
            <a:r>
              <a:rPr sz="1100" b="0" i="0" lang="en-US">
                <a:solidFill>
                  <a:srgbClr val="6B6B6B"/>
                </a:solidFill>
                <a:latin typeface="Noto Sans"/>
              </a:rPr>
              <a:t>Direct pressure · compression dressing</a:t>
            </a:r>
          </a:p>
          <a:p>
            <a:pPr algn="ctr"/>
            <a:r>
              <a:rPr sz="750" b="0" i="0" lang="en-US">
                <a:solidFill>
                  <a:srgbClr val="6B6B6B"/>
                </a:solidFill>
                <a:latin typeface="Noto Sans"/>
              </a:rPr>
              <a:t>hem_01</a:t>
            </a:r>
          </a:p>
        </p:txBody>
      </p:sp>
      <p:sp>
        <p:nvSpPr>
          <p:cNvPr id="39" name="Rounded Rectangle 38"/>
          <p:cNvSpPr/>
          <p:nvPr/>
        </p:nvSpPr>
        <p:spPr>
          <a:xfrm>
            <a:off x="4038600" y="2381250"/>
            <a:ext cx="1866900" cy="571500"/>
          </a:xfrm>
          <a:prstGeom prst="roundRect">
            <a:avLst>
              <a:gd name="adj" fmla="val 14000"/>
            </a:avLst>
          </a:prstGeom>
          <a:solidFill>
            <a:srgbClr val="FFFFFF"/>
          </a:solidFill>
          <a:ln w="19050">
            <a:solidFill>
              <a:srgbClr val="E0E0E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76200" rIns="76200" tIns="38100" bIns="38100"/>
          <a:lstStyle/>
          <a:p>
            <a:pPr algn="ctr"/>
            <a:r>
              <a:rPr sz="1100" b="0" i="0" lang="en-US">
                <a:solidFill>
                  <a:srgbClr val="6B6B6B"/>
                </a:solidFill>
                <a:latin typeface="Noto Sans"/>
              </a:rPr>
              <a:t>◇ Active bleeding?</a:t>
            </a:r>
          </a:p>
          <a:p>
            <a:pPr algn="ctr"/>
            <a:r>
              <a:rPr sz="750" b="0" i="0" lang="en-US">
                <a:solidFill>
                  <a:srgbClr val="6B6B6B"/>
                </a:solidFill>
                <a:latin typeface="Noto Sans"/>
              </a:rPr>
              <a:t>hem_02</a:t>
            </a:r>
          </a:p>
        </p:txBody>
      </p:sp>
      <p:sp>
        <p:nvSpPr>
          <p:cNvPr id="40" name="Rounded Rectangle 39"/>
          <p:cNvSpPr/>
          <p:nvPr/>
        </p:nvSpPr>
        <p:spPr>
          <a:xfrm>
            <a:off x="895350" y="3505200"/>
            <a:ext cx="2781300" cy="609600"/>
          </a:xfrm>
          <a:prstGeom prst="roundRect">
            <a:avLst>
              <a:gd name="adj" fmla="val 14000"/>
            </a:avLst>
          </a:prstGeom>
          <a:solidFill>
            <a:srgbClr val="FFFFFF"/>
          </a:solidFill>
          <a:ln w="19050">
            <a:solidFill>
              <a:srgbClr val="E0E0E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76200" rIns="76200" tIns="38100" bIns="38100"/>
          <a:lstStyle/>
          <a:p>
            <a:pPr algn="ctr"/>
            <a:r>
              <a:rPr sz="1100" b="0" i="0" lang="en-US">
                <a:solidFill>
                  <a:srgbClr val="6B6B6B"/>
                </a:solidFill>
                <a:latin typeface="Noto Sans"/>
              </a:rPr>
              <a:t>Second compression bandage</a:t>
            </a:r>
          </a:p>
          <a:p>
            <a:pPr algn="ctr"/>
            <a:r>
              <a:rPr sz="750" b="0" i="0" lang="en-US">
                <a:solidFill>
                  <a:srgbClr val="6B6B6B"/>
                </a:solidFill>
                <a:latin typeface="Noto Sans"/>
              </a:rPr>
              <a:t>hem_03 · TIER 2</a:t>
            </a:r>
          </a:p>
        </p:txBody>
      </p:sp>
      <p:sp>
        <p:nvSpPr>
          <p:cNvPr id="41" name="Rounded Rectangle 40"/>
          <p:cNvSpPr/>
          <p:nvPr/>
        </p:nvSpPr>
        <p:spPr>
          <a:xfrm>
            <a:off x="4038600" y="3524250"/>
            <a:ext cx="1866900" cy="571500"/>
          </a:xfrm>
          <a:prstGeom prst="roundRect">
            <a:avLst>
              <a:gd name="adj" fmla="val 14000"/>
            </a:avLst>
          </a:prstGeom>
          <a:solidFill>
            <a:srgbClr val="FFFFFF"/>
          </a:solidFill>
          <a:ln w="19050">
            <a:solidFill>
              <a:srgbClr val="E0E0E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76200" rIns="76200" tIns="38100" bIns="38100"/>
          <a:lstStyle/>
          <a:p>
            <a:pPr algn="ctr"/>
            <a:r>
              <a:rPr sz="1100" b="0" i="0" lang="en-US">
                <a:solidFill>
                  <a:srgbClr val="6B6B6B"/>
                </a:solidFill>
                <a:latin typeface="Noto Sans"/>
              </a:rPr>
              <a:t>◇ Active bleeding?</a:t>
            </a:r>
          </a:p>
          <a:p>
            <a:pPr algn="ctr"/>
            <a:r>
              <a:rPr sz="750" b="0" i="0" lang="en-US">
                <a:solidFill>
                  <a:srgbClr val="6B6B6B"/>
                </a:solidFill>
                <a:latin typeface="Noto Sans"/>
              </a:rPr>
              <a:t>hem_04</a:t>
            </a:r>
          </a:p>
        </p:txBody>
      </p:sp>
      <p:sp>
        <p:nvSpPr>
          <p:cNvPr id="42" name="Rounded Rectangle 41"/>
          <p:cNvSpPr/>
          <p:nvPr/>
        </p:nvSpPr>
        <p:spPr>
          <a:xfrm>
            <a:off x="895350" y="4648200"/>
            <a:ext cx="2781300" cy="609600"/>
          </a:xfrm>
          <a:prstGeom prst="roundRect">
            <a:avLst>
              <a:gd name="adj" fmla="val 14000"/>
            </a:avLst>
          </a:prstGeom>
          <a:solidFill>
            <a:srgbClr val="FFFFFF"/>
          </a:solidFill>
          <a:ln w="19050">
            <a:solidFill>
              <a:srgbClr val="E0E0E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76200" rIns="76200" tIns="38100" bIns="38100"/>
          <a:lstStyle/>
          <a:p>
            <a:pPr algn="ctr"/>
            <a:r>
              <a:rPr sz="1100" b="0" i="0" lang="en-US">
                <a:solidFill>
                  <a:srgbClr val="6B6B6B"/>
                </a:solidFill>
                <a:latin typeface="Noto Sans"/>
              </a:rPr>
              <a:t>Tourniquet — one palm above wound</a:t>
            </a:r>
          </a:p>
          <a:p>
            <a:pPr algn="ctr"/>
            <a:r>
              <a:rPr sz="750" b="0" i="0" lang="en-US">
                <a:solidFill>
                  <a:srgbClr val="6B6B6B"/>
                </a:solidFill>
                <a:latin typeface="Noto Sans"/>
              </a:rPr>
              <a:t>hem_05 · terminal</a:t>
            </a:r>
          </a:p>
        </p:txBody>
      </p:sp>
      <p:sp>
        <p:nvSpPr>
          <p:cNvPr id="43" name="Rounded Rectangle 42"/>
          <p:cNvSpPr/>
          <p:nvPr/>
        </p:nvSpPr>
        <p:spPr>
          <a:xfrm>
            <a:off x="4038600" y="4667250"/>
            <a:ext cx="1866900" cy="571500"/>
          </a:xfrm>
          <a:prstGeom prst="roundRect">
            <a:avLst>
              <a:gd name="adj" fmla="val 14000"/>
            </a:avLst>
          </a:prstGeom>
          <a:solidFill>
            <a:srgbClr val="FFFFFF"/>
          </a:solidFill>
          <a:ln w="19050">
            <a:solidFill>
              <a:srgbClr val="E0E0E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76200" rIns="76200" tIns="38100" bIns="38100"/>
          <a:lstStyle/>
          <a:p>
            <a:pPr algn="ctr"/>
            <a:r>
              <a:rPr sz="1100" b="0" i="0" lang="en-US">
                <a:solidFill>
                  <a:srgbClr val="6B6B6B"/>
                </a:solidFill>
                <a:latin typeface="Noto Sans"/>
              </a:rPr>
              <a:t>◇ Active bleeding?</a:t>
            </a:r>
          </a:p>
          <a:p>
            <a:pPr algn="ctr"/>
            <a:r>
              <a:rPr sz="750" b="0" i="0" lang="en-US">
                <a:solidFill>
                  <a:srgbClr val="6B6B6B"/>
                </a:solidFill>
                <a:latin typeface="Noto Sans"/>
              </a:rPr>
              <a:t>hem_06</a:t>
            </a:r>
          </a:p>
        </p:txBody>
      </p:sp>
      <p:sp>
        <p:nvSpPr>
          <p:cNvPr id="44" name="Rounded Rectangle 43"/>
          <p:cNvSpPr/>
          <p:nvPr/>
        </p:nvSpPr>
        <p:spPr>
          <a:xfrm>
            <a:off x="6381750" y="2895600"/>
            <a:ext cx="2133600" cy="476250"/>
          </a:xfrm>
          <a:prstGeom prst="roundRect">
            <a:avLst>
              <a:gd name="adj" fmla="val 50000"/>
            </a:avLst>
          </a:prstGeom>
          <a:solidFill>
            <a:srgbClr val="FFFFFF"/>
          </a:solidFill>
          <a:ln w="19050">
            <a:solidFill>
              <a:srgbClr val="E0E0E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76200" rIns="76200" tIns="38100" bIns="38100"/>
          <a:lstStyle/>
          <a:p>
            <a:pPr algn="ctr"/>
            <a:r>
              <a:rPr sz="1100" b="0" i="0" lang="en-US">
                <a:solidFill>
                  <a:srgbClr val="6B6B6B"/>
                </a:solidFill>
                <a:latin typeface="Noto Sans"/>
              </a:rPr>
              <a:t>Transport to health center</a:t>
            </a:r>
          </a:p>
          <a:p>
            <a:pPr algn="ctr"/>
            <a:r>
              <a:rPr sz="750" b="0" i="0" lang="en-US">
                <a:solidFill>
                  <a:srgbClr val="6B6B6B"/>
                </a:solidFill>
                <a:latin typeface="Noto Sans"/>
              </a:rPr>
              <a:t>hem_08</a:t>
            </a:r>
          </a:p>
        </p:txBody>
      </p:sp>
      <p:sp>
        <p:nvSpPr>
          <p:cNvPr id="45" name="Rounded Rectangle 44"/>
          <p:cNvSpPr/>
          <p:nvPr/>
        </p:nvSpPr>
        <p:spPr>
          <a:xfrm>
            <a:off x="6381750" y="4724400"/>
            <a:ext cx="2133600" cy="476250"/>
          </a:xfrm>
          <a:prstGeom prst="roundRect">
            <a:avLst>
              <a:gd name="adj" fmla="val 50000"/>
            </a:avLst>
          </a:prstGeom>
          <a:solidFill>
            <a:srgbClr val="FFFFFF"/>
          </a:solidFill>
          <a:ln w="19050">
            <a:solidFill>
              <a:srgbClr val="E0E0E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76200" rIns="76200" tIns="38100" bIns="38100"/>
          <a:lstStyle/>
          <a:p>
            <a:pPr algn="ctr"/>
            <a:r>
              <a:rPr sz="1100" b="0" i="0" lang="en-US">
                <a:solidFill>
                  <a:srgbClr val="6B6B6B"/>
                </a:solidFill>
                <a:latin typeface="Noto Sans"/>
              </a:rPr>
              <a:t>URGENT transport</a:t>
            </a:r>
          </a:p>
          <a:p>
            <a:pPr algn="ctr"/>
            <a:r>
              <a:rPr sz="750" b="0" i="0" lang="en-US">
                <a:solidFill>
                  <a:srgbClr val="6B6B6B"/>
                </a:solidFill>
                <a:latin typeface="Noto Sans"/>
              </a:rPr>
              <a:t>hem_07</a:t>
            </a:r>
          </a:p>
        </p:txBody>
      </p:sp>
      <p:sp>
        <p:nvSpPr>
          <p:cNvPr id="46" name="Oval 45"/>
          <p:cNvSpPr/>
          <p:nvPr/>
        </p:nvSpPr>
        <p:spPr>
          <a:xfrm>
            <a:off x="514350" y="2533650"/>
            <a:ext cx="266700" cy="266700"/>
          </a:xfrm>
          <a:prstGeom prst="ellipse">
            <a:avLst/>
          </a:prstGeom>
          <a:solidFill>
            <a:srgbClr val="F5F5F5"/>
          </a:solidFill>
          <a:ln w="19050">
            <a:solidFill>
              <a:srgbClr val="E0E0E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76200" rIns="76200" tIns="38100" bIns="38100"/>
          <a:lstStyle/>
          <a:p>
            <a:pPr algn="ctr"/>
            <a:r>
              <a:rPr sz="1100" b="1" i="0" lang="en-US">
                <a:solidFill>
                  <a:srgbClr val="4A4A4A"/>
                </a:solidFill>
                <a:latin typeface="Noto Sans"/>
              </a:rPr>
              <a:t>1</a:t>
            </a:r>
          </a:p>
        </p:txBody>
      </p:sp>
      <p:sp>
        <p:nvSpPr>
          <p:cNvPr id="47" name="Oval 46"/>
          <p:cNvSpPr/>
          <p:nvPr/>
        </p:nvSpPr>
        <p:spPr>
          <a:xfrm>
            <a:off x="514350" y="3676650"/>
            <a:ext cx="266700" cy="266700"/>
          </a:xfrm>
          <a:prstGeom prst="ellipse">
            <a:avLst/>
          </a:prstGeom>
          <a:solidFill>
            <a:srgbClr val="F5F5F5"/>
          </a:solidFill>
          <a:ln w="19050">
            <a:solidFill>
              <a:srgbClr val="E0E0E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76200" rIns="76200" tIns="38100" bIns="38100"/>
          <a:lstStyle/>
          <a:p>
            <a:pPr algn="ctr"/>
            <a:r>
              <a:rPr sz="1100" b="1" i="0" lang="en-US">
                <a:solidFill>
                  <a:srgbClr val="4A4A4A"/>
                </a:solidFill>
                <a:latin typeface="Noto Sans"/>
              </a:rPr>
              <a:t>2</a:t>
            </a:r>
          </a:p>
        </p:txBody>
      </p:sp>
      <p:sp>
        <p:nvSpPr>
          <p:cNvPr id="48" name="Oval 47"/>
          <p:cNvSpPr/>
          <p:nvPr/>
        </p:nvSpPr>
        <p:spPr>
          <a:xfrm>
            <a:off x="514350" y="4819650"/>
            <a:ext cx="266700" cy="266700"/>
          </a:xfrm>
          <a:prstGeom prst="ellipse">
            <a:avLst/>
          </a:prstGeom>
          <a:solidFill>
            <a:srgbClr val="F5F5F5"/>
          </a:solidFill>
          <a:ln w="19050">
            <a:solidFill>
              <a:srgbClr val="E0E0E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76200" rIns="76200" tIns="38100" bIns="38100"/>
          <a:lstStyle/>
          <a:p>
            <a:pPr algn="ctr"/>
            <a:r>
              <a:rPr sz="1100" b="1" i="0" lang="en-US">
                <a:solidFill>
                  <a:srgbClr val="4A4A4A"/>
                </a:solidFill>
                <a:latin typeface="Noto Sans"/>
              </a:rPr>
              <a:t>3</a:t>
            </a:r>
          </a:p>
        </p:txBody>
      </p:sp>
      <p:sp>
        <p:nvSpPr>
          <p:cNvPr id="49" name="Rounded Rectangle 48"/>
          <p:cNvSpPr/>
          <p:nvPr/>
        </p:nvSpPr>
        <p:spPr>
          <a:xfrm>
            <a:off x="3467100" y="1847850"/>
            <a:ext cx="3143250" cy="228600"/>
          </a:xfrm>
          <a:prstGeom prst="roundRect">
            <a:avLst>
              <a:gd name="adj" fmla="val 40000"/>
            </a:avLst>
          </a:prstGeom>
          <a:solidFill>
            <a:srgbClr val="FFFFFF"/>
          </a:solidFill>
          <a:ln w="15875">
            <a:solidFill>
              <a:srgbClr val="C7C7C7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76200" rIns="76200" tIns="38100" bIns="38100"/>
          <a:lstStyle/>
          <a:p>
            <a:pPr algn="ctr"/>
            <a:r>
              <a:rPr sz="900" b="1" i="0" lang="en-US">
                <a:solidFill>
                  <a:srgbClr val="C7C7C7"/>
                </a:solidFill>
                <a:latin typeface="Noto Sans"/>
              </a:rPr>
              <a:t>yes →  &gt;&gt; JUMP to chart 'hemorrhage' &lt;&lt;</a:t>
            </a:r>
          </a:p>
        </p:txBody>
      </p:sp>
      <p:sp>
        <p:nvSpPr>
          <p:cNvPr id="50" name="Rounded Rectangle 49"/>
          <p:cNvSpPr/>
          <p:nvPr/>
        </p:nvSpPr>
        <p:spPr>
          <a:xfrm>
            <a:off x="2895600" y="3143250"/>
            <a:ext cx="1619250" cy="228600"/>
          </a:xfrm>
          <a:prstGeom prst="roundRect">
            <a:avLst>
              <a:gd name="adj" fmla="val 40000"/>
            </a:avLst>
          </a:prstGeom>
          <a:solidFill>
            <a:srgbClr val="FFFFFF"/>
          </a:solidFill>
          <a:ln w="15875">
            <a:solidFill>
              <a:srgbClr val="E5A3A3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76200" rIns="76200" tIns="38100" bIns="38100"/>
          <a:lstStyle/>
          <a:p>
            <a:pPr algn="ctr"/>
            <a:r>
              <a:rPr sz="900" b="1" i="0" lang="en-US">
                <a:solidFill>
                  <a:srgbClr val="E5A3A3"/>
                </a:solidFill>
                <a:latin typeface="Noto Sans"/>
              </a:rPr>
              <a:t>yes — still bleeding</a:t>
            </a:r>
          </a:p>
        </p:txBody>
      </p:sp>
      <p:sp>
        <p:nvSpPr>
          <p:cNvPr id="51" name="Rounded Rectangle 50"/>
          <p:cNvSpPr/>
          <p:nvPr/>
        </p:nvSpPr>
        <p:spPr>
          <a:xfrm>
            <a:off x="2895600" y="4286250"/>
            <a:ext cx="1619250" cy="228600"/>
          </a:xfrm>
          <a:prstGeom prst="roundRect">
            <a:avLst>
              <a:gd name="adj" fmla="val 40000"/>
            </a:avLst>
          </a:prstGeom>
          <a:solidFill>
            <a:srgbClr val="FFFFFF"/>
          </a:solidFill>
          <a:ln w="15875">
            <a:solidFill>
              <a:srgbClr val="E5A3A3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76200" rIns="76200" tIns="38100" bIns="38100"/>
          <a:lstStyle/>
          <a:p>
            <a:pPr algn="ctr"/>
            <a:r>
              <a:rPr sz="900" b="1" i="0" lang="en-US">
                <a:solidFill>
                  <a:srgbClr val="E5A3A3"/>
                </a:solidFill>
                <a:latin typeface="Noto Sans"/>
              </a:rPr>
              <a:t>yes — still bleeding</a:t>
            </a:r>
          </a:p>
        </p:txBody>
      </p:sp>
      <p:sp>
        <p:nvSpPr>
          <p:cNvPr id="52" name="Rounded Rectangle 51"/>
          <p:cNvSpPr/>
          <p:nvPr/>
        </p:nvSpPr>
        <p:spPr>
          <a:xfrm>
            <a:off x="6191250" y="2247900"/>
            <a:ext cx="1428750" cy="228600"/>
          </a:xfrm>
          <a:prstGeom prst="roundRect">
            <a:avLst>
              <a:gd name="adj" fmla="val 40000"/>
            </a:avLst>
          </a:prstGeom>
          <a:solidFill>
            <a:srgbClr val="FFFFFF"/>
          </a:solidFill>
          <a:ln w="15875">
            <a:solidFill>
              <a:srgbClr val="A9C9B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76200" rIns="76200" tIns="38100" bIns="38100"/>
          <a:lstStyle/>
          <a:p>
            <a:pPr algn="ctr"/>
            <a:r>
              <a:rPr sz="900" b="1" i="0" lang="en-US">
                <a:solidFill>
                  <a:srgbClr val="A9C9BA"/>
                </a:solidFill>
                <a:latin typeface="Noto Sans"/>
              </a:rPr>
              <a:t>✓ no — controlled</a:t>
            </a:r>
          </a:p>
        </p:txBody>
      </p:sp>
      <p:sp>
        <p:nvSpPr>
          <p:cNvPr id="53" name="Rounded Rectangle 52"/>
          <p:cNvSpPr/>
          <p:nvPr/>
        </p:nvSpPr>
        <p:spPr>
          <a:xfrm>
            <a:off x="6191250" y="3962400"/>
            <a:ext cx="1428750" cy="228600"/>
          </a:xfrm>
          <a:prstGeom prst="roundRect">
            <a:avLst>
              <a:gd name="adj" fmla="val 40000"/>
            </a:avLst>
          </a:prstGeom>
          <a:solidFill>
            <a:srgbClr val="FFFFFF"/>
          </a:solidFill>
          <a:ln w="15875">
            <a:solidFill>
              <a:srgbClr val="A9C9B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76200" rIns="76200" tIns="38100" bIns="38100"/>
          <a:lstStyle/>
          <a:p>
            <a:pPr algn="ctr"/>
            <a:r>
              <a:rPr sz="900" b="1" i="0" lang="en-US">
                <a:solidFill>
                  <a:srgbClr val="A9C9BA"/>
                </a:solidFill>
                <a:latin typeface="Noto Sans"/>
              </a:rPr>
              <a:t>✓ no — controlled</a:t>
            </a:r>
          </a:p>
        </p:txBody>
      </p:sp>
      <p:sp>
        <p:nvSpPr>
          <p:cNvPr id="54" name="Rounded Rectangle 53"/>
          <p:cNvSpPr/>
          <p:nvPr/>
        </p:nvSpPr>
        <p:spPr>
          <a:xfrm>
            <a:off x="5962650" y="5181600"/>
            <a:ext cx="628650" cy="209550"/>
          </a:xfrm>
          <a:prstGeom prst="roundRect">
            <a:avLst>
              <a:gd name="adj" fmla="val 40000"/>
            </a:avLst>
          </a:prstGeom>
          <a:solidFill>
            <a:srgbClr val="FFFFFF"/>
          </a:solidFill>
          <a:ln w="15875">
            <a:solidFill>
              <a:srgbClr val="A9C9B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76200" rIns="76200" tIns="38100" bIns="38100"/>
          <a:lstStyle/>
          <a:p>
            <a:pPr algn="ctr"/>
            <a:r>
              <a:rPr sz="900" b="1" i="0" lang="en-US">
                <a:solidFill>
                  <a:srgbClr val="A9C9BA"/>
                </a:solidFill>
                <a:latin typeface="Noto Sans"/>
              </a:rPr>
              <a:t>✓ no</a:t>
            </a:r>
          </a:p>
        </p:txBody>
      </p:sp>
      <p:sp>
        <p:nvSpPr>
          <p:cNvPr id="55" name="Rounded Rectangle 54"/>
          <p:cNvSpPr/>
          <p:nvPr/>
        </p:nvSpPr>
        <p:spPr>
          <a:xfrm>
            <a:off x="2381250" y="5429250"/>
            <a:ext cx="4095750" cy="228600"/>
          </a:xfrm>
          <a:prstGeom prst="roundRect">
            <a:avLst>
              <a:gd name="adj" fmla="val 40000"/>
            </a:avLst>
          </a:prstGeom>
          <a:solidFill>
            <a:srgbClr val="FFFFFF"/>
          </a:solidFill>
          <a:ln w="15875">
            <a:solidFill>
              <a:srgbClr val="E3C29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76200" rIns="76200" tIns="38100" bIns="38100"/>
          <a:lstStyle/>
          <a:p>
            <a:pPr algn="ctr"/>
            <a:r>
              <a:rPr sz="900" b="1" i="0" lang="en-US">
                <a:solidFill>
                  <a:srgbClr val="E3C29E"/>
                </a:solidFill>
                <a:latin typeface="Noto Sans"/>
              </a:rPr>
              <a:t>⚠ yes at terminal tier → HOLD, no tier 4 (flagged divergence)</a:t>
            </a:r>
          </a:p>
        </p:txBody>
      </p:sp>
      <p:sp>
        <p:nvSpPr>
          <p:cNvPr id="56" name="Rounded Rectangle 55"/>
          <p:cNvSpPr/>
          <p:nvPr/>
        </p:nvSpPr>
        <p:spPr>
          <a:xfrm>
            <a:off x="8877300" y="1123950"/>
            <a:ext cx="2895600" cy="5257800"/>
          </a:xfrm>
          <a:prstGeom prst="roundRect">
            <a:avLst>
              <a:gd name="adj" fmla="val 5000"/>
            </a:avLst>
          </a:prstGeom>
          <a:solidFill>
            <a:srgbClr val="FFFFFF"/>
          </a:solidFill>
          <a:ln w="19050">
            <a:solidFill>
              <a:srgbClr val="E0E0E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76200" rIns="76200" tIns="38100" bIns="38100"/>
          <a:lstStyle/>
          <a:p>
            <a:pPr algn="ctr"/>
          </a:p>
        </p:txBody>
      </p:sp>
      <p:sp>
        <p:nvSpPr>
          <p:cNvPr id="57" name="TextBox 56"/>
          <p:cNvSpPr txBox="1"/>
          <p:nvPr/>
        </p:nvSpPr>
        <p:spPr>
          <a:xfrm>
            <a:off x="9048750" y="1257300"/>
            <a:ext cx="2476500" cy="1905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r>
              <a:rPr sz="1000" b="1" i="0" lang="en-US">
                <a:solidFill>
                  <a:srgbClr val="1A1A1A"/>
                </a:solidFill>
                <a:latin typeface="Noto Sans"/>
              </a:rPr>
              <a:t>ENGINE STATE</a:t>
            </a:r>
          </a:p>
        </p:txBody>
      </p:sp>
      <p:cxnSp>
        <p:nvCxnSpPr>
          <p:cNvPr id="58" name="Connector 57"/>
          <p:cNvCxnSpPr/>
          <p:nvPr/>
        </p:nvCxnSpPr>
        <p:spPr>
          <a:xfrm>
            <a:off x="9048750" y="1485900"/>
            <a:ext cx="2552700" cy="0"/>
          </a:xfrm>
          <a:prstGeom prst="line">
            <a:avLst/>
          </a:prstGeom>
          <a:ln w="12700">
            <a:solidFill>
              <a:srgbClr val="E0E0E0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59" name="TextBox 58"/>
          <p:cNvSpPr txBox="1"/>
          <p:nvPr/>
        </p:nvSpPr>
        <p:spPr>
          <a:xfrm>
            <a:off x="9048750" y="1581150"/>
            <a:ext cx="2476500" cy="1524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r>
              <a:rPr sz="800" b="1" i="0" lang="en-US">
                <a:solidFill>
                  <a:srgbClr val="6B6B6B"/>
                </a:solidFill>
                <a:latin typeface="Noto Sans"/>
              </a:rPr>
              <a:t>WORKING MEMORY</a:t>
            </a:r>
          </a:p>
        </p:txBody>
      </p:sp>
      <p:sp>
        <p:nvSpPr>
          <p:cNvPr id="60" name="Rounded Rectangle 59"/>
          <p:cNvSpPr/>
          <p:nvPr/>
        </p:nvSpPr>
        <p:spPr>
          <a:xfrm>
            <a:off x="9048750" y="1771650"/>
            <a:ext cx="1504950" cy="247650"/>
          </a:xfrm>
          <a:prstGeom prst="roundRect">
            <a:avLst>
              <a:gd name="adj" fmla="val 50000"/>
            </a:avLst>
          </a:prstGeom>
          <a:solidFill>
            <a:srgbClr val="FFEAEA"/>
          </a:solidFill>
          <a:ln w="15875">
            <a:solidFill>
              <a:srgbClr val="CC000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76200" rIns="76200" tIns="38100" bIns="38100"/>
          <a:lstStyle/>
          <a:p>
            <a:pPr algn="ctr"/>
            <a:r>
              <a:rPr sz="1000" b="1" i="0" lang="en-US">
                <a:solidFill>
                  <a:srgbClr val="990000"/>
                </a:solidFill>
                <a:latin typeface="Consolas"/>
              </a:rPr>
              <a:t>Position(nid=gen_01)</a:t>
            </a:r>
          </a:p>
        </p:txBody>
      </p:sp>
      <p:sp>
        <p:nvSpPr>
          <p:cNvPr id="61" name="Rounded Rectangle 60"/>
          <p:cNvSpPr/>
          <p:nvPr/>
        </p:nvSpPr>
        <p:spPr>
          <a:xfrm>
            <a:off x="9048750" y="2076450"/>
            <a:ext cx="1687830" cy="247650"/>
          </a:xfrm>
          <a:prstGeom prst="roundRect">
            <a:avLst>
              <a:gd name="adj" fmla="val 50000"/>
            </a:avLst>
          </a:prstGeom>
          <a:solidFill>
            <a:srgbClr val="FFEAEA"/>
          </a:solidFill>
          <a:ln w="15875">
            <a:solidFill>
              <a:srgbClr val="CC000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76200" rIns="76200" tIns="38100" bIns="38100"/>
          <a:lstStyle/>
          <a:p>
            <a:pPr algn="ctr"/>
            <a:r>
              <a:rPr sz="1000" b="1" i="0" lang="en-US">
                <a:solidFill>
                  <a:srgbClr val="990000"/>
                </a:solidFill>
                <a:latin typeface="Consolas"/>
              </a:rPr>
              <a:t>Active(chart=general_…)</a:t>
            </a:r>
          </a:p>
        </p:txBody>
      </p:sp>
      <p:sp>
        <p:nvSpPr>
          <p:cNvPr id="62" name="TextBox 61"/>
          <p:cNvSpPr txBox="1"/>
          <p:nvPr/>
        </p:nvSpPr>
        <p:spPr>
          <a:xfrm>
            <a:off x="9048750" y="2438400"/>
            <a:ext cx="2476500" cy="1524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r>
              <a:rPr sz="800" b="1" i="0" lang="en-US">
                <a:solidFill>
                  <a:srgbClr val="6B6B6B"/>
                </a:solidFill>
                <a:latin typeface="Noto Sans"/>
              </a:rPr>
              <a:t>RULE FIRED</a:t>
            </a:r>
          </a:p>
        </p:txBody>
      </p:sp>
      <p:sp>
        <p:nvSpPr>
          <p:cNvPr id="63" name="TextBox 62"/>
          <p:cNvSpPr txBox="1"/>
          <p:nvPr/>
        </p:nvSpPr>
        <p:spPr>
          <a:xfrm>
            <a:off x="9048750" y="2609850"/>
            <a:ext cx="2552700" cy="2286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r>
              <a:rPr sz="1300" b="1" i="0" lang="en-US">
                <a:solidFill>
                  <a:srgbClr val="1A1A1A"/>
                </a:solidFill>
                <a:latin typeface="Consolas"/>
              </a:rPr>
              <a:t>walk</a:t>
            </a:r>
            <a:r>
              <a:rPr sz="950" b="0" i="0" lang="en-US">
                <a:solidFill>
                  <a:srgbClr val="4A4A4A"/>
                </a:solidFill>
                <a:latin typeface="Noto Sans"/>
              </a:rPr>
              <a:t>   salience 0</a:t>
            </a:r>
          </a:p>
        </p:txBody>
      </p:sp>
      <p:sp>
        <p:nvSpPr>
          <p:cNvPr id="64" name="TextBox 63"/>
          <p:cNvSpPr txBox="1"/>
          <p:nvPr/>
        </p:nvSpPr>
        <p:spPr>
          <a:xfrm>
            <a:off x="9048750" y="2914650"/>
            <a:ext cx="2476500" cy="1524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r>
              <a:rPr sz="800" b="1" i="0" lang="en-US">
                <a:solidFill>
                  <a:srgbClr val="6B6B6B"/>
                </a:solidFill>
                <a:latin typeface="Noto Sans"/>
              </a:rPr>
              <a:t>Δ THIS STEP</a:t>
            </a:r>
          </a:p>
        </p:txBody>
      </p:sp>
      <p:sp>
        <p:nvSpPr>
          <p:cNvPr id="65" name="TextBox 64"/>
          <p:cNvSpPr txBox="1"/>
          <p:nvPr/>
        </p:nvSpPr>
        <p:spPr>
          <a:xfrm>
            <a:off x="9048750" y="3086100"/>
            <a:ext cx="2552700" cy="1905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r>
              <a:rPr sz="1100" b="1" i="0" lang="en-US">
                <a:solidFill>
                  <a:srgbClr val="CC0000"/>
                </a:solidFill>
                <a:latin typeface="Consolas"/>
              </a:rPr>
              <a:t>+ </a:t>
            </a:r>
            <a:r>
              <a:rPr sz="1100" b="1" i="0" lang="en-US">
                <a:solidFill>
                  <a:srgbClr val="990000"/>
                </a:solidFill>
                <a:latin typeface="Consolas"/>
              </a:rPr>
              <a:t>Position(nid=gen_01)</a:t>
            </a:r>
            <a:r>
              <a:rPr sz="850" b="0" i="0" lang="en-US">
                <a:solidFill>
                  <a:srgbClr val="6B6B6B"/>
                </a:solidFill>
                <a:latin typeface="Noto Sans"/>
              </a:rPr>
              <a:t>  declare</a:t>
            </a:r>
          </a:p>
        </p:txBody>
      </p:sp>
      <p:sp>
        <p:nvSpPr>
          <p:cNvPr id="66" name="TextBox 65"/>
          <p:cNvSpPr txBox="1"/>
          <p:nvPr/>
        </p:nvSpPr>
        <p:spPr>
          <a:xfrm>
            <a:off x="9048750" y="3314700"/>
            <a:ext cx="2552700" cy="1905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r>
              <a:rPr sz="1100" b="1" i="0" lang="en-US">
                <a:solidFill>
                  <a:srgbClr val="CC0000"/>
                </a:solidFill>
                <a:latin typeface="Consolas"/>
              </a:rPr>
              <a:t>+ </a:t>
            </a:r>
            <a:r>
              <a:rPr sz="1100" b="1" i="0" lang="en-US">
                <a:solidFill>
                  <a:srgbClr val="990000"/>
                </a:solidFill>
                <a:latin typeface="Consolas"/>
              </a:rPr>
              <a:t>Active(chart=…)</a:t>
            </a:r>
            <a:r>
              <a:rPr sz="850" b="0" i="0" lang="en-US">
                <a:solidFill>
                  <a:srgbClr val="6B6B6B"/>
                </a:solidFill>
                <a:latin typeface="Noto Sans"/>
              </a:rPr>
              <a:t>  declare</a:t>
            </a:r>
          </a:p>
        </p:txBody>
      </p:sp>
      <p:sp>
        <p:nvSpPr>
          <p:cNvPr id="67" name="TextBox 66"/>
          <p:cNvSpPr txBox="1"/>
          <p:nvPr/>
        </p:nvSpPr>
        <p:spPr>
          <a:xfrm>
            <a:off x="9048750" y="5086350"/>
            <a:ext cx="2476500" cy="1524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r>
              <a:rPr sz="800" b="1" i="0" lang="en-US">
                <a:solidFill>
                  <a:srgbClr val="6B6B6B"/>
                </a:solidFill>
                <a:latin typeface="Noto Sans"/>
              </a:rPr>
              <a:t>ENGINE OUTPUT (VERBATIM)</a:t>
            </a:r>
          </a:p>
        </p:txBody>
      </p:sp>
      <p:sp>
        <p:nvSpPr>
          <p:cNvPr id="68" name="Rounded Rectangle 67"/>
          <p:cNvSpPr/>
          <p:nvPr/>
        </p:nvSpPr>
        <p:spPr>
          <a:xfrm>
            <a:off x="9048750" y="5257800"/>
            <a:ext cx="2552700" cy="800100"/>
          </a:xfrm>
          <a:prstGeom prst="roundRect">
            <a:avLst>
              <a:gd name="adj" fmla="val 6000"/>
            </a:avLst>
          </a:prstGeom>
          <a:solidFill>
            <a:srgbClr val="F5F5F5"/>
          </a:solidFill>
          <a:ln w="15875">
            <a:solidFill>
              <a:srgbClr val="E0E0E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 wrap="square" lIns="114300" rIns="114300" tIns="76200" bIns="76200"/>
          <a:lstStyle/>
          <a:p>
            <a:pPr algn="ctr">
              <a:lnSpc>
                <a:spcPct val="115000"/>
              </a:lnSpc>
            </a:pPr>
            <a:r>
              <a:rPr sz="850" b="0" i="0" lang="en-US">
                <a:solidFill>
                  <a:srgbClr val="4A4A4A"/>
                </a:solidFill>
                <a:latin typeface="Consolas"/>
              </a:rPr>
              <a:t>[gen_01] Safety: ensure safety &amp;</a:t>
            </a:r>
          </a:p>
          <a:p>
            <a:pPr>
              <a:lnSpc>
                <a:spcPct val="115000"/>
              </a:lnSpc>
            </a:pPr>
            <a:r>
              <a:rPr sz="850" b="0" i="0" lang="en-US">
                <a:solidFill>
                  <a:srgbClr val="4A4A4A"/>
                </a:solidFill>
                <a:latin typeface="Consolas"/>
              </a:rPr>
              <a:t>security for staff, patient(s)</a:t>
            </a:r>
          </a:p>
          <a:p>
            <a:pPr>
              <a:lnSpc>
                <a:spcPct val="115000"/>
              </a:lnSpc>
            </a:pPr>
            <a:r>
              <a:rPr sz="850" b="0" i="0" lang="en-US">
                <a:solidFill>
                  <a:srgbClr val="4A4A4A"/>
                </a:solidFill>
                <a:latin typeface="Consolas"/>
              </a:rPr>
              <a:t>and bystanders…  (p.1)</a:t>
            </a:r>
          </a:p>
        </p:txBody>
      </p:sp>
      <p:sp>
        <p:nvSpPr>
          <p:cNvPr id="69" name="TextBox 68"/>
          <p:cNvSpPr txBox="1"/>
          <p:nvPr/>
        </p:nvSpPr>
        <p:spPr>
          <a:xfrm>
            <a:off x="9048750" y="6096000"/>
            <a:ext cx="2552700" cy="2286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r>
              <a:rPr sz="750" b="0" i="0" lang="en-US">
                <a:solidFill>
                  <a:srgbClr val="6B6B6B"/>
                </a:solidFill>
                <a:latin typeface="Noto Sans"/>
              </a:rPr>
              <a:t>real session · presentation/traces/walkthrough_yes_branch_en.txt</a:t>
            </a:r>
          </a:p>
        </p:txBody>
      </p:sp>
      <p:sp>
        <p:nvSpPr>
          <p:cNvPr id="70" name="Rounded Rectangle 69"/>
          <p:cNvSpPr/>
          <p:nvPr/>
        </p:nvSpPr>
        <p:spPr>
          <a:xfrm>
            <a:off x="419100" y="6496050"/>
            <a:ext cx="4953000" cy="247650"/>
          </a:xfrm>
          <a:prstGeom prst="roundRect">
            <a:avLst>
              <a:gd name="adj" fmla="val 50000"/>
            </a:avLst>
          </a:prstGeom>
          <a:solidFill>
            <a:srgbClr val="F5F5F5"/>
          </a:solidFill>
          <a:ln w="15875">
            <a:solidFill>
              <a:srgbClr val="E0E0E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76200" rIns="76200" tIns="38100" bIns="38100"/>
          <a:lstStyle/>
          <a:p>
            <a:pPr algn="ctr"/>
            <a:r>
              <a:rPr sz="900" b="0" i="0" lang="en-US">
                <a:solidFill>
                  <a:srgbClr val="4A4A4A"/>
                </a:solidFill>
                <a:latin typeface="Noto Sans"/>
              </a:rPr>
              <a:t>SARC charts #1 + #10 · data/general_assessment.json · data/hemorrhage.json</a:t>
            </a:r>
          </a:p>
        </p:txBody>
      </p:sp>
      <p:sp>
        <p:nvSpPr>
          <p:cNvPr id="71" name="Oval 70"/>
          <p:cNvSpPr/>
          <p:nvPr/>
        </p:nvSpPr>
        <p:spPr>
          <a:xfrm>
            <a:off x="10001250" y="6572250"/>
            <a:ext cx="95250" cy="95250"/>
          </a:xfrm>
          <a:prstGeom prst="ellipse">
            <a:avLst/>
          </a:prstGeom>
          <a:solidFill>
            <a:srgbClr val="CC000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76200" rIns="76200" tIns="38100" bIns="38100"/>
          <a:lstStyle/>
          <a:p>
            <a:pPr algn="ctr"/>
          </a:p>
        </p:txBody>
      </p:sp>
      <p:sp>
        <p:nvSpPr>
          <p:cNvPr id="72" name="Oval 71"/>
          <p:cNvSpPr/>
          <p:nvPr/>
        </p:nvSpPr>
        <p:spPr>
          <a:xfrm>
            <a:off x="10163175" y="6572250"/>
            <a:ext cx="76200" cy="76200"/>
          </a:xfrm>
          <a:prstGeom prst="ellipse">
            <a:avLst/>
          </a:prstGeom>
          <a:solidFill>
            <a:srgbClr val="E0E0E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76200" rIns="76200" tIns="38100" bIns="38100"/>
          <a:lstStyle/>
          <a:p>
            <a:pPr algn="ctr"/>
          </a:p>
        </p:txBody>
      </p:sp>
      <p:sp>
        <p:nvSpPr>
          <p:cNvPr id="73" name="Oval 72"/>
          <p:cNvSpPr/>
          <p:nvPr/>
        </p:nvSpPr>
        <p:spPr>
          <a:xfrm>
            <a:off x="10325100" y="6572250"/>
            <a:ext cx="76200" cy="76200"/>
          </a:xfrm>
          <a:prstGeom prst="ellipse">
            <a:avLst/>
          </a:prstGeom>
          <a:solidFill>
            <a:srgbClr val="E0E0E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76200" rIns="76200" tIns="38100" bIns="38100"/>
          <a:lstStyle/>
          <a:p>
            <a:pPr algn="ctr"/>
          </a:p>
        </p:txBody>
      </p:sp>
      <p:sp>
        <p:nvSpPr>
          <p:cNvPr id="74" name="Oval 73"/>
          <p:cNvSpPr/>
          <p:nvPr/>
        </p:nvSpPr>
        <p:spPr>
          <a:xfrm>
            <a:off x="10487025" y="6572250"/>
            <a:ext cx="76200" cy="76200"/>
          </a:xfrm>
          <a:prstGeom prst="ellipse">
            <a:avLst/>
          </a:prstGeom>
          <a:solidFill>
            <a:srgbClr val="E0E0E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76200" rIns="76200" tIns="38100" bIns="38100"/>
          <a:lstStyle/>
          <a:p>
            <a:pPr algn="ctr"/>
          </a:p>
        </p:txBody>
      </p:sp>
      <p:sp>
        <p:nvSpPr>
          <p:cNvPr id="75" name="Oval 74"/>
          <p:cNvSpPr/>
          <p:nvPr/>
        </p:nvSpPr>
        <p:spPr>
          <a:xfrm>
            <a:off x="10648950" y="6572250"/>
            <a:ext cx="76200" cy="76200"/>
          </a:xfrm>
          <a:prstGeom prst="ellipse">
            <a:avLst/>
          </a:prstGeom>
          <a:solidFill>
            <a:srgbClr val="E0E0E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76200" rIns="76200" tIns="38100" bIns="38100"/>
          <a:lstStyle/>
          <a:p>
            <a:pPr algn="ctr"/>
          </a:p>
        </p:txBody>
      </p:sp>
      <p:sp>
        <p:nvSpPr>
          <p:cNvPr id="76" name="Oval 75"/>
          <p:cNvSpPr/>
          <p:nvPr/>
        </p:nvSpPr>
        <p:spPr>
          <a:xfrm>
            <a:off x="10810875" y="6572250"/>
            <a:ext cx="76200" cy="76200"/>
          </a:xfrm>
          <a:prstGeom prst="ellipse">
            <a:avLst/>
          </a:prstGeom>
          <a:solidFill>
            <a:srgbClr val="E0E0E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76200" rIns="76200" tIns="38100" bIns="38100"/>
          <a:lstStyle/>
          <a:p>
            <a:pPr algn="ctr"/>
          </a:p>
        </p:txBody>
      </p:sp>
      <p:sp>
        <p:nvSpPr>
          <p:cNvPr id="77" name="Oval 76"/>
          <p:cNvSpPr/>
          <p:nvPr/>
        </p:nvSpPr>
        <p:spPr>
          <a:xfrm>
            <a:off x="10972800" y="6572250"/>
            <a:ext cx="76200" cy="76200"/>
          </a:xfrm>
          <a:prstGeom prst="ellipse">
            <a:avLst/>
          </a:prstGeom>
          <a:solidFill>
            <a:srgbClr val="E0E0E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76200" rIns="76200" tIns="38100" bIns="38100"/>
          <a:lstStyle/>
          <a:p>
            <a:pPr algn="ctr"/>
          </a:p>
        </p:txBody>
      </p:sp>
      <p:sp>
        <p:nvSpPr>
          <p:cNvPr id="78" name="Oval 77"/>
          <p:cNvSpPr/>
          <p:nvPr/>
        </p:nvSpPr>
        <p:spPr>
          <a:xfrm>
            <a:off x="11134725" y="6572250"/>
            <a:ext cx="76200" cy="76200"/>
          </a:xfrm>
          <a:prstGeom prst="ellipse">
            <a:avLst/>
          </a:prstGeom>
          <a:solidFill>
            <a:srgbClr val="E0E0E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76200" rIns="76200" tIns="38100" bIns="38100"/>
          <a:lstStyle/>
          <a:p>
            <a:pPr algn="ctr"/>
          </a:p>
        </p:txBody>
      </p:sp>
      <p:sp>
        <p:nvSpPr>
          <p:cNvPr id="79" name="Oval 78"/>
          <p:cNvSpPr/>
          <p:nvPr/>
        </p:nvSpPr>
        <p:spPr>
          <a:xfrm>
            <a:off x="11296650" y="6572250"/>
            <a:ext cx="76200" cy="76200"/>
          </a:xfrm>
          <a:prstGeom prst="ellipse">
            <a:avLst/>
          </a:prstGeom>
          <a:solidFill>
            <a:srgbClr val="E0E0E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76200" rIns="76200" tIns="38100" bIns="38100"/>
          <a:lstStyle/>
          <a:p>
            <a:pPr algn="ctr"/>
          </a:p>
        </p:txBody>
      </p:sp>
      <p:sp>
        <p:nvSpPr>
          <p:cNvPr id="80" name="Oval 79"/>
          <p:cNvSpPr/>
          <p:nvPr/>
        </p:nvSpPr>
        <p:spPr>
          <a:xfrm>
            <a:off x="11458575" y="6572250"/>
            <a:ext cx="76200" cy="76200"/>
          </a:xfrm>
          <a:prstGeom prst="ellipse">
            <a:avLst/>
          </a:prstGeom>
          <a:solidFill>
            <a:srgbClr val="E0E0E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76200" rIns="76200" tIns="38100" bIns="38100"/>
          <a:lstStyle/>
          <a:p>
            <a:pPr algn="ctr"/>
          </a:p>
        </p:txBody>
      </p:sp>
      <p:sp>
        <p:nvSpPr>
          <p:cNvPr id="81" name="TextBox 80"/>
          <p:cNvSpPr txBox="1"/>
          <p:nvPr/>
        </p:nvSpPr>
        <p:spPr>
          <a:xfrm>
            <a:off x="11239500" y="6610350"/>
            <a:ext cx="762000" cy="1905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r>
              <a:rPr sz="900" b="0" i="0" lang="en-US">
                <a:solidFill>
                  <a:srgbClr val="6B6B6B"/>
                </a:solidFill>
                <a:latin typeface="Noto Sans"/>
              </a:rPr>
              <a:t>13 / 28</a:t>
            </a: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19100" y="285750"/>
            <a:ext cx="8572500" cy="1905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r>
              <a:rPr sz="1050" b="1" i="0" lang="en-US">
                <a:solidFill>
                  <a:srgbClr val="CC0000"/>
                </a:solidFill>
                <a:latin typeface="Noto Sans"/>
              </a:rPr>
              <a:t>FLOW WALKTHROUGH · STEP 2 OF 10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19100" y="495300"/>
            <a:ext cx="9525000" cy="43815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r>
              <a:rPr sz="2100" b="1" i="0" lang="en-US">
                <a:solidFill>
                  <a:srgbClr val="1A1A1A"/>
                </a:solidFill>
                <a:latin typeface="Noto Sans"/>
              </a:rPr>
              <a:t>Answer = retract, declare. RETE re-matches.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10763250" y="323850"/>
            <a:ext cx="1009650" cy="285750"/>
          </a:xfrm>
          <a:prstGeom prst="roundRect">
            <a:avLst>
              <a:gd name="adj" fmla="val 28000"/>
            </a:avLst>
          </a:prstGeom>
          <a:solidFill>
            <a:srgbClr val="CC000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76200" rIns="76200" tIns="38100" bIns="38100"/>
          <a:lstStyle/>
          <a:p>
            <a:pPr algn="ctr"/>
            <a:r>
              <a:rPr sz="1250" b="1" i="0" lang="en-US">
                <a:solidFill>
                  <a:srgbClr val="FFFFFF"/>
                </a:solidFill>
                <a:latin typeface="Noto Sans"/>
              </a:rPr>
              <a:t>ResQRules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14350" y="1123950"/>
            <a:ext cx="3810000" cy="1524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r>
              <a:rPr sz="850" b="1" i="0" lang="en-US">
                <a:solidFill>
                  <a:srgbClr val="6B6B6B"/>
                </a:solidFill>
                <a:latin typeface="Noto Sans"/>
              </a:rPr>
              <a:t>GENERAL ASSESSMENT — CHART #1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14350" y="2114550"/>
            <a:ext cx="4191000" cy="1524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r>
              <a:rPr sz="850" b="1" i="0" lang="en-US">
                <a:solidFill>
                  <a:srgbClr val="6B6B6B"/>
                </a:solidFill>
                <a:latin typeface="Noto Sans"/>
              </a:rPr>
              <a:t>CATASTROPHIC HEMORRHAGE — CHART #10</a:t>
            </a:r>
          </a:p>
        </p:txBody>
      </p:sp>
      <p:cxnSp>
        <p:nvCxnSpPr>
          <p:cNvPr id="7" name="Connector 6"/>
          <p:cNvCxnSpPr/>
          <p:nvPr/>
        </p:nvCxnSpPr>
        <p:spPr>
          <a:xfrm>
            <a:off x="1733550" y="1571625"/>
            <a:ext cx="171450" cy="0"/>
          </a:xfrm>
          <a:prstGeom prst="line">
            <a:avLst/>
          </a:prstGeom>
          <a:ln w="31750">
            <a:solidFill>
              <a:srgbClr val="CC0000"/>
            </a:solidFill>
            <a:tailEnd type="triangle" w="med" len="med"/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8" name="Connector 7"/>
          <p:cNvCxnSpPr/>
          <p:nvPr/>
        </p:nvCxnSpPr>
        <p:spPr>
          <a:xfrm>
            <a:off x="3162300" y="1571625"/>
            <a:ext cx="171450" cy="0"/>
          </a:xfrm>
          <a:prstGeom prst="line">
            <a:avLst/>
          </a:prstGeom>
          <a:ln w="19050">
            <a:solidFill>
              <a:srgbClr val="C7C7C7"/>
            </a:solidFill>
            <a:tailEnd type="triangle" w="med" len="med"/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9" name="Connector 8"/>
          <p:cNvCxnSpPr/>
          <p:nvPr/>
        </p:nvCxnSpPr>
        <p:spPr>
          <a:xfrm>
            <a:off x="4591050" y="1571625"/>
            <a:ext cx="133350" cy="0"/>
          </a:xfrm>
          <a:prstGeom prst="line">
            <a:avLst/>
          </a:prstGeom>
          <a:ln w="19050">
            <a:solidFill>
              <a:srgbClr val="C7C7C7"/>
            </a:solidFill>
            <a:tailEnd type="triangle" w="med" len="med"/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0" name="Connector 9"/>
          <p:cNvCxnSpPr/>
          <p:nvPr/>
        </p:nvCxnSpPr>
        <p:spPr>
          <a:xfrm>
            <a:off x="6667500" y="1571625"/>
            <a:ext cx="104775" cy="0"/>
          </a:xfrm>
          <a:prstGeom prst="line">
            <a:avLst/>
          </a:prstGeom>
          <a:ln w="19050">
            <a:solidFill>
              <a:srgbClr val="C7C7C7"/>
            </a:solidFill>
            <a:tailEnd type="triangle" w="med" len="med"/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1" name="Connector 10"/>
          <p:cNvCxnSpPr/>
          <p:nvPr/>
        </p:nvCxnSpPr>
        <p:spPr>
          <a:xfrm>
            <a:off x="7524750" y="1866900"/>
            <a:ext cx="0" cy="95250"/>
          </a:xfrm>
          <a:prstGeom prst="line">
            <a:avLst/>
          </a:prstGeom>
          <a:ln w="19050">
            <a:solidFill>
              <a:srgbClr val="C7C7C7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2" name="Connector 11"/>
          <p:cNvCxnSpPr/>
          <p:nvPr/>
        </p:nvCxnSpPr>
        <p:spPr>
          <a:xfrm flipH="1">
            <a:off x="2276475" y="1962150"/>
            <a:ext cx="5248275" cy="0"/>
          </a:xfrm>
          <a:prstGeom prst="line">
            <a:avLst/>
          </a:prstGeom>
          <a:ln w="19050">
            <a:solidFill>
              <a:srgbClr val="C7C7C7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3" name="Connector 12"/>
          <p:cNvCxnSpPr/>
          <p:nvPr/>
        </p:nvCxnSpPr>
        <p:spPr>
          <a:xfrm>
            <a:off x="2276475" y="1962150"/>
            <a:ext cx="0" cy="342900"/>
          </a:xfrm>
          <a:prstGeom prst="line">
            <a:avLst/>
          </a:prstGeom>
          <a:ln w="19050">
            <a:solidFill>
              <a:srgbClr val="C7C7C7"/>
            </a:solidFill>
            <a:tailEnd type="triangle" w="med" len="med"/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4" name="Connector 13"/>
          <p:cNvCxnSpPr/>
          <p:nvPr/>
        </p:nvCxnSpPr>
        <p:spPr>
          <a:xfrm>
            <a:off x="3676650" y="2667000"/>
            <a:ext cx="323850" cy="0"/>
          </a:xfrm>
          <a:prstGeom prst="line">
            <a:avLst/>
          </a:prstGeom>
          <a:ln w="19050">
            <a:solidFill>
              <a:srgbClr val="C7C7C7"/>
            </a:solidFill>
            <a:tailEnd type="triangle" w="med" len="med"/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5" name="Connector 14"/>
          <p:cNvCxnSpPr/>
          <p:nvPr/>
        </p:nvCxnSpPr>
        <p:spPr>
          <a:xfrm>
            <a:off x="4953000" y="2990850"/>
            <a:ext cx="0" cy="276225"/>
          </a:xfrm>
          <a:prstGeom prst="line">
            <a:avLst/>
          </a:prstGeom>
          <a:ln w="19050">
            <a:solidFill>
              <a:srgbClr val="C7C7C7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6" name="Connector 15"/>
          <p:cNvCxnSpPr/>
          <p:nvPr/>
        </p:nvCxnSpPr>
        <p:spPr>
          <a:xfrm flipH="1">
            <a:off x="2276475" y="3267075"/>
            <a:ext cx="2676525" cy="0"/>
          </a:xfrm>
          <a:prstGeom prst="line">
            <a:avLst/>
          </a:prstGeom>
          <a:ln w="19050">
            <a:solidFill>
              <a:srgbClr val="C7C7C7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7" name="Connector 16"/>
          <p:cNvCxnSpPr/>
          <p:nvPr/>
        </p:nvCxnSpPr>
        <p:spPr>
          <a:xfrm>
            <a:off x="2276475" y="3267075"/>
            <a:ext cx="0" cy="180975"/>
          </a:xfrm>
          <a:prstGeom prst="line">
            <a:avLst/>
          </a:prstGeom>
          <a:ln w="19050">
            <a:solidFill>
              <a:srgbClr val="C7C7C7"/>
            </a:solidFill>
            <a:tailEnd type="triangle" w="med" len="med"/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8" name="Connector 17"/>
          <p:cNvCxnSpPr/>
          <p:nvPr/>
        </p:nvCxnSpPr>
        <p:spPr>
          <a:xfrm>
            <a:off x="5905500" y="2667000"/>
            <a:ext cx="285750" cy="0"/>
          </a:xfrm>
          <a:prstGeom prst="line">
            <a:avLst/>
          </a:prstGeom>
          <a:ln w="19050">
            <a:solidFill>
              <a:srgbClr val="C7C7C7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9" name="Connector 18"/>
          <p:cNvCxnSpPr/>
          <p:nvPr/>
        </p:nvCxnSpPr>
        <p:spPr>
          <a:xfrm>
            <a:off x="6191250" y="2667000"/>
            <a:ext cx="0" cy="419100"/>
          </a:xfrm>
          <a:prstGeom prst="line">
            <a:avLst/>
          </a:prstGeom>
          <a:ln w="19050">
            <a:solidFill>
              <a:srgbClr val="C7C7C7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0" name="Connector 19"/>
          <p:cNvCxnSpPr/>
          <p:nvPr/>
        </p:nvCxnSpPr>
        <p:spPr>
          <a:xfrm>
            <a:off x="6191250" y="3086100"/>
            <a:ext cx="190500" cy="0"/>
          </a:xfrm>
          <a:prstGeom prst="line">
            <a:avLst/>
          </a:prstGeom>
          <a:ln w="19050">
            <a:solidFill>
              <a:srgbClr val="C7C7C7"/>
            </a:solidFill>
            <a:tailEnd type="triangle" w="med" len="med"/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1" name="Connector 20"/>
          <p:cNvCxnSpPr/>
          <p:nvPr/>
        </p:nvCxnSpPr>
        <p:spPr>
          <a:xfrm>
            <a:off x="3676650" y="3810000"/>
            <a:ext cx="323850" cy="0"/>
          </a:xfrm>
          <a:prstGeom prst="line">
            <a:avLst/>
          </a:prstGeom>
          <a:ln w="19050">
            <a:solidFill>
              <a:srgbClr val="C7C7C7"/>
            </a:solidFill>
            <a:tailEnd type="triangle" w="med" len="med"/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2" name="Connector 21"/>
          <p:cNvCxnSpPr/>
          <p:nvPr/>
        </p:nvCxnSpPr>
        <p:spPr>
          <a:xfrm>
            <a:off x="4953000" y="4133850"/>
            <a:ext cx="0" cy="276225"/>
          </a:xfrm>
          <a:prstGeom prst="line">
            <a:avLst/>
          </a:prstGeom>
          <a:ln w="19050">
            <a:solidFill>
              <a:srgbClr val="C7C7C7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3" name="Connector 22"/>
          <p:cNvCxnSpPr/>
          <p:nvPr/>
        </p:nvCxnSpPr>
        <p:spPr>
          <a:xfrm flipH="1">
            <a:off x="2276475" y="4410075"/>
            <a:ext cx="2676525" cy="0"/>
          </a:xfrm>
          <a:prstGeom prst="line">
            <a:avLst/>
          </a:prstGeom>
          <a:ln w="19050">
            <a:solidFill>
              <a:srgbClr val="C7C7C7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4" name="Connector 23"/>
          <p:cNvCxnSpPr/>
          <p:nvPr/>
        </p:nvCxnSpPr>
        <p:spPr>
          <a:xfrm>
            <a:off x="2276475" y="4410075"/>
            <a:ext cx="0" cy="180975"/>
          </a:xfrm>
          <a:prstGeom prst="line">
            <a:avLst/>
          </a:prstGeom>
          <a:ln w="19050">
            <a:solidFill>
              <a:srgbClr val="C7C7C7"/>
            </a:solidFill>
            <a:tailEnd type="triangle" w="med" len="med"/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5" name="Connector 24"/>
          <p:cNvCxnSpPr/>
          <p:nvPr/>
        </p:nvCxnSpPr>
        <p:spPr>
          <a:xfrm>
            <a:off x="5905500" y="3810000"/>
            <a:ext cx="285750" cy="0"/>
          </a:xfrm>
          <a:prstGeom prst="line">
            <a:avLst/>
          </a:prstGeom>
          <a:ln w="19050">
            <a:solidFill>
              <a:srgbClr val="C7C7C7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6" name="Connector 25"/>
          <p:cNvCxnSpPr/>
          <p:nvPr/>
        </p:nvCxnSpPr>
        <p:spPr>
          <a:xfrm flipV="1">
            <a:off x="6191250" y="3371850"/>
            <a:ext cx="0" cy="438150"/>
          </a:xfrm>
          <a:prstGeom prst="line">
            <a:avLst/>
          </a:prstGeom>
          <a:ln w="19050">
            <a:solidFill>
              <a:srgbClr val="C7C7C7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7" name="Connector 26"/>
          <p:cNvCxnSpPr/>
          <p:nvPr/>
        </p:nvCxnSpPr>
        <p:spPr>
          <a:xfrm>
            <a:off x="6191250" y="3371850"/>
            <a:ext cx="190500" cy="0"/>
          </a:xfrm>
          <a:prstGeom prst="line">
            <a:avLst/>
          </a:prstGeom>
          <a:ln w="19050">
            <a:solidFill>
              <a:srgbClr val="C7C7C7"/>
            </a:solidFill>
            <a:tailEnd type="triangle" w="med" len="med"/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8" name="Connector 27"/>
          <p:cNvCxnSpPr/>
          <p:nvPr/>
        </p:nvCxnSpPr>
        <p:spPr>
          <a:xfrm>
            <a:off x="3676650" y="4953000"/>
            <a:ext cx="323850" cy="0"/>
          </a:xfrm>
          <a:prstGeom prst="line">
            <a:avLst/>
          </a:prstGeom>
          <a:ln w="19050">
            <a:solidFill>
              <a:srgbClr val="C7C7C7"/>
            </a:solidFill>
            <a:tailEnd type="triangle" w="med" len="med"/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9" name="Connector 28"/>
          <p:cNvCxnSpPr/>
          <p:nvPr/>
        </p:nvCxnSpPr>
        <p:spPr>
          <a:xfrm>
            <a:off x="5905500" y="4953000"/>
            <a:ext cx="457200" cy="0"/>
          </a:xfrm>
          <a:prstGeom prst="line">
            <a:avLst/>
          </a:prstGeom>
          <a:ln w="19050">
            <a:solidFill>
              <a:srgbClr val="C7C7C7"/>
            </a:solidFill>
            <a:tailEnd type="triangle" w="med" len="med"/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0" name="Connector 29"/>
          <p:cNvCxnSpPr/>
          <p:nvPr/>
        </p:nvCxnSpPr>
        <p:spPr>
          <a:xfrm>
            <a:off x="4953000" y="5276850"/>
            <a:ext cx="0" cy="276225"/>
          </a:xfrm>
          <a:prstGeom prst="line">
            <a:avLst/>
          </a:prstGeom>
          <a:ln w="19050">
            <a:solidFill>
              <a:srgbClr val="C7C7C7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1" name="Connector 30"/>
          <p:cNvCxnSpPr/>
          <p:nvPr/>
        </p:nvCxnSpPr>
        <p:spPr>
          <a:xfrm>
            <a:off x="4953000" y="5553075"/>
            <a:ext cx="2228850" cy="0"/>
          </a:xfrm>
          <a:prstGeom prst="line">
            <a:avLst/>
          </a:prstGeom>
          <a:ln w="19050">
            <a:solidFill>
              <a:srgbClr val="C7C7C7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2" name="Connector 31"/>
          <p:cNvCxnSpPr/>
          <p:nvPr/>
        </p:nvCxnSpPr>
        <p:spPr>
          <a:xfrm flipV="1">
            <a:off x="7181850" y="5200650"/>
            <a:ext cx="0" cy="352425"/>
          </a:xfrm>
          <a:prstGeom prst="line">
            <a:avLst/>
          </a:prstGeom>
          <a:ln w="19050">
            <a:solidFill>
              <a:srgbClr val="C7C7C7"/>
            </a:solidFill>
            <a:tailEnd type="triangle" w="med" len="med"/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33" name="Rounded Rectangle 32"/>
          <p:cNvSpPr/>
          <p:nvPr/>
        </p:nvSpPr>
        <p:spPr>
          <a:xfrm>
            <a:off x="514350" y="1371600"/>
            <a:ext cx="1219200" cy="419100"/>
          </a:xfrm>
          <a:prstGeom prst="roundRect">
            <a:avLst>
              <a:gd name="adj" fmla="val 14000"/>
            </a:avLst>
          </a:prstGeom>
          <a:solidFill>
            <a:srgbClr val="FFFFFF"/>
          </a:solidFill>
          <a:ln w="25400">
            <a:solidFill>
              <a:srgbClr val="4A4A4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76200" rIns="76200" tIns="38100" bIns="38100"/>
          <a:lstStyle/>
          <a:p>
            <a:pPr algn="ctr"/>
            <a:r>
              <a:rPr sz="1100" b="1" i="0" lang="en-US">
                <a:solidFill>
                  <a:srgbClr val="1A1A1A"/>
                </a:solidFill>
                <a:latin typeface="Noto Sans"/>
              </a:rPr>
              <a:t>Safety</a:t>
            </a:r>
          </a:p>
          <a:p>
            <a:pPr algn="ctr"/>
            <a:r>
              <a:rPr sz="750" b="0" i="0" lang="en-US">
                <a:solidFill>
                  <a:srgbClr val="6B6B6B"/>
                </a:solidFill>
                <a:latin typeface="Noto Sans"/>
              </a:rPr>
              <a:t>gen_01</a:t>
            </a:r>
          </a:p>
        </p:txBody>
      </p:sp>
      <p:sp>
        <p:nvSpPr>
          <p:cNvPr id="34" name="Rounded Rectangle 33"/>
          <p:cNvSpPr/>
          <p:nvPr/>
        </p:nvSpPr>
        <p:spPr>
          <a:xfrm>
            <a:off x="1905000" y="1371600"/>
            <a:ext cx="1257300" cy="419100"/>
          </a:xfrm>
          <a:prstGeom prst="roundRect">
            <a:avLst>
              <a:gd name="adj" fmla="val 14000"/>
            </a:avLst>
          </a:prstGeom>
          <a:solidFill>
            <a:srgbClr val="FFEAEA"/>
          </a:solidFill>
          <a:ln w="31750">
            <a:solidFill>
              <a:srgbClr val="CC000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76200" rIns="76200" tIns="38100" bIns="38100"/>
          <a:lstStyle/>
          <a:p>
            <a:pPr algn="ctr"/>
            <a:r>
              <a:rPr sz="1100" b="1" i="0" lang="en-US">
                <a:solidFill>
                  <a:srgbClr val="1A1A1A"/>
                </a:solidFill>
                <a:latin typeface="Noto Sans"/>
              </a:rPr>
              <a:t>Scene</a:t>
            </a:r>
          </a:p>
          <a:p>
            <a:pPr algn="ctr"/>
            <a:r>
              <a:rPr sz="750" b="0" i="0" lang="en-US">
                <a:solidFill>
                  <a:srgbClr val="6B6B6B"/>
                </a:solidFill>
                <a:latin typeface="Noto Sans"/>
              </a:rPr>
              <a:t>gen_02</a:t>
            </a:r>
          </a:p>
        </p:txBody>
      </p:sp>
      <p:sp>
        <p:nvSpPr>
          <p:cNvPr id="35" name="Rounded Rectangle 34"/>
          <p:cNvSpPr/>
          <p:nvPr/>
        </p:nvSpPr>
        <p:spPr>
          <a:xfrm>
            <a:off x="3333750" y="1371600"/>
            <a:ext cx="1257300" cy="419100"/>
          </a:xfrm>
          <a:prstGeom prst="roundRect">
            <a:avLst>
              <a:gd name="adj" fmla="val 14000"/>
            </a:avLst>
          </a:prstGeom>
          <a:solidFill>
            <a:srgbClr val="FFFFFF"/>
          </a:solidFill>
          <a:ln w="19050">
            <a:solidFill>
              <a:srgbClr val="E0E0E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76200" rIns="76200" tIns="38100" bIns="38100"/>
          <a:lstStyle/>
          <a:p>
            <a:pPr algn="ctr"/>
            <a:r>
              <a:rPr sz="1100" b="0" i="0" lang="en-US">
                <a:solidFill>
                  <a:srgbClr val="6B6B6B"/>
                </a:solidFill>
                <a:latin typeface="Noto Sans"/>
              </a:rPr>
              <a:t>Situation</a:t>
            </a:r>
          </a:p>
          <a:p>
            <a:pPr algn="ctr"/>
            <a:r>
              <a:rPr sz="750" b="0" i="0" lang="en-US">
                <a:solidFill>
                  <a:srgbClr val="6B6B6B"/>
                </a:solidFill>
                <a:latin typeface="Noto Sans"/>
              </a:rPr>
              <a:t>gen_03</a:t>
            </a:r>
          </a:p>
        </p:txBody>
      </p:sp>
      <p:sp>
        <p:nvSpPr>
          <p:cNvPr id="36" name="Rounded Rectangle 35"/>
          <p:cNvSpPr/>
          <p:nvPr/>
        </p:nvSpPr>
        <p:spPr>
          <a:xfrm>
            <a:off x="4762500" y="1314450"/>
            <a:ext cx="1866900" cy="533400"/>
          </a:xfrm>
          <a:prstGeom prst="roundRect">
            <a:avLst>
              <a:gd name="adj" fmla="val 14000"/>
            </a:avLst>
          </a:prstGeom>
          <a:solidFill>
            <a:srgbClr val="FFFFFF"/>
          </a:solidFill>
          <a:ln w="19050">
            <a:solidFill>
              <a:srgbClr val="E0E0E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76200" rIns="76200" tIns="38100" bIns="38100"/>
          <a:lstStyle/>
          <a:p>
            <a:pPr algn="ctr"/>
            <a:r>
              <a:rPr sz="1100" b="0" i="0" lang="en-US">
                <a:solidFill>
                  <a:srgbClr val="6B6B6B"/>
                </a:solidFill>
                <a:latin typeface="Noto Sans"/>
              </a:rPr>
              <a:t>◇ Life-threatening bleeding?</a:t>
            </a:r>
          </a:p>
          <a:p>
            <a:pPr algn="ctr"/>
            <a:r>
              <a:rPr sz="750" b="0" i="0" lang="en-US">
                <a:solidFill>
                  <a:srgbClr val="6B6B6B"/>
                </a:solidFill>
                <a:latin typeface="Noto Sans"/>
              </a:rPr>
              <a:t>gen_04</a:t>
            </a:r>
          </a:p>
        </p:txBody>
      </p:sp>
      <p:sp>
        <p:nvSpPr>
          <p:cNvPr id="37" name="Rounded Rectangle 36"/>
          <p:cNvSpPr/>
          <p:nvPr/>
        </p:nvSpPr>
        <p:spPr>
          <a:xfrm>
            <a:off x="6819900" y="1352550"/>
            <a:ext cx="1409700" cy="495300"/>
          </a:xfrm>
          <a:prstGeom prst="roundRect">
            <a:avLst>
              <a:gd name="adj" fmla="val 14000"/>
            </a:avLst>
          </a:prstGeom>
          <a:solidFill>
            <a:srgbClr val="FFFFFF"/>
          </a:solidFill>
          <a:ln w="19050">
            <a:solidFill>
              <a:srgbClr val="E0E0E0"/>
            </a:solidFill>
            <a:prstDash val="dash"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76200" rIns="76200" tIns="38100" bIns="38100"/>
          <a:lstStyle/>
          <a:p>
            <a:pPr algn="ctr"/>
            <a:r>
              <a:rPr sz="1100" b="0" i="0" lang="en-US">
                <a:solidFill>
                  <a:srgbClr val="6B6B6B"/>
                </a:solidFill>
                <a:latin typeface="Noto Sans"/>
              </a:rPr>
              <a:t>⇢ Hemorrhage</a:t>
            </a:r>
          </a:p>
          <a:p>
            <a:pPr algn="ctr"/>
            <a:r>
              <a:rPr sz="750" b="0" i="0" lang="en-US">
                <a:solidFill>
                  <a:srgbClr val="6B6B6B"/>
                </a:solidFill>
                <a:latin typeface="Noto Sans"/>
              </a:rPr>
              <a:t>gen_05 · jump</a:t>
            </a:r>
          </a:p>
        </p:txBody>
      </p:sp>
      <p:sp>
        <p:nvSpPr>
          <p:cNvPr id="38" name="Rounded Rectangle 37"/>
          <p:cNvSpPr/>
          <p:nvPr/>
        </p:nvSpPr>
        <p:spPr>
          <a:xfrm>
            <a:off x="895350" y="2362200"/>
            <a:ext cx="2781300" cy="609600"/>
          </a:xfrm>
          <a:prstGeom prst="roundRect">
            <a:avLst>
              <a:gd name="adj" fmla="val 14000"/>
            </a:avLst>
          </a:prstGeom>
          <a:solidFill>
            <a:srgbClr val="FFFFFF"/>
          </a:solidFill>
          <a:ln w="19050">
            <a:solidFill>
              <a:srgbClr val="E0E0E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76200" rIns="76200" tIns="38100" bIns="38100"/>
          <a:lstStyle/>
          <a:p>
            <a:pPr algn="ctr"/>
            <a:r>
              <a:rPr sz="1100" b="0" i="0" lang="en-US">
                <a:solidFill>
                  <a:srgbClr val="6B6B6B"/>
                </a:solidFill>
                <a:latin typeface="Noto Sans"/>
              </a:rPr>
              <a:t>Direct pressure · compression dressing</a:t>
            </a:r>
          </a:p>
          <a:p>
            <a:pPr algn="ctr"/>
            <a:r>
              <a:rPr sz="750" b="0" i="0" lang="en-US">
                <a:solidFill>
                  <a:srgbClr val="6B6B6B"/>
                </a:solidFill>
                <a:latin typeface="Noto Sans"/>
              </a:rPr>
              <a:t>hem_01</a:t>
            </a:r>
          </a:p>
        </p:txBody>
      </p:sp>
      <p:sp>
        <p:nvSpPr>
          <p:cNvPr id="39" name="Rounded Rectangle 38"/>
          <p:cNvSpPr/>
          <p:nvPr/>
        </p:nvSpPr>
        <p:spPr>
          <a:xfrm>
            <a:off x="4038600" y="2381250"/>
            <a:ext cx="1866900" cy="571500"/>
          </a:xfrm>
          <a:prstGeom prst="roundRect">
            <a:avLst>
              <a:gd name="adj" fmla="val 14000"/>
            </a:avLst>
          </a:prstGeom>
          <a:solidFill>
            <a:srgbClr val="FFFFFF"/>
          </a:solidFill>
          <a:ln w="19050">
            <a:solidFill>
              <a:srgbClr val="E0E0E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76200" rIns="76200" tIns="38100" bIns="38100"/>
          <a:lstStyle/>
          <a:p>
            <a:pPr algn="ctr"/>
            <a:r>
              <a:rPr sz="1100" b="0" i="0" lang="en-US">
                <a:solidFill>
                  <a:srgbClr val="6B6B6B"/>
                </a:solidFill>
                <a:latin typeface="Noto Sans"/>
              </a:rPr>
              <a:t>◇ Active bleeding?</a:t>
            </a:r>
          </a:p>
          <a:p>
            <a:pPr algn="ctr"/>
            <a:r>
              <a:rPr sz="750" b="0" i="0" lang="en-US">
                <a:solidFill>
                  <a:srgbClr val="6B6B6B"/>
                </a:solidFill>
                <a:latin typeface="Noto Sans"/>
              </a:rPr>
              <a:t>hem_02</a:t>
            </a:r>
          </a:p>
        </p:txBody>
      </p:sp>
      <p:sp>
        <p:nvSpPr>
          <p:cNvPr id="40" name="Rounded Rectangle 39"/>
          <p:cNvSpPr/>
          <p:nvPr/>
        </p:nvSpPr>
        <p:spPr>
          <a:xfrm>
            <a:off x="895350" y="3505200"/>
            <a:ext cx="2781300" cy="609600"/>
          </a:xfrm>
          <a:prstGeom prst="roundRect">
            <a:avLst>
              <a:gd name="adj" fmla="val 14000"/>
            </a:avLst>
          </a:prstGeom>
          <a:solidFill>
            <a:srgbClr val="FFFFFF"/>
          </a:solidFill>
          <a:ln w="19050">
            <a:solidFill>
              <a:srgbClr val="E0E0E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76200" rIns="76200" tIns="38100" bIns="38100"/>
          <a:lstStyle/>
          <a:p>
            <a:pPr algn="ctr"/>
            <a:r>
              <a:rPr sz="1100" b="0" i="0" lang="en-US">
                <a:solidFill>
                  <a:srgbClr val="6B6B6B"/>
                </a:solidFill>
                <a:latin typeface="Noto Sans"/>
              </a:rPr>
              <a:t>Second compression bandage</a:t>
            </a:r>
          </a:p>
          <a:p>
            <a:pPr algn="ctr"/>
            <a:r>
              <a:rPr sz="750" b="0" i="0" lang="en-US">
                <a:solidFill>
                  <a:srgbClr val="6B6B6B"/>
                </a:solidFill>
                <a:latin typeface="Noto Sans"/>
              </a:rPr>
              <a:t>hem_03 · TIER 2</a:t>
            </a:r>
          </a:p>
        </p:txBody>
      </p:sp>
      <p:sp>
        <p:nvSpPr>
          <p:cNvPr id="41" name="Rounded Rectangle 40"/>
          <p:cNvSpPr/>
          <p:nvPr/>
        </p:nvSpPr>
        <p:spPr>
          <a:xfrm>
            <a:off x="4038600" y="3524250"/>
            <a:ext cx="1866900" cy="571500"/>
          </a:xfrm>
          <a:prstGeom prst="roundRect">
            <a:avLst>
              <a:gd name="adj" fmla="val 14000"/>
            </a:avLst>
          </a:prstGeom>
          <a:solidFill>
            <a:srgbClr val="FFFFFF"/>
          </a:solidFill>
          <a:ln w="19050">
            <a:solidFill>
              <a:srgbClr val="E0E0E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76200" rIns="76200" tIns="38100" bIns="38100"/>
          <a:lstStyle/>
          <a:p>
            <a:pPr algn="ctr"/>
            <a:r>
              <a:rPr sz="1100" b="0" i="0" lang="en-US">
                <a:solidFill>
                  <a:srgbClr val="6B6B6B"/>
                </a:solidFill>
                <a:latin typeface="Noto Sans"/>
              </a:rPr>
              <a:t>◇ Active bleeding?</a:t>
            </a:r>
          </a:p>
          <a:p>
            <a:pPr algn="ctr"/>
            <a:r>
              <a:rPr sz="750" b="0" i="0" lang="en-US">
                <a:solidFill>
                  <a:srgbClr val="6B6B6B"/>
                </a:solidFill>
                <a:latin typeface="Noto Sans"/>
              </a:rPr>
              <a:t>hem_04</a:t>
            </a:r>
          </a:p>
        </p:txBody>
      </p:sp>
      <p:sp>
        <p:nvSpPr>
          <p:cNvPr id="42" name="Rounded Rectangle 41"/>
          <p:cNvSpPr/>
          <p:nvPr/>
        </p:nvSpPr>
        <p:spPr>
          <a:xfrm>
            <a:off x="895350" y="4648200"/>
            <a:ext cx="2781300" cy="609600"/>
          </a:xfrm>
          <a:prstGeom prst="roundRect">
            <a:avLst>
              <a:gd name="adj" fmla="val 14000"/>
            </a:avLst>
          </a:prstGeom>
          <a:solidFill>
            <a:srgbClr val="FFFFFF"/>
          </a:solidFill>
          <a:ln w="19050">
            <a:solidFill>
              <a:srgbClr val="E0E0E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76200" rIns="76200" tIns="38100" bIns="38100"/>
          <a:lstStyle/>
          <a:p>
            <a:pPr algn="ctr"/>
            <a:r>
              <a:rPr sz="1100" b="0" i="0" lang="en-US">
                <a:solidFill>
                  <a:srgbClr val="6B6B6B"/>
                </a:solidFill>
                <a:latin typeface="Noto Sans"/>
              </a:rPr>
              <a:t>Tourniquet — one palm above wound</a:t>
            </a:r>
          </a:p>
          <a:p>
            <a:pPr algn="ctr"/>
            <a:r>
              <a:rPr sz="750" b="0" i="0" lang="en-US">
                <a:solidFill>
                  <a:srgbClr val="6B6B6B"/>
                </a:solidFill>
                <a:latin typeface="Noto Sans"/>
              </a:rPr>
              <a:t>hem_05 · terminal</a:t>
            </a:r>
          </a:p>
        </p:txBody>
      </p:sp>
      <p:sp>
        <p:nvSpPr>
          <p:cNvPr id="43" name="Rounded Rectangle 42"/>
          <p:cNvSpPr/>
          <p:nvPr/>
        </p:nvSpPr>
        <p:spPr>
          <a:xfrm>
            <a:off x="4038600" y="4667250"/>
            <a:ext cx="1866900" cy="571500"/>
          </a:xfrm>
          <a:prstGeom prst="roundRect">
            <a:avLst>
              <a:gd name="adj" fmla="val 14000"/>
            </a:avLst>
          </a:prstGeom>
          <a:solidFill>
            <a:srgbClr val="FFFFFF"/>
          </a:solidFill>
          <a:ln w="19050">
            <a:solidFill>
              <a:srgbClr val="E0E0E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76200" rIns="76200" tIns="38100" bIns="38100"/>
          <a:lstStyle/>
          <a:p>
            <a:pPr algn="ctr"/>
            <a:r>
              <a:rPr sz="1100" b="0" i="0" lang="en-US">
                <a:solidFill>
                  <a:srgbClr val="6B6B6B"/>
                </a:solidFill>
                <a:latin typeface="Noto Sans"/>
              </a:rPr>
              <a:t>◇ Active bleeding?</a:t>
            </a:r>
          </a:p>
          <a:p>
            <a:pPr algn="ctr"/>
            <a:r>
              <a:rPr sz="750" b="0" i="0" lang="en-US">
                <a:solidFill>
                  <a:srgbClr val="6B6B6B"/>
                </a:solidFill>
                <a:latin typeface="Noto Sans"/>
              </a:rPr>
              <a:t>hem_06</a:t>
            </a:r>
          </a:p>
        </p:txBody>
      </p:sp>
      <p:sp>
        <p:nvSpPr>
          <p:cNvPr id="44" name="Rounded Rectangle 43"/>
          <p:cNvSpPr/>
          <p:nvPr/>
        </p:nvSpPr>
        <p:spPr>
          <a:xfrm>
            <a:off x="6381750" y="2895600"/>
            <a:ext cx="2133600" cy="476250"/>
          </a:xfrm>
          <a:prstGeom prst="roundRect">
            <a:avLst>
              <a:gd name="adj" fmla="val 50000"/>
            </a:avLst>
          </a:prstGeom>
          <a:solidFill>
            <a:srgbClr val="FFFFFF"/>
          </a:solidFill>
          <a:ln w="19050">
            <a:solidFill>
              <a:srgbClr val="E0E0E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76200" rIns="76200" tIns="38100" bIns="38100"/>
          <a:lstStyle/>
          <a:p>
            <a:pPr algn="ctr"/>
            <a:r>
              <a:rPr sz="1100" b="0" i="0" lang="en-US">
                <a:solidFill>
                  <a:srgbClr val="6B6B6B"/>
                </a:solidFill>
                <a:latin typeface="Noto Sans"/>
              </a:rPr>
              <a:t>Transport to health center</a:t>
            </a:r>
          </a:p>
          <a:p>
            <a:pPr algn="ctr"/>
            <a:r>
              <a:rPr sz="750" b="0" i="0" lang="en-US">
                <a:solidFill>
                  <a:srgbClr val="6B6B6B"/>
                </a:solidFill>
                <a:latin typeface="Noto Sans"/>
              </a:rPr>
              <a:t>hem_08</a:t>
            </a:r>
          </a:p>
        </p:txBody>
      </p:sp>
      <p:sp>
        <p:nvSpPr>
          <p:cNvPr id="45" name="Rounded Rectangle 44"/>
          <p:cNvSpPr/>
          <p:nvPr/>
        </p:nvSpPr>
        <p:spPr>
          <a:xfrm>
            <a:off x="6381750" y="4724400"/>
            <a:ext cx="2133600" cy="476250"/>
          </a:xfrm>
          <a:prstGeom prst="roundRect">
            <a:avLst>
              <a:gd name="adj" fmla="val 50000"/>
            </a:avLst>
          </a:prstGeom>
          <a:solidFill>
            <a:srgbClr val="FFFFFF"/>
          </a:solidFill>
          <a:ln w="19050">
            <a:solidFill>
              <a:srgbClr val="E0E0E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76200" rIns="76200" tIns="38100" bIns="38100"/>
          <a:lstStyle/>
          <a:p>
            <a:pPr algn="ctr"/>
            <a:r>
              <a:rPr sz="1100" b="0" i="0" lang="en-US">
                <a:solidFill>
                  <a:srgbClr val="6B6B6B"/>
                </a:solidFill>
                <a:latin typeface="Noto Sans"/>
              </a:rPr>
              <a:t>URGENT transport</a:t>
            </a:r>
          </a:p>
          <a:p>
            <a:pPr algn="ctr"/>
            <a:r>
              <a:rPr sz="750" b="0" i="0" lang="en-US">
                <a:solidFill>
                  <a:srgbClr val="6B6B6B"/>
                </a:solidFill>
                <a:latin typeface="Noto Sans"/>
              </a:rPr>
              <a:t>hem_07</a:t>
            </a:r>
          </a:p>
        </p:txBody>
      </p:sp>
      <p:sp>
        <p:nvSpPr>
          <p:cNvPr id="46" name="Oval 45"/>
          <p:cNvSpPr/>
          <p:nvPr/>
        </p:nvSpPr>
        <p:spPr>
          <a:xfrm>
            <a:off x="514350" y="2533650"/>
            <a:ext cx="266700" cy="266700"/>
          </a:xfrm>
          <a:prstGeom prst="ellipse">
            <a:avLst/>
          </a:prstGeom>
          <a:solidFill>
            <a:srgbClr val="F5F5F5"/>
          </a:solidFill>
          <a:ln w="19050">
            <a:solidFill>
              <a:srgbClr val="E0E0E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76200" rIns="76200" tIns="38100" bIns="38100"/>
          <a:lstStyle/>
          <a:p>
            <a:pPr algn="ctr"/>
            <a:r>
              <a:rPr sz="1100" b="1" i="0" lang="en-US">
                <a:solidFill>
                  <a:srgbClr val="4A4A4A"/>
                </a:solidFill>
                <a:latin typeface="Noto Sans"/>
              </a:rPr>
              <a:t>1</a:t>
            </a:r>
          </a:p>
        </p:txBody>
      </p:sp>
      <p:sp>
        <p:nvSpPr>
          <p:cNvPr id="47" name="Oval 46"/>
          <p:cNvSpPr/>
          <p:nvPr/>
        </p:nvSpPr>
        <p:spPr>
          <a:xfrm>
            <a:off x="514350" y="3676650"/>
            <a:ext cx="266700" cy="266700"/>
          </a:xfrm>
          <a:prstGeom prst="ellipse">
            <a:avLst/>
          </a:prstGeom>
          <a:solidFill>
            <a:srgbClr val="F5F5F5"/>
          </a:solidFill>
          <a:ln w="19050">
            <a:solidFill>
              <a:srgbClr val="E0E0E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76200" rIns="76200" tIns="38100" bIns="38100"/>
          <a:lstStyle/>
          <a:p>
            <a:pPr algn="ctr"/>
            <a:r>
              <a:rPr sz="1100" b="1" i="0" lang="en-US">
                <a:solidFill>
                  <a:srgbClr val="4A4A4A"/>
                </a:solidFill>
                <a:latin typeface="Noto Sans"/>
              </a:rPr>
              <a:t>2</a:t>
            </a:r>
          </a:p>
        </p:txBody>
      </p:sp>
      <p:sp>
        <p:nvSpPr>
          <p:cNvPr id="48" name="Oval 47"/>
          <p:cNvSpPr/>
          <p:nvPr/>
        </p:nvSpPr>
        <p:spPr>
          <a:xfrm>
            <a:off x="514350" y="4819650"/>
            <a:ext cx="266700" cy="266700"/>
          </a:xfrm>
          <a:prstGeom prst="ellipse">
            <a:avLst/>
          </a:prstGeom>
          <a:solidFill>
            <a:srgbClr val="F5F5F5"/>
          </a:solidFill>
          <a:ln w="19050">
            <a:solidFill>
              <a:srgbClr val="E0E0E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76200" rIns="76200" tIns="38100" bIns="38100"/>
          <a:lstStyle/>
          <a:p>
            <a:pPr algn="ctr"/>
            <a:r>
              <a:rPr sz="1100" b="1" i="0" lang="en-US">
                <a:solidFill>
                  <a:srgbClr val="4A4A4A"/>
                </a:solidFill>
                <a:latin typeface="Noto Sans"/>
              </a:rPr>
              <a:t>3</a:t>
            </a:r>
          </a:p>
        </p:txBody>
      </p:sp>
      <p:sp>
        <p:nvSpPr>
          <p:cNvPr id="49" name="Rounded Rectangle 48"/>
          <p:cNvSpPr/>
          <p:nvPr/>
        </p:nvSpPr>
        <p:spPr>
          <a:xfrm>
            <a:off x="3467100" y="1847850"/>
            <a:ext cx="3143250" cy="228600"/>
          </a:xfrm>
          <a:prstGeom prst="roundRect">
            <a:avLst>
              <a:gd name="adj" fmla="val 40000"/>
            </a:avLst>
          </a:prstGeom>
          <a:solidFill>
            <a:srgbClr val="FFFFFF"/>
          </a:solidFill>
          <a:ln w="15875">
            <a:solidFill>
              <a:srgbClr val="C7C7C7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76200" rIns="76200" tIns="38100" bIns="38100"/>
          <a:lstStyle/>
          <a:p>
            <a:pPr algn="ctr"/>
            <a:r>
              <a:rPr sz="900" b="1" i="0" lang="en-US">
                <a:solidFill>
                  <a:srgbClr val="C7C7C7"/>
                </a:solidFill>
                <a:latin typeface="Noto Sans"/>
              </a:rPr>
              <a:t>yes →  &gt;&gt; JUMP to chart 'hemorrhage' &lt;&lt;</a:t>
            </a:r>
          </a:p>
        </p:txBody>
      </p:sp>
      <p:sp>
        <p:nvSpPr>
          <p:cNvPr id="50" name="Rounded Rectangle 49"/>
          <p:cNvSpPr/>
          <p:nvPr/>
        </p:nvSpPr>
        <p:spPr>
          <a:xfrm>
            <a:off x="2895600" y="3143250"/>
            <a:ext cx="1619250" cy="228600"/>
          </a:xfrm>
          <a:prstGeom prst="roundRect">
            <a:avLst>
              <a:gd name="adj" fmla="val 40000"/>
            </a:avLst>
          </a:prstGeom>
          <a:solidFill>
            <a:srgbClr val="FFFFFF"/>
          </a:solidFill>
          <a:ln w="15875">
            <a:solidFill>
              <a:srgbClr val="E5A3A3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76200" rIns="76200" tIns="38100" bIns="38100"/>
          <a:lstStyle/>
          <a:p>
            <a:pPr algn="ctr"/>
            <a:r>
              <a:rPr sz="900" b="1" i="0" lang="en-US">
                <a:solidFill>
                  <a:srgbClr val="E5A3A3"/>
                </a:solidFill>
                <a:latin typeface="Noto Sans"/>
              </a:rPr>
              <a:t>yes — still bleeding</a:t>
            </a:r>
          </a:p>
        </p:txBody>
      </p:sp>
      <p:sp>
        <p:nvSpPr>
          <p:cNvPr id="51" name="Rounded Rectangle 50"/>
          <p:cNvSpPr/>
          <p:nvPr/>
        </p:nvSpPr>
        <p:spPr>
          <a:xfrm>
            <a:off x="2895600" y="4286250"/>
            <a:ext cx="1619250" cy="228600"/>
          </a:xfrm>
          <a:prstGeom prst="roundRect">
            <a:avLst>
              <a:gd name="adj" fmla="val 40000"/>
            </a:avLst>
          </a:prstGeom>
          <a:solidFill>
            <a:srgbClr val="FFFFFF"/>
          </a:solidFill>
          <a:ln w="15875">
            <a:solidFill>
              <a:srgbClr val="E5A3A3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76200" rIns="76200" tIns="38100" bIns="38100"/>
          <a:lstStyle/>
          <a:p>
            <a:pPr algn="ctr"/>
            <a:r>
              <a:rPr sz="900" b="1" i="0" lang="en-US">
                <a:solidFill>
                  <a:srgbClr val="E5A3A3"/>
                </a:solidFill>
                <a:latin typeface="Noto Sans"/>
              </a:rPr>
              <a:t>yes — still bleeding</a:t>
            </a:r>
          </a:p>
        </p:txBody>
      </p:sp>
      <p:sp>
        <p:nvSpPr>
          <p:cNvPr id="52" name="Rounded Rectangle 51"/>
          <p:cNvSpPr/>
          <p:nvPr/>
        </p:nvSpPr>
        <p:spPr>
          <a:xfrm>
            <a:off x="6191250" y="2247900"/>
            <a:ext cx="1428750" cy="228600"/>
          </a:xfrm>
          <a:prstGeom prst="roundRect">
            <a:avLst>
              <a:gd name="adj" fmla="val 40000"/>
            </a:avLst>
          </a:prstGeom>
          <a:solidFill>
            <a:srgbClr val="FFFFFF"/>
          </a:solidFill>
          <a:ln w="15875">
            <a:solidFill>
              <a:srgbClr val="A9C9B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76200" rIns="76200" tIns="38100" bIns="38100"/>
          <a:lstStyle/>
          <a:p>
            <a:pPr algn="ctr"/>
            <a:r>
              <a:rPr sz="900" b="1" i="0" lang="en-US">
                <a:solidFill>
                  <a:srgbClr val="A9C9BA"/>
                </a:solidFill>
                <a:latin typeface="Noto Sans"/>
              </a:rPr>
              <a:t>✓ no — controlled</a:t>
            </a:r>
          </a:p>
        </p:txBody>
      </p:sp>
      <p:sp>
        <p:nvSpPr>
          <p:cNvPr id="53" name="Rounded Rectangle 52"/>
          <p:cNvSpPr/>
          <p:nvPr/>
        </p:nvSpPr>
        <p:spPr>
          <a:xfrm>
            <a:off x="6191250" y="3962400"/>
            <a:ext cx="1428750" cy="228600"/>
          </a:xfrm>
          <a:prstGeom prst="roundRect">
            <a:avLst>
              <a:gd name="adj" fmla="val 40000"/>
            </a:avLst>
          </a:prstGeom>
          <a:solidFill>
            <a:srgbClr val="FFFFFF"/>
          </a:solidFill>
          <a:ln w="15875">
            <a:solidFill>
              <a:srgbClr val="A9C9B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76200" rIns="76200" tIns="38100" bIns="38100"/>
          <a:lstStyle/>
          <a:p>
            <a:pPr algn="ctr"/>
            <a:r>
              <a:rPr sz="900" b="1" i="0" lang="en-US">
                <a:solidFill>
                  <a:srgbClr val="A9C9BA"/>
                </a:solidFill>
                <a:latin typeface="Noto Sans"/>
              </a:rPr>
              <a:t>✓ no — controlled</a:t>
            </a:r>
          </a:p>
        </p:txBody>
      </p:sp>
      <p:sp>
        <p:nvSpPr>
          <p:cNvPr id="54" name="Rounded Rectangle 53"/>
          <p:cNvSpPr/>
          <p:nvPr/>
        </p:nvSpPr>
        <p:spPr>
          <a:xfrm>
            <a:off x="5962650" y="5181600"/>
            <a:ext cx="628650" cy="209550"/>
          </a:xfrm>
          <a:prstGeom prst="roundRect">
            <a:avLst>
              <a:gd name="adj" fmla="val 40000"/>
            </a:avLst>
          </a:prstGeom>
          <a:solidFill>
            <a:srgbClr val="FFFFFF"/>
          </a:solidFill>
          <a:ln w="15875">
            <a:solidFill>
              <a:srgbClr val="A9C9B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76200" rIns="76200" tIns="38100" bIns="38100"/>
          <a:lstStyle/>
          <a:p>
            <a:pPr algn="ctr"/>
            <a:r>
              <a:rPr sz="900" b="1" i="0" lang="en-US">
                <a:solidFill>
                  <a:srgbClr val="A9C9BA"/>
                </a:solidFill>
                <a:latin typeface="Noto Sans"/>
              </a:rPr>
              <a:t>✓ no</a:t>
            </a:r>
          </a:p>
        </p:txBody>
      </p:sp>
      <p:sp>
        <p:nvSpPr>
          <p:cNvPr id="55" name="Rounded Rectangle 54"/>
          <p:cNvSpPr/>
          <p:nvPr/>
        </p:nvSpPr>
        <p:spPr>
          <a:xfrm>
            <a:off x="2381250" y="5429250"/>
            <a:ext cx="4095750" cy="228600"/>
          </a:xfrm>
          <a:prstGeom prst="roundRect">
            <a:avLst>
              <a:gd name="adj" fmla="val 40000"/>
            </a:avLst>
          </a:prstGeom>
          <a:solidFill>
            <a:srgbClr val="FFFFFF"/>
          </a:solidFill>
          <a:ln w="15875">
            <a:solidFill>
              <a:srgbClr val="E3C29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76200" rIns="76200" tIns="38100" bIns="38100"/>
          <a:lstStyle/>
          <a:p>
            <a:pPr algn="ctr"/>
            <a:r>
              <a:rPr sz="900" b="1" i="0" lang="en-US">
                <a:solidFill>
                  <a:srgbClr val="E3C29E"/>
                </a:solidFill>
                <a:latin typeface="Noto Sans"/>
              </a:rPr>
              <a:t>⚠ yes at terminal tier → HOLD, no tier 4 (flagged divergence)</a:t>
            </a:r>
          </a:p>
        </p:txBody>
      </p:sp>
      <p:sp>
        <p:nvSpPr>
          <p:cNvPr id="56" name="Rounded Rectangle 55"/>
          <p:cNvSpPr/>
          <p:nvPr/>
        </p:nvSpPr>
        <p:spPr>
          <a:xfrm>
            <a:off x="8877300" y="1123950"/>
            <a:ext cx="2895600" cy="5257800"/>
          </a:xfrm>
          <a:prstGeom prst="roundRect">
            <a:avLst>
              <a:gd name="adj" fmla="val 5000"/>
            </a:avLst>
          </a:prstGeom>
          <a:solidFill>
            <a:srgbClr val="FFFFFF"/>
          </a:solidFill>
          <a:ln w="19050">
            <a:solidFill>
              <a:srgbClr val="E0E0E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76200" rIns="76200" tIns="38100" bIns="38100"/>
          <a:lstStyle/>
          <a:p>
            <a:pPr algn="ctr"/>
          </a:p>
        </p:txBody>
      </p:sp>
      <p:sp>
        <p:nvSpPr>
          <p:cNvPr id="57" name="TextBox 56"/>
          <p:cNvSpPr txBox="1"/>
          <p:nvPr/>
        </p:nvSpPr>
        <p:spPr>
          <a:xfrm>
            <a:off x="9048750" y="1257300"/>
            <a:ext cx="2476500" cy="1905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r>
              <a:rPr sz="1000" b="1" i="0" lang="en-US">
                <a:solidFill>
                  <a:srgbClr val="1A1A1A"/>
                </a:solidFill>
                <a:latin typeface="Noto Sans"/>
              </a:rPr>
              <a:t>ENGINE STATE</a:t>
            </a:r>
          </a:p>
        </p:txBody>
      </p:sp>
      <p:cxnSp>
        <p:nvCxnSpPr>
          <p:cNvPr id="58" name="Connector 57"/>
          <p:cNvCxnSpPr/>
          <p:nvPr/>
        </p:nvCxnSpPr>
        <p:spPr>
          <a:xfrm>
            <a:off x="9048750" y="1485900"/>
            <a:ext cx="2552700" cy="0"/>
          </a:xfrm>
          <a:prstGeom prst="line">
            <a:avLst/>
          </a:prstGeom>
          <a:ln w="12700">
            <a:solidFill>
              <a:srgbClr val="E0E0E0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59" name="TextBox 58"/>
          <p:cNvSpPr txBox="1"/>
          <p:nvPr/>
        </p:nvSpPr>
        <p:spPr>
          <a:xfrm>
            <a:off x="9048750" y="1581150"/>
            <a:ext cx="2476500" cy="1524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r>
              <a:rPr sz="800" b="1" i="0" lang="en-US">
                <a:solidFill>
                  <a:srgbClr val="6B6B6B"/>
                </a:solidFill>
                <a:latin typeface="Noto Sans"/>
              </a:rPr>
              <a:t>WORKING MEMORY</a:t>
            </a:r>
          </a:p>
        </p:txBody>
      </p:sp>
      <p:sp>
        <p:nvSpPr>
          <p:cNvPr id="60" name="Rounded Rectangle 59"/>
          <p:cNvSpPr/>
          <p:nvPr/>
        </p:nvSpPr>
        <p:spPr>
          <a:xfrm>
            <a:off x="9048750" y="1771650"/>
            <a:ext cx="1504950" cy="247650"/>
          </a:xfrm>
          <a:prstGeom prst="roundRect">
            <a:avLst>
              <a:gd name="adj" fmla="val 50000"/>
            </a:avLst>
          </a:prstGeom>
          <a:solidFill>
            <a:srgbClr val="FFEAEA"/>
          </a:solidFill>
          <a:ln w="15875">
            <a:solidFill>
              <a:srgbClr val="CC000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76200" rIns="76200" tIns="38100" bIns="38100"/>
          <a:lstStyle/>
          <a:p>
            <a:pPr algn="ctr"/>
            <a:r>
              <a:rPr sz="1000" b="1" i="0" lang="en-US">
                <a:solidFill>
                  <a:srgbClr val="990000"/>
                </a:solidFill>
                <a:latin typeface="Consolas"/>
              </a:rPr>
              <a:t>Position(nid=gen_02)</a:t>
            </a:r>
          </a:p>
        </p:txBody>
      </p:sp>
      <p:sp>
        <p:nvSpPr>
          <p:cNvPr id="61" name="Rounded Rectangle 60"/>
          <p:cNvSpPr/>
          <p:nvPr/>
        </p:nvSpPr>
        <p:spPr>
          <a:xfrm>
            <a:off x="9048750" y="2076450"/>
            <a:ext cx="1687830" cy="247650"/>
          </a:xfrm>
          <a:prstGeom prst="roundRect">
            <a:avLst>
              <a:gd name="adj" fmla="val 50000"/>
            </a:avLst>
          </a:prstGeom>
          <a:solidFill>
            <a:srgbClr val="F5F5F5"/>
          </a:solidFill>
          <a:ln w="15875">
            <a:solidFill>
              <a:srgbClr val="E0E0E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76200" rIns="76200" tIns="38100" bIns="38100"/>
          <a:lstStyle/>
          <a:p>
            <a:pPr algn="ctr"/>
            <a:r>
              <a:rPr sz="1000" b="0" i="0" lang="en-US">
                <a:solidFill>
                  <a:srgbClr val="4A4A4A"/>
                </a:solidFill>
                <a:latin typeface="Consolas"/>
              </a:rPr>
              <a:t>Active(chart=general_…)</a:t>
            </a:r>
          </a:p>
        </p:txBody>
      </p:sp>
      <p:sp>
        <p:nvSpPr>
          <p:cNvPr id="62" name="TextBox 61"/>
          <p:cNvSpPr txBox="1"/>
          <p:nvPr/>
        </p:nvSpPr>
        <p:spPr>
          <a:xfrm>
            <a:off x="9048750" y="2438400"/>
            <a:ext cx="2476500" cy="1524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r>
              <a:rPr sz="800" b="1" i="0" lang="en-US">
                <a:solidFill>
                  <a:srgbClr val="6B6B6B"/>
                </a:solidFill>
                <a:latin typeface="Noto Sans"/>
              </a:rPr>
              <a:t>RULE FIRED</a:t>
            </a:r>
          </a:p>
        </p:txBody>
      </p:sp>
      <p:sp>
        <p:nvSpPr>
          <p:cNvPr id="63" name="TextBox 62"/>
          <p:cNvSpPr txBox="1"/>
          <p:nvPr/>
        </p:nvSpPr>
        <p:spPr>
          <a:xfrm>
            <a:off x="9048750" y="2609850"/>
            <a:ext cx="2552700" cy="2286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r>
              <a:rPr sz="1300" b="1" i="0" lang="en-US">
                <a:solidFill>
                  <a:srgbClr val="1A1A1A"/>
                </a:solidFill>
                <a:latin typeface="Consolas"/>
              </a:rPr>
              <a:t>walk</a:t>
            </a:r>
            <a:r>
              <a:rPr sz="950" b="0" i="0" lang="en-US">
                <a:solidFill>
                  <a:srgbClr val="4A4A4A"/>
                </a:solidFill>
                <a:latin typeface="Noto Sans"/>
              </a:rPr>
              <a:t>   salience 0</a:t>
            </a:r>
          </a:p>
        </p:txBody>
      </p:sp>
      <p:sp>
        <p:nvSpPr>
          <p:cNvPr id="64" name="TextBox 63"/>
          <p:cNvSpPr txBox="1"/>
          <p:nvPr/>
        </p:nvSpPr>
        <p:spPr>
          <a:xfrm>
            <a:off x="9048750" y="2914650"/>
            <a:ext cx="2476500" cy="1524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r>
              <a:rPr sz="800" b="1" i="0" lang="en-US">
                <a:solidFill>
                  <a:srgbClr val="6B6B6B"/>
                </a:solidFill>
                <a:latin typeface="Noto Sans"/>
              </a:rPr>
              <a:t>Δ THIS STEP</a:t>
            </a:r>
          </a:p>
        </p:txBody>
      </p:sp>
      <p:sp>
        <p:nvSpPr>
          <p:cNvPr id="65" name="TextBox 64"/>
          <p:cNvSpPr txBox="1"/>
          <p:nvPr/>
        </p:nvSpPr>
        <p:spPr>
          <a:xfrm>
            <a:off x="9048750" y="3086100"/>
            <a:ext cx="2552700" cy="1905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r>
              <a:rPr sz="1100" b="1" i="0" lang="en-US">
                <a:solidFill>
                  <a:srgbClr val="6B6B6B"/>
                </a:solidFill>
                <a:latin typeface="Consolas"/>
              </a:rPr>
              <a:t>− </a:t>
            </a:r>
            <a:r>
              <a:rPr sz="1100" b="0" i="0" lang="en-US" strike="sngStrike">
                <a:solidFill>
                  <a:srgbClr val="6B6B6B"/>
                </a:solidFill>
                <a:latin typeface="Consolas"/>
              </a:rPr>
              <a:t>Position(nid=gen_01)</a:t>
            </a:r>
            <a:r>
              <a:rPr sz="850" b="0" i="0" lang="en-US">
                <a:solidFill>
                  <a:srgbClr val="6B6B6B"/>
                </a:solidFill>
                <a:latin typeface="Noto Sans"/>
              </a:rPr>
              <a:t>  retract</a:t>
            </a:r>
          </a:p>
        </p:txBody>
      </p:sp>
      <p:sp>
        <p:nvSpPr>
          <p:cNvPr id="66" name="TextBox 65"/>
          <p:cNvSpPr txBox="1"/>
          <p:nvPr/>
        </p:nvSpPr>
        <p:spPr>
          <a:xfrm>
            <a:off x="9048750" y="3314700"/>
            <a:ext cx="2552700" cy="1905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r>
              <a:rPr sz="1100" b="1" i="0" lang="en-US">
                <a:solidFill>
                  <a:srgbClr val="CC0000"/>
                </a:solidFill>
                <a:latin typeface="Consolas"/>
              </a:rPr>
              <a:t>+ </a:t>
            </a:r>
            <a:r>
              <a:rPr sz="1100" b="1" i="0" lang="en-US">
                <a:solidFill>
                  <a:srgbClr val="990000"/>
                </a:solidFill>
                <a:latin typeface="Consolas"/>
              </a:rPr>
              <a:t>Position(nid=gen_02)</a:t>
            </a:r>
            <a:r>
              <a:rPr sz="850" b="0" i="0" lang="en-US">
                <a:solidFill>
                  <a:srgbClr val="6B6B6B"/>
                </a:solidFill>
                <a:latin typeface="Noto Sans"/>
              </a:rPr>
              <a:t>  declare</a:t>
            </a:r>
          </a:p>
        </p:txBody>
      </p:sp>
      <p:sp>
        <p:nvSpPr>
          <p:cNvPr id="67" name="TextBox 66"/>
          <p:cNvSpPr txBox="1"/>
          <p:nvPr/>
        </p:nvSpPr>
        <p:spPr>
          <a:xfrm>
            <a:off x="9048750" y="5086350"/>
            <a:ext cx="2476500" cy="1524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r>
              <a:rPr sz="800" b="1" i="0" lang="en-US">
                <a:solidFill>
                  <a:srgbClr val="6B6B6B"/>
                </a:solidFill>
                <a:latin typeface="Noto Sans"/>
              </a:rPr>
              <a:t>ENGINE OUTPUT (VERBATIM)</a:t>
            </a:r>
          </a:p>
        </p:txBody>
      </p:sp>
      <p:sp>
        <p:nvSpPr>
          <p:cNvPr id="68" name="Rounded Rectangle 67"/>
          <p:cNvSpPr/>
          <p:nvPr/>
        </p:nvSpPr>
        <p:spPr>
          <a:xfrm>
            <a:off x="9048750" y="5257800"/>
            <a:ext cx="2552700" cy="800100"/>
          </a:xfrm>
          <a:prstGeom prst="roundRect">
            <a:avLst>
              <a:gd name="adj" fmla="val 6000"/>
            </a:avLst>
          </a:prstGeom>
          <a:solidFill>
            <a:srgbClr val="F5F5F5"/>
          </a:solidFill>
          <a:ln w="15875">
            <a:solidFill>
              <a:srgbClr val="E0E0E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 wrap="square" lIns="114300" rIns="114300" tIns="76200" bIns="76200"/>
          <a:lstStyle/>
          <a:p>
            <a:pPr algn="ctr">
              <a:lnSpc>
                <a:spcPct val="115000"/>
              </a:lnSpc>
            </a:pPr>
            <a:r>
              <a:rPr sz="850" b="0" i="0" lang="en-US">
                <a:solidFill>
                  <a:srgbClr val="4A4A4A"/>
                </a:solidFill>
                <a:latin typeface="Consolas"/>
              </a:rPr>
              <a:t>[gen_02] Scene Evaluation:</a:t>
            </a:r>
          </a:p>
          <a:p>
            <a:pPr>
              <a:lnSpc>
                <a:spcPct val="115000"/>
              </a:lnSpc>
            </a:pPr>
            <a:r>
              <a:rPr sz="850" b="0" i="0" lang="en-US">
                <a:solidFill>
                  <a:srgbClr val="4A4A4A"/>
                </a:solidFill>
                <a:latin typeface="Consolas"/>
              </a:rPr>
              <a:t>mechanism of injury;</a:t>
            </a:r>
          </a:p>
          <a:p>
            <a:pPr>
              <a:lnSpc>
                <a:spcPct val="115000"/>
              </a:lnSpc>
            </a:pPr>
            <a:r>
              <a:rPr sz="850" b="0" i="0" lang="en-US">
                <a:solidFill>
                  <a:srgbClr val="4A4A4A"/>
                </a:solidFill>
                <a:latin typeface="Consolas"/>
              </a:rPr>
              <a:t>environmental factors…  (p.1)</a:t>
            </a:r>
          </a:p>
        </p:txBody>
      </p:sp>
      <p:sp>
        <p:nvSpPr>
          <p:cNvPr id="69" name="TextBox 68"/>
          <p:cNvSpPr txBox="1"/>
          <p:nvPr/>
        </p:nvSpPr>
        <p:spPr>
          <a:xfrm>
            <a:off x="9048750" y="6096000"/>
            <a:ext cx="2552700" cy="2286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r>
              <a:rPr sz="750" b="0" i="0" lang="en-US">
                <a:solidFill>
                  <a:srgbClr val="6B6B6B"/>
                </a:solidFill>
                <a:latin typeface="Noto Sans"/>
              </a:rPr>
              <a:t>real session · presentation/traces/walkthrough_yes_branch_en.txt</a:t>
            </a:r>
          </a:p>
        </p:txBody>
      </p:sp>
      <p:sp>
        <p:nvSpPr>
          <p:cNvPr id="70" name="Rounded Rectangle 69"/>
          <p:cNvSpPr/>
          <p:nvPr/>
        </p:nvSpPr>
        <p:spPr>
          <a:xfrm>
            <a:off x="419100" y="6496050"/>
            <a:ext cx="4953000" cy="247650"/>
          </a:xfrm>
          <a:prstGeom prst="roundRect">
            <a:avLst>
              <a:gd name="adj" fmla="val 50000"/>
            </a:avLst>
          </a:prstGeom>
          <a:solidFill>
            <a:srgbClr val="F5F5F5"/>
          </a:solidFill>
          <a:ln w="15875">
            <a:solidFill>
              <a:srgbClr val="E0E0E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76200" rIns="76200" tIns="38100" bIns="38100"/>
          <a:lstStyle/>
          <a:p>
            <a:pPr algn="ctr"/>
            <a:r>
              <a:rPr sz="900" b="0" i="0" lang="en-US">
                <a:solidFill>
                  <a:srgbClr val="4A4A4A"/>
                </a:solidFill>
                <a:latin typeface="Noto Sans"/>
              </a:rPr>
              <a:t>SARC charts #1 + #10 · data/general_assessment.json · data/hemorrhage.json</a:t>
            </a:r>
          </a:p>
        </p:txBody>
      </p:sp>
      <p:sp>
        <p:nvSpPr>
          <p:cNvPr id="71" name="Oval 70"/>
          <p:cNvSpPr/>
          <p:nvPr/>
        </p:nvSpPr>
        <p:spPr>
          <a:xfrm>
            <a:off x="10001250" y="6572250"/>
            <a:ext cx="76200" cy="76200"/>
          </a:xfrm>
          <a:prstGeom prst="ellipse">
            <a:avLst/>
          </a:prstGeom>
          <a:solidFill>
            <a:srgbClr val="4A4A4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76200" rIns="76200" tIns="38100" bIns="38100"/>
          <a:lstStyle/>
          <a:p>
            <a:pPr algn="ctr"/>
          </a:p>
        </p:txBody>
      </p:sp>
      <p:sp>
        <p:nvSpPr>
          <p:cNvPr id="72" name="Oval 71"/>
          <p:cNvSpPr/>
          <p:nvPr/>
        </p:nvSpPr>
        <p:spPr>
          <a:xfrm>
            <a:off x="10163175" y="6572250"/>
            <a:ext cx="95250" cy="95250"/>
          </a:xfrm>
          <a:prstGeom prst="ellipse">
            <a:avLst/>
          </a:prstGeom>
          <a:solidFill>
            <a:srgbClr val="CC000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76200" rIns="76200" tIns="38100" bIns="38100"/>
          <a:lstStyle/>
          <a:p>
            <a:pPr algn="ctr"/>
          </a:p>
        </p:txBody>
      </p:sp>
      <p:sp>
        <p:nvSpPr>
          <p:cNvPr id="73" name="Oval 72"/>
          <p:cNvSpPr/>
          <p:nvPr/>
        </p:nvSpPr>
        <p:spPr>
          <a:xfrm>
            <a:off x="10325100" y="6572250"/>
            <a:ext cx="76200" cy="76200"/>
          </a:xfrm>
          <a:prstGeom prst="ellipse">
            <a:avLst/>
          </a:prstGeom>
          <a:solidFill>
            <a:srgbClr val="E0E0E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76200" rIns="76200" tIns="38100" bIns="38100"/>
          <a:lstStyle/>
          <a:p>
            <a:pPr algn="ctr"/>
          </a:p>
        </p:txBody>
      </p:sp>
      <p:sp>
        <p:nvSpPr>
          <p:cNvPr id="74" name="Oval 73"/>
          <p:cNvSpPr/>
          <p:nvPr/>
        </p:nvSpPr>
        <p:spPr>
          <a:xfrm>
            <a:off x="10487025" y="6572250"/>
            <a:ext cx="76200" cy="76200"/>
          </a:xfrm>
          <a:prstGeom prst="ellipse">
            <a:avLst/>
          </a:prstGeom>
          <a:solidFill>
            <a:srgbClr val="E0E0E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76200" rIns="76200" tIns="38100" bIns="38100"/>
          <a:lstStyle/>
          <a:p>
            <a:pPr algn="ctr"/>
          </a:p>
        </p:txBody>
      </p:sp>
      <p:sp>
        <p:nvSpPr>
          <p:cNvPr id="75" name="Oval 74"/>
          <p:cNvSpPr/>
          <p:nvPr/>
        </p:nvSpPr>
        <p:spPr>
          <a:xfrm>
            <a:off x="10648950" y="6572250"/>
            <a:ext cx="76200" cy="76200"/>
          </a:xfrm>
          <a:prstGeom prst="ellipse">
            <a:avLst/>
          </a:prstGeom>
          <a:solidFill>
            <a:srgbClr val="E0E0E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76200" rIns="76200" tIns="38100" bIns="38100"/>
          <a:lstStyle/>
          <a:p>
            <a:pPr algn="ctr"/>
          </a:p>
        </p:txBody>
      </p:sp>
      <p:sp>
        <p:nvSpPr>
          <p:cNvPr id="76" name="Oval 75"/>
          <p:cNvSpPr/>
          <p:nvPr/>
        </p:nvSpPr>
        <p:spPr>
          <a:xfrm>
            <a:off x="10810875" y="6572250"/>
            <a:ext cx="76200" cy="76200"/>
          </a:xfrm>
          <a:prstGeom prst="ellipse">
            <a:avLst/>
          </a:prstGeom>
          <a:solidFill>
            <a:srgbClr val="E0E0E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76200" rIns="76200" tIns="38100" bIns="38100"/>
          <a:lstStyle/>
          <a:p>
            <a:pPr algn="ctr"/>
          </a:p>
        </p:txBody>
      </p:sp>
      <p:sp>
        <p:nvSpPr>
          <p:cNvPr id="77" name="Oval 76"/>
          <p:cNvSpPr/>
          <p:nvPr/>
        </p:nvSpPr>
        <p:spPr>
          <a:xfrm>
            <a:off x="10972800" y="6572250"/>
            <a:ext cx="76200" cy="76200"/>
          </a:xfrm>
          <a:prstGeom prst="ellipse">
            <a:avLst/>
          </a:prstGeom>
          <a:solidFill>
            <a:srgbClr val="E0E0E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76200" rIns="76200" tIns="38100" bIns="38100"/>
          <a:lstStyle/>
          <a:p>
            <a:pPr algn="ctr"/>
          </a:p>
        </p:txBody>
      </p:sp>
      <p:sp>
        <p:nvSpPr>
          <p:cNvPr id="78" name="Oval 77"/>
          <p:cNvSpPr/>
          <p:nvPr/>
        </p:nvSpPr>
        <p:spPr>
          <a:xfrm>
            <a:off x="11134725" y="6572250"/>
            <a:ext cx="76200" cy="76200"/>
          </a:xfrm>
          <a:prstGeom prst="ellipse">
            <a:avLst/>
          </a:prstGeom>
          <a:solidFill>
            <a:srgbClr val="E0E0E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76200" rIns="76200" tIns="38100" bIns="38100"/>
          <a:lstStyle/>
          <a:p>
            <a:pPr algn="ctr"/>
          </a:p>
        </p:txBody>
      </p:sp>
      <p:sp>
        <p:nvSpPr>
          <p:cNvPr id="79" name="Oval 78"/>
          <p:cNvSpPr/>
          <p:nvPr/>
        </p:nvSpPr>
        <p:spPr>
          <a:xfrm>
            <a:off x="11296650" y="6572250"/>
            <a:ext cx="76200" cy="76200"/>
          </a:xfrm>
          <a:prstGeom prst="ellipse">
            <a:avLst/>
          </a:prstGeom>
          <a:solidFill>
            <a:srgbClr val="E0E0E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76200" rIns="76200" tIns="38100" bIns="38100"/>
          <a:lstStyle/>
          <a:p>
            <a:pPr algn="ctr"/>
          </a:p>
        </p:txBody>
      </p:sp>
      <p:sp>
        <p:nvSpPr>
          <p:cNvPr id="80" name="Oval 79"/>
          <p:cNvSpPr/>
          <p:nvPr/>
        </p:nvSpPr>
        <p:spPr>
          <a:xfrm>
            <a:off x="11458575" y="6572250"/>
            <a:ext cx="76200" cy="76200"/>
          </a:xfrm>
          <a:prstGeom prst="ellipse">
            <a:avLst/>
          </a:prstGeom>
          <a:solidFill>
            <a:srgbClr val="E0E0E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76200" rIns="76200" tIns="38100" bIns="38100"/>
          <a:lstStyle/>
          <a:p>
            <a:pPr algn="ctr"/>
          </a:p>
        </p:txBody>
      </p:sp>
      <p:sp>
        <p:nvSpPr>
          <p:cNvPr id="81" name="TextBox 80"/>
          <p:cNvSpPr txBox="1"/>
          <p:nvPr/>
        </p:nvSpPr>
        <p:spPr>
          <a:xfrm>
            <a:off x="11239500" y="6610350"/>
            <a:ext cx="762000" cy="1905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r>
              <a:rPr sz="900" b="0" i="0" lang="en-US">
                <a:solidFill>
                  <a:srgbClr val="6B6B6B"/>
                </a:solidFill>
                <a:latin typeface="Noto Sans"/>
              </a:rPr>
              <a:t>14 / 28</a:t>
            </a:r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19100" y="285750"/>
            <a:ext cx="8572500" cy="1905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r>
              <a:rPr sz="1050" b="1" i="0" lang="en-US">
                <a:solidFill>
                  <a:srgbClr val="CC0000"/>
                </a:solidFill>
                <a:latin typeface="Noto Sans"/>
              </a:rPr>
              <a:t>FLOW WALKTHROUGH · STEP 3 OF 10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19100" y="495300"/>
            <a:ext cx="9525000" cy="43815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r>
              <a:rPr sz="2100" b="1" i="0" lang="en-US">
                <a:solidFill>
                  <a:srgbClr val="1A1A1A"/>
                </a:solidFill>
                <a:latin typeface="Noto Sans"/>
              </a:rPr>
              <a:t>That was the Preliminary phase — SSS.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10763250" y="323850"/>
            <a:ext cx="1009650" cy="285750"/>
          </a:xfrm>
          <a:prstGeom prst="roundRect">
            <a:avLst>
              <a:gd name="adj" fmla="val 28000"/>
            </a:avLst>
          </a:prstGeom>
          <a:solidFill>
            <a:srgbClr val="CC000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76200" rIns="76200" tIns="38100" bIns="38100"/>
          <a:lstStyle/>
          <a:p>
            <a:pPr algn="ctr"/>
            <a:r>
              <a:rPr sz="1250" b="1" i="0" lang="en-US">
                <a:solidFill>
                  <a:srgbClr val="FFFFFF"/>
                </a:solidFill>
                <a:latin typeface="Noto Sans"/>
              </a:rPr>
              <a:t>ResQRules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14350" y="1123950"/>
            <a:ext cx="3810000" cy="1524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r>
              <a:rPr sz="850" b="1" i="0" lang="en-US">
                <a:solidFill>
                  <a:srgbClr val="6B6B6B"/>
                </a:solidFill>
                <a:latin typeface="Noto Sans"/>
              </a:rPr>
              <a:t>GENERAL ASSESSMENT — CHART #1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14350" y="2114550"/>
            <a:ext cx="4191000" cy="1524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r>
              <a:rPr sz="850" b="1" i="0" lang="en-US">
                <a:solidFill>
                  <a:srgbClr val="6B6B6B"/>
                </a:solidFill>
                <a:latin typeface="Noto Sans"/>
              </a:rPr>
              <a:t>CATASTROPHIC HEMORRHAGE — CHART #10</a:t>
            </a:r>
          </a:p>
        </p:txBody>
      </p:sp>
      <p:cxnSp>
        <p:nvCxnSpPr>
          <p:cNvPr id="7" name="Connector 6"/>
          <p:cNvCxnSpPr/>
          <p:nvPr/>
        </p:nvCxnSpPr>
        <p:spPr>
          <a:xfrm>
            <a:off x="1733550" y="1571625"/>
            <a:ext cx="171450" cy="0"/>
          </a:xfrm>
          <a:prstGeom prst="line">
            <a:avLst/>
          </a:prstGeom>
          <a:ln w="25400">
            <a:solidFill>
              <a:srgbClr val="4A4A4A"/>
            </a:solidFill>
            <a:tailEnd type="triangle" w="med" len="med"/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8" name="Connector 7"/>
          <p:cNvCxnSpPr/>
          <p:nvPr/>
        </p:nvCxnSpPr>
        <p:spPr>
          <a:xfrm>
            <a:off x="3162300" y="1571625"/>
            <a:ext cx="171450" cy="0"/>
          </a:xfrm>
          <a:prstGeom prst="line">
            <a:avLst/>
          </a:prstGeom>
          <a:ln w="25400">
            <a:solidFill>
              <a:srgbClr val="4A4A4A"/>
            </a:solidFill>
            <a:tailEnd type="triangle" w="med" len="med"/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9" name="Connector 8"/>
          <p:cNvCxnSpPr/>
          <p:nvPr/>
        </p:nvCxnSpPr>
        <p:spPr>
          <a:xfrm>
            <a:off x="4591050" y="1571625"/>
            <a:ext cx="133350" cy="0"/>
          </a:xfrm>
          <a:prstGeom prst="line">
            <a:avLst/>
          </a:prstGeom>
          <a:ln w="31750">
            <a:solidFill>
              <a:srgbClr val="CC0000"/>
            </a:solidFill>
            <a:tailEnd type="triangle" w="med" len="med"/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0" name="Connector 9"/>
          <p:cNvCxnSpPr/>
          <p:nvPr/>
        </p:nvCxnSpPr>
        <p:spPr>
          <a:xfrm>
            <a:off x="6667500" y="1571625"/>
            <a:ext cx="104775" cy="0"/>
          </a:xfrm>
          <a:prstGeom prst="line">
            <a:avLst/>
          </a:prstGeom>
          <a:ln w="19050">
            <a:solidFill>
              <a:srgbClr val="C7C7C7"/>
            </a:solidFill>
            <a:tailEnd type="triangle" w="med" len="med"/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1" name="Connector 10"/>
          <p:cNvCxnSpPr/>
          <p:nvPr/>
        </p:nvCxnSpPr>
        <p:spPr>
          <a:xfrm>
            <a:off x="7524750" y="1866900"/>
            <a:ext cx="0" cy="95250"/>
          </a:xfrm>
          <a:prstGeom prst="line">
            <a:avLst/>
          </a:prstGeom>
          <a:ln w="19050">
            <a:solidFill>
              <a:srgbClr val="C7C7C7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2" name="Connector 11"/>
          <p:cNvCxnSpPr/>
          <p:nvPr/>
        </p:nvCxnSpPr>
        <p:spPr>
          <a:xfrm flipH="1">
            <a:off x="2276475" y="1962150"/>
            <a:ext cx="5248275" cy="0"/>
          </a:xfrm>
          <a:prstGeom prst="line">
            <a:avLst/>
          </a:prstGeom>
          <a:ln w="19050">
            <a:solidFill>
              <a:srgbClr val="C7C7C7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3" name="Connector 12"/>
          <p:cNvCxnSpPr/>
          <p:nvPr/>
        </p:nvCxnSpPr>
        <p:spPr>
          <a:xfrm>
            <a:off x="2276475" y="1962150"/>
            <a:ext cx="0" cy="342900"/>
          </a:xfrm>
          <a:prstGeom prst="line">
            <a:avLst/>
          </a:prstGeom>
          <a:ln w="19050">
            <a:solidFill>
              <a:srgbClr val="C7C7C7"/>
            </a:solidFill>
            <a:tailEnd type="triangle" w="med" len="med"/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4" name="Connector 13"/>
          <p:cNvCxnSpPr/>
          <p:nvPr/>
        </p:nvCxnSpPr>
        <p:spPr>
          <a:xfrm>
            <a:off x="3676650" y="2667000"/>
            <a:ext cx="323850" cy="0"/>
          </a:xfrm>
          <a:prstGeom prst="line">
            <a:avLst/>
          </a:prstGeom>
          <a:ln w="19050">
            <a:solidFill>
              <a:srgbClr val="C7C7C7"/>
            </a:solidFill>
            <a:tailEnd type="triangle" w="med" len="med"/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5" name="Connector 14"/>
          <p:cNvCxnSpPr/>
          <p:nvPr/>
        </p:nvCxnSpPr>
        <p:spPr>
          <a:xfrm>
            <a:off x="4953000" y="2990850"/>
            <a:ext cx="0" cy="276225"/>
          </a:xfrm>
          <a:prstGeom prst="line">
            <a:avLst/>
          </a:prstGeom>
          <a:ln w="19050">
            <a:solidFill>
              <a:srgbClr val="C7C7C7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6" name="Connector 15"/>
          <p:cNvCxnSpPr/>
          <p:nvPr/>
        </p:nvCxnSpPr>
        <p:spPr>
          <a:xfrm flipH="1">
            <a:off x="2276475" y="3267075"/>
            <a:ext cx="2676525" cy="0"/>
          </a:xfrm>
          <a:prstGeom prst="line">
            <a:avLst/>
          </a:prstGeom>
          <a:ln w="19050">
            <a:solidFill>
              <a:srgbClr val="C7C7C7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7" name="Connector 16"/>
          <p:cNvCxnSpPr/>
          <p:nvPr/>
        </p:nvCxnSpPr>
        <p:spPr>
          <a:xfrm>
            <a:off x="2276475" y="3267075"/>
            <a:ext cx="0" cy="180975"/>
          </a:xfrm>
          <a:prstGeom prst="line">
            <a:avLst/>
          </a:prstGeom>
          <a:ln w="19050">
            <a:solidFill>
              <a:srgbClr val="C7C7C7"/>
            </a:solidFill>
            <a:tailEnd type="triangle" w="med" len="med"/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8" name="Connector 17"/>
          <p:cNvCxnSpPr/>
          <p:nvPr/>
        </p:nvCxnSpPr>
        <p:spPr>
          <a:xfrm>
            <a:off x="5905500" y="2667000"/>
            <a:ext cx="285750" cy="0"/>
          </a:xfrm>
          <a:prstGeom prst="line">
            <a:avLst/>
          </a:prstGeom>
          <a:ln w="19050">
            <a:solidFill>
              <a:srgbClr val="C7C7C7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9" name="Connector 18"/>
          <p:cNvCxnSpPr/>
          <p:nvPr/>
        </p:nvCxnSpPr>
        <p:spPr>
          <a:xfrm>
            <a:off x="6191250" y="2667000"/>
            <a:ext cx="0" cy="419100"/>
          </a:xfrm>
          <a:prstGeom prst="line">
            <a:avLst/>
          </a:prstGeom>
          <a:ln w="19050">
            <a:solidFill>
              <a:srgbClr val="C7C7C7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0" name="Connector 19"/>
          <p:cNvCxnSpPr/>
          <p:nvPr/>
        </p:nvCxnSpPr>
        <p:spPr>
          <a:xfrm>
            <a:off x="6191250" y="3086100"/>
            <a:ext cx="190500" cy="0"/>
          </a:xfrm>
          <a:prstGeom prst="line">
            <a:avLst/>
          </a:prstGeom>
          <a:ln w="19050">
            <a:solidFill>
              <a:srgbClr val="C7C7C7"/>
            </a:solidFill>
            <a:tailEnd type="triangle" w="med" len="med"/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1" name="Connector 20"/>
          <p:cNvCxnSpPr/>
          <p:nvPr/>
        </p:nvCxnSpPr>
        <p:spPr>
          <a:xfrm>
            <a:off x="3676650" y="3810000"/>
            <a:ext cx="323850" cy="0"/>
          </a:xfrm>
          <a:prstGeom prst="line">
            <a:avLst/>
          </a:prstGeom>
          <a:ln w="19050">
            <a:solidFill>
              <a:srgbClr val="C7C7C7"/>
            </a:solidFill>
            <a:tailEnd type="triangle" w="med" len="med"/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2" name="Connector 21"/>
          <p:cNvCxnSpPr/>
          <p:nvPr/>
        </p:nvCxnSpPr>
        <p:spPr>
          <a:xfrm>
            <a:off x="4953000" y="4133850"/>
            <a:ext cx="0" cy="276225"/>
          </a:xfrm>
          <a:prstGeom prst="line">
            <a:avLst/>
          </a:prstGeom>
          <a:ln w="19050">
            <a:solidFill>
              <a:srgbClr val="C7C7C7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3" name="Connector 22"/>
          <p:cNvCxnSpPr/>
          <p:nvPr/>
        </p:nvCxnSpPr>
        <p:spPr>
          <a:xfrm flipH="1">
            <a:off x="2276475" y="4410075"/>
            <a:ext cx="2676525" cy="0"/>
          </a:xfrm>
          <a:prstGeom prst="line">
            <a:avLst/>
          </a:prstGeom>
          <a:ln w="19050">
            <a:solidFill>
              <a:srgbClr val="C7C7C7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4" name="Connector 23"/>
          <p:cNvCxnSpPr/>
          <p:nvPr/>
        </p:nvCxnSpPr>
        <p:spPr>
          <a:xfrm>
            <a:off x="2276475" y="4410075"/>
            <a:ext cx="0" cy="180975"/>
          </a:xfrm>
          <a:prstGeom prst="line">
            <a:avLst/>
          </a:prstGeom>
          <a:ln w="19050">
            <a:solidFill>
              <a:srgbClr val="C7C7C7"/>
            </a:solidFill>
            <a:tailEnd type="triangle" w="med" len="med"/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5" name="Connector 24"/>
          <p:cNvCxnSpPr/>
          <p:nvPr/>
        </p:nvCxnSpPr>
        <p:spPr>
          <a:xfrm>
            <a:off x="5905500" y="3810000"/>
            <a:ext cx="285750" cy="0"/>
          </a:xfrm>
          <a:prstGeom prst="line">
            <a:avLst/>
          </a:prstGeom>
          <a:ln w="19050">
            <a:solidFill>
              <a:srgbClr val="C7C7C7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6" name="Connector 25"/>
          <p:cNvCxnSpPr/>
          <p:nvPr/>
        </p:nvCxnSpPr>
        <p:spPr>
          <a:xfrm flipV="1">
            <a:off x="6191250" y="3371850"/>
            <a:ext cx="0" cy="438150"/>
          </a:xfrm>
          <a:prstGeom prst="line">
            <a:avLst/>
          </a:prstGeom>
          <a:ln w="19050">
            <a:solidFill>
              <a:srgbClr val="C7C7C7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7" name="Connector 26"/>
          <p:cNvCxnSpPr/>
          <p:nvPr/>
        </p:nvCxnSpPr>
        <p:spPr>
          <a:xfrm>
            <a:off x="6191250" y="3371850"/>
            <a:ext cx="190500" cy="0"/>
          </a:xfrm>
          <a:prstGeom prst="line">
            <a:avLst/>
          </a:prstGeom>
          <a:ln w="19050">
            <a:solidFill>
              <a:srgbClr val="C7C7C7"/>
            </a:solidFill>
            <a:tailEnd type="triangle" w="med" len="med"/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8" name="Connector 27"/>
          <p:cNvCxnSpPr/>
          <p:nvPr/>
        </p:nvCxnSpPr>
        <p:spPr>
          <a:xfrm>
            <a:off x="3676650" y="4953000"/>
            <a:ext cx="323850" cy="0"/>
          </a:xfrm>
          <a:prstGeom prst="line">
            <a:avLst/>
          </a:prstGeom>
          <a:ln w="19050">
            <a:solidFill>
              <a:srgbClr val="C7C7C7"/>
            </a:solidFill>
            <a:tailEnd type="triangle" w="med" len="med"/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9" name="Connector 28"/>
          <p:cNvCxnSpPr/>
          <p:nvPr/>
        </p:nvCxnSpPr>
        <p:spPr>
          <a:xfrm>
            <a:off x="5905500" y="4953000"/>
            <a:ext cx="457200" cy="0"/>
          </a:xfrm>
          <a:prstGeom prst="line">
            <a:avLst/>
          </a:prstGeom>
          <a:ln w="19050">
            <a:solidFill>
              <a:srgbClr val="C7C7C7"/>
            </a:solidFill>
            <a:tailEnd type="triangle" w="med" len="med"/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0" name="Connector 29"/>
          <p:cNvCxnSpPr/>
          <p:nvPr/>
        </p:nvCxnSpPr>
        <p:spPr>
          <a:xfrm>
            <a:off x="4953000" y="5276850"/>
            <a:ext cx="0" cy="276225"/>
          </a:xfrm>
          <a:prstGeom prst="line">
            <a:avLst/>
          </a:prstGeom>
          <a:ln w="19050">
            <a:solidFill>
              <a:srgbClr val="C7C7C7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1" name="Connector 30"/>
          <p:cNvCxnSpPr/>
          <p:nvPr/>
        </p:nvCxnSpPr>
        <p:spPr>
          <a:xfrm>
            <a:off x="4953000" y="5553075"/>
            <a:ext cx="2228850" cy="0"/>
          </a:xfrm>
          <a:prstGeom prst="line">
            <a:avLst/>
          </a:prstGeom>
          <a:ln w="19050">
            <a:solidFill>
              <a:srgbClr val="C7C7C7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2" name="Connector 31"/>
          <p:cNvCxnSpPr/>
          <p:nvPr/>
        </p:nvCxnSpPr>
        <p:spPr>
          <a:xfrm flipV="1">
            <a:off x="7181850" y="5200650"/>
            <a:ext cx="0" cy="352425"/>
          </a:xfrm>
          <a:prstGeom prst="line">
            <a:avLst/>
          </a:prstGeom>
          <a:ln w="19050">
            <a:solidFill>
              <a:srgbClr val="C7C7C7"/>
            </a:solidFill>
            <a:tailEnd type="triangle" w="med" len="med"/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33" name="Rounded Rectangle 32"/>
          <p:cNvSpPr/>
          <p:nvPr/>
        </p:nvSpPr>
        <p:spPr>
          <a:xfrm>
            <a:off x="514350" y="1371600"/>
            <a:ext cx="1219200" cy="419100"/>
          </a:xfrm>
          <a:prstGeom prst="roundRect">
            <a:avLst>
              <a:gd name="adj" fmla="val 14000"/>
            </a:avLst>
          </a:prstGeom>
          <a:solidFill>
            <a:srgbClr val="FFFFFF"/>
          </a:solidFill>
          <a:ln w="25400">
            <a:solidFill>
              <a:srgbClr val="4A4A4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76200" rIns="76200" tIns="38100" bIns="38100"/>
          <a:lstStyle/>
          <a:p>
            <a:pPr algn="ctr"/>
            <a:r>
              <a:rPr sz="1100" b="1" i="0" lang="en-US">
                <a:solidFill>
                  <a:srgbClr val="1A1A1A"/>
                </a:solidFill>
                <a:latin typeface="Noto Sans"/>
              </a:rPr>
              <a:t>Safety</a:t>
            </a:r>
          </a:p>
          <a:p>
            <a:pPr algn="ctr"/>
            <a:r>
              <a:rPr sz="750" b="0" i="0" lang="en-US">
                <a:solidFill>
                  <a:srgbClr val="6B6B6B"/>
                </a:solidFill>
                <a:latin typeface="Noto Sans"/>
              </a:rPr>
              <a:t>gen_01</a:t>
            </a:r>
          </a:p>
        </p:txBody>
      </p:sp>
      <p:sp>
        <p:nvSpPr>
          <p:cNvPr id="34" name="Rounded Rectangle 33"/>
          <p:cNvSpPr/>
          <p:nvPr/>
        </p:nvSpPr>
        <p:spPr>
          <a:xfrm>
            <a:off x="1905000" y="1371600"/>
            <a:ext cx="1257300" cy="419100"/>
          </a:xfrm>
          <a:prstGeom prst="roundRect">
            <a:avLst>
              <a:gd name="adj" fmla="val 14000"/>
            </a:avLst>
          </a:prstGeom>
          <a:solidFill>
            <a:srgbClr val="FFFFFF"/>
          </a:solidFill>
          <a:ln w="25400">
            <a:solidFill>
              <a:srgbClr val="4A4A4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76200" rIns="76200" tIns="38100" bIns="38100"/>
          <a:lstStyle/>
          <a:p>
            <a:pPr algn="ctr"/>
            <a:r>
              <a:rPr sz="1100" b="1" i="0" lang="en-US">
                <a:solidFill>
                  <a:srgbClr val="1A1A1A"/>
                </a:solidFill>
                <a:latin typeface="Noto Sans"/>
              </a:rPr>
              <a:t>Scene</a:t>
            </a:r>
          </a:p>
          <a:p>
            <a:pPr algn="ctr"/>
            <a:r>
              <a:rPr sz="750" b="0" i="0" lang="en-US">
                <a:solidFill>
                  <a:srgbClr val="6B6B6B"/>
                </a:solidFill>
                <a:latin typeface="Noto Sans"/>
              </a:rPr>
              <a:t>gen_02</a:t>
            </a:r>
          </a:p>
        </p:txBody>
      </p:sp>
      <p:sp>
        <p:nvSpPr>
          <p:cNvPr id="35" name="Rounded Rectangle 34"/>
          <p:cNvSpPr/>
          <p:nvPr/>
        </p:nvSpPr>
        <p:spPr>
          <a:xfrm>
            <a:off x="3333750" y="1371600"/>
            <a:ext cx="1257300" cy="419100"/>
          </a:xfrm>
          <a:prstGeom prst="roundRect">
            <a:avLst>
              <a:gd name="adj" fmla="val 14000"/>
            </a:avLst>
          </a:prstGeom>
          <a:solidFill>
            <a:srgbClr val="FFFFFF"/>
          </a:solidFill>
          <a:ln w="25400">
            <a:solidFill>
              <a:srgbClr val="4A4A4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76200" rIns="76200" tIns="38100" bIns="38100"/>
          <a:lstStyle/>
          <a:p>
            <a:pPr algn="ctr"/>
            <a:r>
              <a:rPr sz="1100" b="1" i="0" lang="en-US">
                <a:solidFill>
                  <a:srgbClr val="1A1A1A"/>
                </a:solidFill>
                <a:latin typeface="Noto Sans"/>
              </a:rPr>
              <a:t>Situation</a:t>
            </a:r>
          </a:p>
          <a:p>
            <a:pPr algn="ctr"/>
            <a:r>
              <a:rPr sz="750" b="0" i="0" lang="en-US">
                <a:solidFill>
                  <a:srgbClr val="6B6B6B"/>
                </a:solidFill>
                <a:latin typeface="Noto Sans"/>
              </a:rPr>
              <a:t>gen_03</a:t>
            </a:r>
          </a:p>
        </p:txBody>
      </p:sp>
      <p:sp>
        <p:nvSpPr>
          <p:cNvPr id="36" name="Rounded Rectangle 35"/>
          <p:cNvSpPr/>
          <p:nvPr/>
        </p:nvSpPr>
        <p:spPr>
          <a:xfrm>
            <a:off x="4762500" y="1314450"/>
            <a:ext cx="1866900" cy="533400"/>
          </a:xfrm>
          <a:prstGeom prst="roundRect">
            <a:avLst>
              <a:gd name="adj" fmla="val 14000"/>
            </a:avLst>
          </a:prstGeom>
          <a:solidFill>
            <a:srgbClr val="FFEAEA"/>
          </a:solidFill>
          <a:ln w="31750">
            <a:solidFill>
              <a:srgbClr val="CC000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76200" rIns="76200" tIns="38100" bIns="38100"/>
          <a:lstStyle/>
          <a:p>
            <a:pPr algn="ctr"/>
            <a:r>
              <a:rPr sz="1100" b="1" i="0" lang="en-US">
                <a:solidFill>
                  <a:srgbClr val="1A1A1A"/>
                </a:solidFill>
                <a:latin typeface="Noto Sans"/>
              </a:rPr>
              <a:t>◇ Life-threatening bleeding?</a:t>
            </a:r>
          </a:p>
          <a:p>
            <a:pPr algn="ctr"/>
            <a:r>
              <a:rPr sz="750" b="0" i="0" lang="en-US">
                <a:solidFill>
                  <a:srgbClr val="6B6B6B"/>
                </a:solidFill>
                <a:latin typeface="Noto Sans"/>
              </a:rPr>
              <a:t>gen_04</a:t>
            </a:r>
          </a:p>
        </p:txBody>
      </p:sp>
      <p:sp>
        <p:nvSpPr>
          <p:cNvPr id="37" name="Rounded Rectangle 36"/>
          <p:cNvSpPr/>
          <p:nvPr/>
        </p:nvSpPr>
        <p:spPr>
          <a:xfrm>
            <a:off x="6819900" y="1352550"/>
            <a:ext cx="1409700" cy="495300"/>
          </a:xfrm>
          <a:prstGeom prst="roundRect">
            <a:avLst>
              <a:gd name="adj" fmla="val 14000"/>
            </a:avLst>
          </a:prstGeom>
          <a:solidFill>
            <a:srgbClr val="FFFFFF"/>
          </a:solidFill>
          <a:ln w="19050">
            <a:solidFill>
              <a:srgbClr val="E0E0E0"/>
            </a:solidFill>
            <a:prstDash val="dash"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76200" rIns="76200" tIns="38100" bIns="38100"/>
          <a:lstStyle/>
          <a:p>
            <a:pPr algn="ctr"/>
            <a:r>
              <a:rPr sz="1100" b="0" i="0" lang="en-US">
                <a:solidFill>
                  <a:srgbClr val="6B6B6B"/>
                </a:solidFill>
                <a:latin typeface="Noto Sans"/>
              </a:rPr>
              <a:t>⇢ Hemorrhage</a:t>
            </a:r>
          </a:p>
          <a:p>
            <a:pPr algn="ctr"/>
            <a:r>
              <a:rPr sz="750" b="0" i="0" lang="en-US">
                <a:solidFill>
                  <a:srgbClr val="6B6B6B"/>
                </a:solidFill>
                <a:latin typeface="Noto Sans"/>
              </a:rPr>
              <a:t>gen_05 · jump</a:t>
            </a:r>
          </a:p>
        </p:txBody>
      </p:sp>
      <p:sp>
        <p:nvSpPr>
          <p:cNvPr id="38" name="Rounded Rectangle 37"/>
          <p:cNvSpPr/>
          <p:nvPr/>
        </p:nvSpPr>
        <p:spPr>
          <a:xfrm>
            <a:off x="895350" y="2362200"/>
            <a:ext cx="2781300" cy="609600"/>
          </a:xfrm>
          <a:prstGeom prst="roundRect">
            <a:avLst>
              <a:gd name="adj" fmla="val 14000"/>
            </a:avLst>
          </a:prstGeom>
          <a:solidFill>
            <a:srgbClr val="FFFFFF"/>
          </a:solidFill>
          <a:ln w="19050">
            <a:solidFill>
              <a:srgbClr val="E0E0E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76200" rIns="76200" tIns="38100" bIns="38100"/>
          <a:lstStyle/>
          <a:p>
            <a:pPr algn="ctr"/>
            <a:r>
              <a:rPr sz="1100" b="0" i="0" lang="en-US">
                <a:solidFill>
                  <a:srgbClr val="6B6B6B"/>
                </a:solidFill>
                <a:latin typeface="Noto Sans"/>
              </a:rPr>
              <a:t>Direct pressure · compression dressing</a:t>
            </a:r>
          </a:p>
          <a:p>
            <a:pPr algn="ctr"/>
            <a:r>
              <a:rPr sz="750" b="0" i="0" lang="en-US">
                <a:solidFill>
                  <a:srgbClr val="6B6B6B"/>
                </a:solidFill>
                <a:latin typeface="Noto Sans"/>
              </a:rPr>
              <a:t>hem_01</a:t>
            </a:r>
          </a:p>
        </p:txBody>
      </p:sp>
      <p:sp>
        <p:nvSpPr>
          <p:cNvPr id="39" name="Rounded Rectangle 38"/>
          <p:cNvSpPr/>
          <p:nvPr/>
        </p:nvSpPr>
        <p:spPr>
          <a:xfrm>
            <a:off x="4038600" y="2381250"/>
            <a:ext cx="1866900" cy="571500"/>
          </a:xfrm>
          <a:prstGeom prst="roundRect">
            <a:avLst>
              <a:gd name="adj" fmla="val 14000"/>
            </a:avLst>
          </a:prstGeom>
          <a:solidFill>
            <a:srgbClr val="FFFFFF"/>
          </a:solidFill>
          <a:ln w="19050">
            <a:solidFill>
              <a:srgbClr val="E0E0E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76200" rIns="76200" tIns="38100" bIns="38100"/>
          <a:lstStyle/>
          <a:p>
            <a:pPr algn="ctr"/>
            <a:r>
              <a:rPr sz="1100" b="0" i="0" lang="en-US">
                <a:solidFill>
                  <a:srgbClr val="6B6B6B"/>
                </a:solidFill>
                <a:latin typeface="Noto Sans"/>
              </a:rPr>
              <a:t>◇ Active bleeding?</a:t>
            </a:r>
          </a:p>
          <a:p>
            <a:pPr algn="ctr"/>
            <a:r>
              <a:rPr sz="750" b="0" i="0" lang="en-US">
                <a:solidFill>
                  <a:srgbClr val="6B6B6B"/>
                </a:solidFill>
                <a:latin typeface="Noto Sans"/>
              </a:rPr>
              <a:t>hem_02</a:t>
            </a:r>
          </a:p>
        </p:txBody>
      </p:sp>
      <p:sp>
        <p:nvSpPr>
          <p:cNvPr id="40" name="Rounded Rectangle 39"/>
          <p:cNvSpPr/>
          <p:nvPr/>
        </p:nvSpPr>
        <p:spPr>
          <a:xfrm>
            <a:off x="895350" y="3505200"/>
            <a:ext cx="2781300" cy="609600"/>
          </a:xfrm>
          <a:prstGeom prst="roundRect">
            <a:avLst>
              <a:gd name="adj" fmla="val 14000"/>
            </a:avLst>
          </a:prstGeom>
          <a:solidFill>
            <a:srgbClr val="FFFFFF"/>
          </a:solidFill>
          <a:ln w="19050">
            <a:solidFill>
              <a:srgbClr val="E0E0E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76200" rIns="76200" tIns="38100" bIns="38100"/>
          <a:lstStyle/>
          <a:p>
            <a:pPr algn="ctr"/>
            <a:r>
              <a:rPr sz="1100" b="0" i="0" lang="en-US">
                <a:solidFill>
                  <a:srgbClr val="6B6B6B"/>
                </a:solidFill>
                <a:latin typeface="Noto Sans"/>
              </a:rPr>
              <a:t>Second compression bandage</a:t>
            </a:r>
          </a:p>
          <a:p>
            <a:pPr algn="ctr"/>
            <a:r>
              <a:rPr sz="750" b="0" i="0" lang="en-US">
                <a:solidFill>
                  <a:srgbClr val="6B6B6B"/>
                </a:solidFill>
                <a:latin typeface="Noto Sans"/>
              </a:rPr>
              <a:t>hem_03 · TIER 2</a:t>
            </a:r>
          </a:p>
        </p:txBody>
      </p:sp>
      <p:sp>
        <p:nvSpPr>
          <p:cNvPr id="41" name="Rounded Rectangle 40"/>
          <p:cNvSpPr/>
          <p:nvPr/>
        </p:nvSpPr>
        <p:spPr>
          <a:xfrm>
            <a:off x="4038600" y="3524250"/>
            <a:ext cx="1866900" cy="571500"/>
          </a:xfrm>
          <a:prstGeom prst="roundRect">
            <a:avLst>
              <a:gd name="adj" fmla="val 14000"/>
            </a:avLst>
          </a:prstGeom>
          <a:solidFill>
            <a:srgbClr val="FFFFFF"/>
          </a:solidFill>
          <a:ln w="19050">
            <a:solidFill>
              <a:srgbClr val="E0E0E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76200" rIns="76200" tIns="38100" bIns="38100"/>
          <a:lstStyle/>
          <a:p>
            <a:pPr algn="ctr"/>
            <a:r>
              <a:rPr sz="1100" b="0" i="0" lang="en-US">
                <a:solidFill>
                  <a:srgbClr val="6B6B6B"/>
                </a:solidFill>
                <a:latin typeface="Noto Sans"/>
              </a:rPr>
              <a:t>◇ Active bleeding?</a:t>
            </a:r>
          </a:p>
          <a:p>
            <a:pPr algn="ctr"/>
            <a:r>
              <a:rPr sz="750" b="0" i="0" lang="en-US">
                <a:solidFill>
                  <a:srgbClr val="6B6B6B"/>
                </a:solidFill>
                <a:latin typeface="Noto Sans"/>
              </a:rPr>
              <a:t>hem_04</a:t>
            </a:r>
          </a:p>
        </p:txBody>
      </p:sp>
      <p:sp>
        <p:nvSpPr>
          <p:cNvPr id="42" name="Rounded Rectangle 41"/>
          <p:cNvSpPr/>
          <p:nvPr/>
        </p:nvSpPr>
        <p:spPr>
          <a:xfrm>
            <a:off x="895350" y="4648200"/>
            <a:ext cx="2781300" cy="609600"/>
          </a:xfrm>
          <a:prstGeom prst="roundRect">
            <a:avLst>
              <a:gd name="adj" fmla="val 14000"/>
            </a:avLst>
          </a:prstGeom>
          <a:solidFill>
            <a:srgbClr val="FFFFFF"/>
          </a:solidFill>
          <a:ln w="19050">
            <a:solidFill>
              <a:srgbClr val="E0E0E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76200" rIns="76200" tIns="38100" bIns="38100"/>
          <a:lstStyle/>
          <a:p>
            <a:pPr algn="ctr"/>
            <a:r>
              <a:rPr sz="1100" b="0" i="0" lang="en-US">
                <a:solidFill>
                  <a:srgbClr val="6B6B6B"/>
                </a:solidFill>
                <a:latin typeface="Noto Sans"/>
              </a:rPr>
              <a:t>Tourniquet — one palm above wound</a:t>
            </a:r>
          </a:p>
          <a:p>
            <a:pPr algn="ctr"/>
            <a:r>
              <a:rPr sz="750" b="0" i="0" lang="en-US">
                <a:solidFill>
                  <a:srgbClr val="6B6B6B"/>
                </a:solidFill>
                <a:latin typeface="Noto Sans"/>
              </a:rPr>
              <a:t>hem_05 · terminal</a:t>
            </a:r>
          </a:p>
        </p:txBody>
      </p:sp>
      <p:sp>
        <p:nvSpPr>
          <p:cNvPr id="43" name="Rounded Rectangle 42"/>
          <p:cNvSpPr/>
          <p:nvPr/>
        </p:nvSpPr>
        <p:spPr>
          <a:xfrm>
            <a:off x="4038600" y="4667250"/>
            <a:ext cx="1866900" cy="571500"/>
          </a:xfrm>
          <a:prstGeom prst="roundRect">
            <a:avLst>
              <a:gd name="adj" fmla="val 14000"/>
            </a:avLst>
          </a:prstGeom>
          <a:solidFill>
            <a:srgbClr val="FFFFFF"/>
          </a:solidFill>
          <a:ln w="19050">
            <a:solidFill>
              <a:srgbClr val="E0E0E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76200" rIns="76200" tIns="38100" bIns="38100"/>
          <a:lstStyle/>
          <a:p>
            <a:pPr algn="ctr"/>
            <a:r>
              <a:rPr sz="1100" b="0" i="0" lang="en-US">
                <a:solidFill>
                  <a:srgbClr val="6B6B6B"/>
                </a:solidFill>
                <a:latin typeface="Noto Sans"/>
              </a:rPr>
              <a:t>◇ Active bleeding?</a:t>
            </a:r>
          </a:p>
          <a:p>
            <a:pPr algn="ctr"/>
            <a:r>
              <a:rPr sz="750" b="0" i="0" lang="en-US">
                <a:solidFill>
                  <a:srgbClr val="6B6B6B"/>
                </a:solidFill>
                <a:latin typeface="Noto Sans"/>
              </a:rPr>
              <a:t>hem_06</a:t>
            </a:r>
          </a:p>
        </p:txBody>
      </p:sp>
      <p:sp>
        <p:nvSpPr>
          <p:cNvPr id="44" name="Rounded Rectangle 43"/>
          <p:cNvSpPr/>
          <p:nvPr/>
        </p:nvSpPr>
        <p:spPr>
          <a:xfrm>
            <a:off x="6381750" y="2895600"/>
            <a:ext cx="2133600" cy="476250"/>
          </a:xfrm>
          <a:prstGeom prst="roundRect">
            <a:avLst>
              <a:gd name="adj" fmla="val 50000"/>
            </a:avLst>
          </a:prstGeom>
          <a:solidFill>
            <a:srgbClr val="FFFFFF"/>
          </a:solidFill>
          <a:ln w="19050">
            <a:solidFill>
              <a:srgbClr val="E0E0E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76200" rIns="76200" tIns="38100" bIns="38100"/>
          <a:lstStyle/>
          <a:p>
            <a:pPr algn="ctr"/>
            <a:r>
              <a:rPr sz="1100" b="0" i="0" lang="en-US">
                <a:solidFill>
                  <a:srgbClr val="6B6B6B"/>
                </a:solidFill>
                <a:latin typeface="Noto Sans"/>
              </a:rPr>
              <a:t>Transport to health center</a:t>
            </a:r>
          </a:p>
          <a:p>
            <a:pPr algn="ctr"/>
            <a:r>
              <a:rPr sz="750" b="0" i="0" lang="en-US">
                <a:solidFill>
                  <a:srgbClr val="6B6B6B"/>
                </a:solidFill>
                <a:latin typeface="Noto Sans"/>
              </a:rPr>
              <a:t>hem_08</a:t>
            </a:r>
          </a:p>
        </p:txBody>
      </p:sp>
      <p:sp>
        <p:nvSpPr>
          <p:cNvPr id="45" name="Rounded Rectangle 44"/>
          <p:cNvSpPr/>
          <p:nvPr/>
        </p:nvSpPr>
        <p:spPr>
          <a:xfrm>
            <a:off x="6381750" y="4724400"/>
            <a:ext cx="2133600" cy="476250"/>
          </a:xfrm>
          <a:prstGeom prst="roundRect">
            <a:avLst>
              <a:gd name="adj" fmla="val 50000"/>
            </a:avLst>
          </a:prstGeom>
          <a:solidFill>
            <a:srgbClr val="FFFFFF"/>
          </a:solidFill>
          <a:ln w="19050">
            <a:solidFill>
              <a:srgbClr val="E0E0E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76200" rIns="76200" tIns="38100" bIns="38100"/>
          <a:lstStyle/>
          <a:p>
            <a:pPr algn="ctr"/>
            <a:r>
              <a:rPr sz="1100" b="0" i="0" lang="en-US">
                <a:solidFill>
                  <a:srgbClr val="6B6B6B"/>
                </a:solidFill>
                <a:latin typeface="Noto Sans"/>
              </a:rPr>
              <a:t>URGENT transport</a:t>
            </a:r>
          </a:p>
          <a:p>
            <a:pPr algn="ctr"/>
            <a:r>
              <a:rPr sz="750" b="0" i="0" lang="en-US">
                <a:solidFill>
                  <a:srgbClr val="6B6B6B"/>
                </a:solidFill>
                <a:latin typeface="Noto Sans"/>
              </a:rPr>
              <a:t>hem_07</a:t>
            </a:r>
          </a:p>
        </p:txBody>
      </p:sp>
      <p:sp>
        <p:nvSpPr>
          <p:cNvPr id="46" name="Oval 45"/>
          <p:cNvSpPr/>
          <p:nvPr/>
        </p:nvSpPr>
        <p:spPr>
          <a:xfrm>
            <a:off x="514350" y="2533650"/>
            <a:ext cx="266700" cy="266700"/>
          </a:xfrm>
          <a:prstGeom prst="ellipse">
            <a:avLst/>
          </a:prstGeom>
          <a:solidFill>
            <a:srgbClr val="F5F5F5"/>
          </a:solidFill>
          <a:ln w="19050">
            <a:solidFill>
              <a:srgbClr val="E0E0E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76200" rIns="76200" tIns="38100" bIns="38100"/>
          <a:lstStyle/>
          <a:p>
            <a:pPr algn="ctr"/>
            <a:r>
              <a:rPr sz="1100" b="1" i="0" lang="en-US">
                <a:solidFill>
                  <a:srgbClr val="4A4A4A"/>
                </a:solidFill>
                <a:latin typeface="Noto Sans"/>
              </a:rPr>
              <a:t>1</a:t>
            </a:r>
          </a:p>
        </p:txBody>
      </p:sp>
      <p:sp>
        <p:nvSpPr>
          <p:cNvPr id="47" name="Oval 46"/>
          <p:cNvSpPr/>
          <p:nvPr/>
        </p:nvSpPr>
        <p:spPr>
          <a:xfrm>
            <a:off x="514350" y="3676650"/>
            <a:ext cx="266700" cy="266700"/>
          </a:xfrm>
          <a:prstGeom prst="ellipse">
            <a:avLst/>
          </a:prstGeom>
          <a:solidFill>
            <a:srgbClr val="F5F5F5"/>
          </a:solidFill>
          <a:ln w="19050">
            <a:solidFill>
              <a:srgbClr val="E0E0E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76200" rIns="76200" tIns="38100" bIns="38100"/>
          <a:lstStyle/>
          <a:p>
            <a:pPr algn="ctr"/>
            <a:r>
              <a:rPr sz="1100" b="1" i="0" lang="en-US">
                <a:solidFill>
                  <a:srgbClr val="4A4A4A"/>
                </a:solidFill>
                <a:latin typeface="Noto Sans"/>
              </a:rPr>
              <a:t>2</a:t>
            </a:r>
          </a:p>
        </p:txBody>
      </p:sp>
      <p:sp>
        <p:nvSpPr>
          <p:cNvPr id="48" name="Oval 47"/>
          <p:cNvSpPr/>
          <p:nvPr/>
        </p:nvSpPr>
        <p:spPr>
          <a:xfrm>
            <a:off x="514350" y="4819650"/>
            <a:ext cx="266700" cy="266700"/>
          </a:xfrm>
          <a:prstGeom prst="ellipse">
            <a:avLst/>
          </a:prstGeom>
          <a:solidFill>
            <a:srgbClr val="F5F5F5"/>
          </a:solidFill>
          <a:ln w="19050">
            <a:solidFill>
              <a:srgbClr val="E0E0E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76200" rIns="76200" tIns="38100" bIns="38100"/>
          <a:lstStyle/>
          <a:p>
            <a:pPr algn="ctr"/>
            <a:r>
              <a:rPr sz="1100" b="1" i="0" lang="en-US">
                <a:solidFill>
                  <a:srgbClr val="4A4A4A"/>
                </a:solidFill>
                <a:latin typeface="Noto Sans"/>
              </a:rPr>
              <a:t>3</a:t>
            </a:r>
          </a:p>
        </p:txBody>
      </p:sp>
      <p:sp>
        <p:nvSpPr>
          <p:cNvPr id="49" name="Rounded Rectangle 48"/>
          <p:cNvSpPr/>
          <p:nvPr/>
        </p:nvSpPr>
        <p:spPr>
          <a:xfrm>
            <a:off x="3467100" y="1847850"/>
            <a:ext cx="3143250" cy="228600"/>
          </a:xfrm>
          <a:prstGeom prst="roundRect">
            <a:avLst>
              <a:gd name="adj" fmla="val 40000"/>
            </a:avLst>
          </a:prstGeom>
          <a:solidFill>
            <a:srgbClr val="FFFFFF"/>
          </a:solidFill>
          <a:ln w="15875">
            <a:solidFill>
              <a:srgbClr val="C7C7C7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76200" rIns="76200" tIns="38100" bIns="38100"/>
          <a:lstStyle/>
          <a:p>
            <a:pPr algn="ctr"/>
            <a:r>
              <a:rPr sz="900" b="1" i="0" lang="en-US">
                <a:solidFill>
                  <a:srgbClr val="C7C7C7"/>
                </a:solidFill>
                <a:latin typeface="Noto Sans"/>
              </a:rPr>
              <a:t>yes →  &gt;&gt; JUMP to chart 'hemorrhage' &lt;&lt;</a:t>
            </a:r>
          </a:p>
        </p:txBody>
      </p:sp>
      <p:sp>
        <p:nvSpPr>
          <p:cNvPr id="50" name="Rounded Rectangle 49"/>
          <p:cNvSpPr/>
          <p:nvPr/>
        </p:nvSpPr>
        <p:spPr>
          <a:xfrm>
            <a:off x="2895600" y="3143250"/>
            <a:ext cx="1619250" cy="228600"/>
          </a:xfrm>
          <a:prstGeom prst="roundRect">
            <a:avLst>
              <a:gd name="adj" fmla="val 40000"/>
            </a:avLst>
          </a:prstGeom>
          <a:solidFill>
            <a:srgbClr val="FFFFFF"/>
          </a:solidFill>
          <a:ln w="15875">
            <a:solidFill>
              <a:srgbClr val="E5A3A3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76200" rIns="76200" tIns="38100" bIns="38100"/>
          <a:lstStyle/>
          <a:p>
            <a:pPr algn="ctr"/>
            <a:r>
              <a:rPr sz="900" b="1" i="0" lang="en-US">
                <a:solidFill>
                  <a:srgbClr val="E5A3A3"/>
                </a:solidFill>
                <a:latin typeface="Noto Sans"/>
              </a:rPr>
              <a:t>yes — still bleeding</a:t>
            </a:r>
          </a:p>
        </p:txBody>
      </p:sp>
      <p:sp>
        <p:nvSpPr>
          <p:cNvPr id="51" name="Rounded Rectangle 50"/>
          <p:cNvSpPr/>
          <p:nvPr/>
        </p:nvSpPr>
        <p:spPr>
          <a:xfrm>
            <a:off x="2895600" y="4286250"/>
            <a:ext cx="1619250" cy="228600"/>
          </a:xfrm>
          <a:prstGeom prst="roundRect">
            <a:avLst>
              <a:gd name="adj" fmla="val 40000"/>
            </a:avLst>
          </a:prstGeom>
          <a:solidFill>
            <a:srgbClr val="FFFFFF"/>
          </a:solidFill>
          <a:ln w="15875">
            <a:solidFill>
              <a:srgbClr val="E5A3A3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76200" rIns="76200" tIns="38100" bIns="38100"/>
          <a:lstStyle/>
          <a:p>
            <a:pPr algn="ctr"/>
            <a:r>
              <a:rPr sz="900" b="1" i="0" lang="en-US">
                <a:solidFill>
                  <a:srgbClr val="E5A3A3"/>
                </a:solidFill>
                <a:latin typeface="Noto Sans"/>
              </a:rPr>
              <a:t>yes — still bleeding</a:t>
            </a:r>
          </a:p>
        </p:txBody>
      </p:sp>
      <p:sp>
        <p:nvSpPr>
          <p:cNvPr id="52" name="Rounded Rectangle 51"/>
          <p:cNvSpPr/>
          <p:nvPr/>
        </p:nvSpPr>
        <p:spPr>
          <a:xfrm>
            <a:off x="6191250" y="2247900"/>
            <a:ext cx="1428750" cy="228600"/>
          </a:xfrm>
          <a:prstGeom prst="roundRect">
            <a:avLst>
              <a:gd name="adj" fmla="val 40000"/>
            </a:avLst>
          </a:prstGeom>
          <a:solidFill>
            <a:srgbClr val="FFFFFF"/>
          </a:solidFill>
          <a:ln w="15875">
            <a:solidFill>
              <a:srgbClr val="A9C9B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76200" rIns="76200" tIns="38100" bIns="38100"/>
          <a:lstStyle/>
          <a:p>
            <a:pPr algn="ctr"/>
            <a:r>
              <a:rPr sz="900" b="1" i="0" lang="en-US">
                <a:solidFill>
                  <a:srgbClr val="A9C9BA"/>
                </a:solidFill>
                <a:latin typeface="Noto Sans"/>
              </a:rPr>
              <a:t>✓ no — controlled</a:t>
            </a:r>
          </a:p>
        </p:txBody>
      </p:sp>
      <p:sp>
        <p:nvSpPr>
          <p:cNvPr id="53" name="Rounded Rectangle 52"/>
          <p:cNvSpPr/>
          <p:nvPr/>
        </p:nvSpPr>
        <p:spPr>
          <a:xfrm>
            <a:off x="6191250" y="3962400"/>
            <a:ext cx="1428750" cy="228600"/>
          </a:xfrm>
          <a:prstGeom prst="roundRect">
            <a:avLst>
              <a:gd name="adj" fmla="val 40000"/>
            </a:avLst>
          </a:prstGeom>
          <a:solidFill>
            <a:srgbClr val="FFFFFF"/>
          </a:solidFill>
          <a:ln w="15875">
            <a:solidFill>
              <a:srgbClr val="A9C9B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76200" rIns="76200" tIns="38100" bIns="38100"/>
          <a:lstStyle/>
          <a:p>
            <a:pPr algn="ctr"/>
            <a:r>
              <a:rPr sz="900" b="1" i="0" lang="en-US">
                <a:solidFill>
                  <a:srgbClr val="A9C9BA"/>
                </a:solidFill>
                <a:latin typeface="Noto Sans"/>
              </a:rPr>
              <a:t>✓ no — controlled</a:t>
            </a:r>
          </a:p>
        </p:txBody>
      </p:sp>
      <p:sp>
        <p:nvSpPr>
          <p:cNvPr id="54" name="Rounded Rectangle 53"/>
          <p:cNvSpPr/>
          <p:nvPr/>
        </p:nvSpPr>
        <p:spPr>
          <a:xfrm>
            <a:off x="5962650" y="5181600"/>
            <a:ext cx="628650" cy="209550"/>
          </a:xfrm>
          <a:prstGeom prst="roundRect">
            <a:avLst>
              <a:gd name="adj" fmla="val 40000"/>
            </a:avLst>
          </a:prstGeom>
          <a:solidFill>
            <a:srgbClr val="FFFFFF"/>
          </a:solidFill>
          <a:ln w="15875">
            <a:solidFill>
              <a:srgbClr val="A9C9B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76200" rIns="76200" tIns="38100" bIns="38100"/>
          <a:lstStyle/>
          <a:p>
            <a:pPr algn="ctr"/>
            <a:r>
              <a:rPr sz="900" b="1" i="0" lang="en-US">
                <a:solidFill>
                  <a:srgbClr val="A9C9BA"/>
                </a:solidFill>
                <a:latin typeface="Noto Sans"/>
              </a:rPr>
              <a:t>✓ no</a:t>
            </a:r>
          </a:p>
        </p:txBody>
      </p:sp>
      <p:sp>
        <p:nvSpPr>
          <p:cNvPr id="55" name="Rounded Rectangle 54"/>
          <p:cNvSpPr/>
          <p:nvPr/>
        </p:nvSpPr>
        <p:spPr>
          <a:xfrm>
            <a:off x="2381250" y="5429250"/>
            <a:ext cx="4095750" cy="228600"/>
          </a:xfrm>
          <a:prstGeom prst="roundRect">
            <a:avLst>
              <a:gd name="adj" fmla="val 40000"/>
            </a:avLst>
          </a:prstGeom>
          <a:solidFill>
            <a:srgbClr val="FFFFFF"/>
          </a:solidFill>
          <a:ln w="15875">
            <a:solidFill>
              <a:srgbClr val="E3C29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76200" rIns="76200" tIns="38100" bIns="38100"/>
          <a:lstStyle/>
          <a:p>
            <a:pPr algn="ctr"/>
            <a:r>
              <a:rPr sz="900" b="1" i="0" lang="en-US">
                <a:solidFill>
                  <a:srgbClr val="E3C29E"/>
                </a:solidFill>
                <a:latin typeface="Noto Sans"/>
              </a:rPr>
              <a:t>⚠ yes at terminal tier → HOLD, no tier 4 (flagged divergence)</a:t>
            </a:r>
          </a:p>
        </p:txBody>
      </p:sp>
      <p:sp>
        <p:nvSpPr>
          <p:cNvPr id="56" name="Rounded Rectangle 55"/>
          <p:cNvSpPr/>
          <p:nvPr/>
        </p:nvSpPr>
        <p:spPr>
          <a:xfrm>
            <a:off x="8877300" y="1123950"/>
            <a:ext cx="2895600" cy="5257800"/>
          </a:xfrm>
          <a:prstGeom prst="roundRect">
            <a:avLst>
              <a:gd name="adj" fmla="val 5000"/>
            </a:avLst>
          </a:prstGeom>
          <a:solidFill>
            <a:srgbClr val="FFFFFF"/>
          </a:solidFill>
          <a:ln w="19050">
            <a:solidFill>
              <a:srgbClr val="E0E0E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76200" rIns="76200" tIns="38100" bIns="38100"/>
          <a:lstStyle/>
          <a:p>
            <a:pPr algn="ctr"/>
          </a:p>
        </p:txBody>
      </p:sp>
      <p:sp>
        <p:nvSpPr>
          <p:cNvPr id="57" name="TextBox 56"/>
          <p:cNvSpPr txBox="1"/>
          <p:nvPr/>
        </p:nvSpPr>
        <p:spPr>
          <a:xfrm>
            <a:off x="9048750" y="1257300"/>
            <a:ext cx="2476500" cy="1905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r>
              <a:rPr sz="1000" b="1" i="0" lang="en-US">
                <a:solidFill>
                  <a:srgbClr val="1A1A1A"/>
                </a:solidFill>
                <a:latin typeface="Noto Sans"/>
              </a:rPr>
              <a:t>ENGINE STATE</a:t>
            </a:r>
          </a:p>
        </p:txBody>
      </p:sp>
      <p:cxnSp>
        <p:nvCxnSpPr>
          <p:cNvPr id="58" name="Connector 57"/>
          <p:cNvCxnSpPr/>
          <p:nvPr/>
        </p:nvCxnSpPr>
        <p:spPr>
          <a:xfrm>
            <a:off x="9048750" y="1485900"/>
            <a:ext cx="2552700" cy="0"/>
          </a:xfrm>
          <a:prstGeom prst="line">
            <a:avLst/>
          </a:prstGeom>
          <a:ln w="12700">
            <a:solidFill>
              <a:srgbClr val="E0E0E0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59" name="TextBox 58"/>
          <p:cNvSpPr txBox="1"/>
          <p:nvPr/>
        </p:nvSpPr>
        <p:spPr>
          <a:xfrm>
            <a:off x="9048750" y="1581150"/>
            <a:ext cx="2476500" cy="1524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r>
              <a:rPr sz="800" b="1" i="0" lang="en-US">
                <a:solidFill>
                  <a:srgbClr val="6B6B6B"/>
                </a:solidFill>
                <a:latin typeface="Noto Sans"/>
              </a:rPr>
              <a:t>WORKING MEMORY</a:t>
            </a:r>
          </a:p>
        </p:txBody>
      </p:sp>
      <p:sp>
        <p:nvSpPr>
          <p:cNvPr id="60" name="Rounded Rectangle 59"/>
          <p:cNvSpPr/>
          <p:nvPr/>
        </p:nvSpPr>
        <p:spPr>
          <a:xfrm>
            <a:off x="9048750" y="1771650"/>
            <a:ext cx="1504950" cy="247650"/>
          </a:xfrm>
          <a:prstGeom prst="roundRect">
            <a:avLst>
              <a:gd name="adj" fmla="val 50000"/>
            </a:avLst>
          </a:prstGeom>
          <a:solidFill>
            <a:srgbClr val="FFEAEA"/>
          </a:solidFill>
          <a:ln w="15875">
            <a:solidFill>
              <a:srgbClr val="CC000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76200" rIns="76200" tIns="38100" bIns="38100"/>
          <a:lstStyle/>
          <a:p>
            <a:pPr algn="ctr"/>
            <a:r>
              <a:rPr sz="1000" b="1" i="0" lang="en-US">
                <a:solidFill>
                  <a:srgbClr val="990000"/>
                </a:solidFill>
                <a:latin typeface="Consolas"/>
              </a:rPr>
              <a:t>Position(nid=gen_04)</a:t>
            </a:r>
          </a:p>
        </p:txBody>
      </p:sp>
      <p:sp>
        <p:nvSpPr>
          <p:cNvPr id="61" name="Rounded Rectangle 60"/>
          <p:cNvSpPr/>
          <p:nvPr/>
        </p:nvSpPr>
        <p:spPr>
          <a:xfrm>
            <a:off x="9048750" y="2076450"/>
            <a:ext cx="1687830" cy="247650"/>
          </a:xfrm>
          <a:prstGeom prst="roundRect">
            <a:avLst>
              <a:gd name="adj" fmla="val 50000"/>
            </a:avLst>
          </a:prstGeom>
          <a:solidFill>
            <a:srgbClr val="F5F5F5"/>
          </a:solidFill>
          <a:ln w="15875">
            <a:solidFill>
              <a:srgbClr val="E0E0E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76200" rIns="76200" tIns="38100" bIns="38100"/>
          <a:lstStyle/>
          <a:p>
            <a:pPr algn="ctr"/>
            <a:r>
              <a:rPr sz="1000" b="0" i="0" lang="en-US">
                <a:solidFill>
                  <a:srgbClr val="4A4A4A"/>
                </a:solidFill>
                <a:latin typeface="Consolas"/>
              </a:rPr>
              <a:t>Active(chart=general_…)</a:t>
            </a:r>
          </a:p>
        </p:txBody>
      </p:sp>
      <p:sp>
        <p:nvSpPr>
          <p:cNvPr id="62" name="TextBox 61"/>
          <p:cNvSpPr txBox="1"/>
          <p:nvPr/>
        </p:nvSpPr>
        <p:spPr>
          <a:xfrm>
            <a:off x="9048750" y="2438400"/>
            <a:ext cx="2476500" cy="1524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r>
              <a:rPr sz="800" b="1" i="0" lang="en-US">
                <a:solidFill>
                  <a:srgbClr val="6B6B6B"/>
                </a:solidFill>
                <a:latin typeface="Noto Sans"/>
              </a:rPr>
              <a:t>RULE FIRED</a:t>
            </a:r>
          </a:p>
        </p:txBody>
      </p:sp>
      <p:sp>
        <p:nvSpPr>
          <p:cNvPr id="63" name="TextBox 62"/>
          <p:cNvSpPr txBox="1"/>
          <p:nvPr/>
        </p:nvSpPr>
        <p:spPr>
          <a:xfrm>
            <a:off x="9048750" y="2609850"/>
            <a:ext cx="2552700" cy="2286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r>
              <a:rPr sz="1300" b="1" i="0" lang="en-US">
                <a:solidFill>
                  <a:srgbClr val="1A1A1A"/>
                </a:solidFill>
                <a:latin typeface="Consolas"/>
              </a:rPr>
              <a:t>walk</a:t>
            </a:r>
            <a:r>
              <a:rPr sz="950" b="0" i="0" lang="en-US">
                <a:solidFill>
                  <a:srgbClr val="4A4A4A"/>
                </a:solidFill>
                <a:latin typeface="Noto Sans"/>
              </a:rPr>
              <a:t>   salience 0 · fired twice</a:t>
            </a:r>
          </a:p>
        </p:txBody>
      </p:sp>
      <p:sp>
        <p:nvSpPr>
          <p:cNvPr id="64" name="TextBox 63"/>
          <p:cNvSpPr txBox="1"/>
          <p:nvPr/>
        </p:nvSpPr>
        <p:spPr>
          <a:xfrm>
            <a:off x="9048750" y="2914650"/>
            <a:ext cx="2476500" cy="1524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r>
              <a:rPr sz="800" b="1" i="0" lang="en-US">
                <a:solidFill>
                  <a:srgbClr val="6B6B6B"/>
                </a:solidFill>
                <a:latin typeface="Noto Sans"/>
              </a:rPr>
              <a:t>Δ THIS STEP</a:t>
            </a:r>
          </a:p>
        </p:txBody>
      </p:sp>
      <p:sp>
        <p:nvSpPr>
          <p:cNvPr id="65" name="TextBox 64"/>
          <p:cNvSpPr txBox="1"/>
          <p:nvPr/>
        </p:nvSpPr>
        <p:spPr>
          <a:xfrm>
            <a:off x="9048750" y="3086100"/>
            <a:ext cx="2552700" cy="1905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r>
              <a:rPr sz="1100" b="1" i="0" lang="en-US">
                <a:solidFill>
                  <a:srgbClr val="6B6B6B"/>
                </a:solidFill>
                <a:latin typeface="Consolas"/>
              </a:rPr>
              <a:t>− </a:t>
            </a:r>
            <a:r>
              <a:rPr sz="1100" b="0" i="0" lang="en-US" strike="sngStrike">
                <a:solidFill>
                  <a:srgbClr val="6B6B6B"/>
                </a:solidFill>
                <a:latin typeface="Consolas"/>
              </a:rPr>
              <a:t>Position(nid=gen_03)</a:t>
            </a:r>
            <a:r>
              <a:rPr sz="850" b="0" i="0" lang="en-US">
                <a:solidFill>
                  <a:srgbClr val="6B6B6B"/>
                </a:solidFill>
                <a:latin typeface="Noto Sans"/>
              </a:rPr>
              <a:t>  retract</a:t>
            </a:r>
          </a:p>
        </p:txBody>
      </p:sp>
      <p:sp>
        <p:nvSpPr>
          <p:cNvPr id="66" name="TextBox 65"/>
          <p:cNvSpPr txBox="1"/>
          <p:nvPr/>
        </p:nvSpPr>
        <p:spPr>
          <a:xfrm>
            <a:off x="9048750" y="3314700"/>
            <a:ext cx="2552700" cy="1905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r>
              <a:rPr sz="1100" b="1" i="0" lang="en-US">
                <a:solidFill>
                  <a:srgbClr val="CC0000"/>
                </a:solidFill>
                <a:latin typeface="Consolas"/>
              </a:rPr>
              <a:t>+ </a:t>
            </a:r>
            <a:r>
              <a:rPr sz="1100" b="1" i="0" lang="en-US">
                <a:solidFill>
                  <a:srgbClr val="990000"/>
                </a:solidFill>
                <a:latin typeface="Consolas"/>
              </a:rPr>
              <a:t>Position(nid=gen_04)</a:t>
            </a:r>
            <a:r>
              <a:rPr sz="850" b="0" i="0" lang="en-US">
                <a:solidFill>
                  <a:srgbClr val="6B6B6B"/>
                </a:solidFill>
                <a:latin typeface="Noto Sans"/>
              </a:rPr>
              <a:t>  declare</a:t>
            </a:r>
          </a:p>
        </p:txBody>
      </p:sp>
      <p:sp>
        <p:nvSpPr>
          <p:cNvPr id="67" name="TextBox 66"/>
          <p:cNvSpPr txBox="1"/>
          <p:nvPr/>
        </p:nvSpPr>
        <p:spPr>
          <a:xfrm>
            <a:off x="9048750" y="5086350"/>
            <a:ext cx="2476500" cy="1524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r>
              <a:rPr sz="800" b="1" i="0" lang="en-US">
                <a:solidFill>
                  <a:srgbClr val="6B6B6B"/>
                </a:solidFill>
                <a:latin typeface="Noto Sans"/>
              </a:rPr>
              <a:t>ENGINE OUTPUT (VERBATIM)</a:t>
            </a:r>
          </a:p>
        </p:txBody>
      </p:sp>
      <p:sp>
        <p:nvSpPr>
          <p:cNvPr id="68" name="Rounded Rectangle 67"/>
          <p:cNvSpPr/>
          <p:nvPr/>
        </p:nvSpPr>
        <p:spPr>
          <a:xfrm>
            <a:off x="9048750" y="5257800"/>
            <a:ext cx="2552700" cy="800100"/>
          </a:xfrm>
          <a:prstGeom prst="roundRect">
            <a:avLst>
              <a:gd name="adj" fmla="val 6000"/>
            </a:avLst>
          </a:prstGeom>
          <a:solidFill>
            <a:srgbClr val="F5F5F5"/>
          </a:solidFill>
          <a:ln w="15875">
            <a:solidFill>
              <a:srgbClr val="E0E0E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 wrap="square" lIns="114300" rIns="114300" tIns="76200" bIns="76200"/>
          <a:lstStyle/>
          <a:p>
            <a:pPr algn="ctr">
              <a:lnSpc>
                <a:spcPct val="115000"/>
              </a:lnSpc>
            </a:pPr>
            <a:r>
              <a:rPr sz="850" b="0" i="0" lang="en-US">
                <a:solidFill>
                  <a:srgbClr val="4A4A4A"/>
                </a:solidFill>
                <a:latin typeface="Consolas"/>
              </a:rPr>
              <a:t>[gen_03] Situation Evaluation…</a:t>
            </a:r>
          </a:p>
          <a:p>
            <a:pPr>
              <a:lnSpc>
                <a:spcPct val="115000"/>
              </a:lnSpc>
            </a:pPr>
            <a:r>
              <a:rPr sz="850" b="0" i="0" lang="en-US">
                <a:solidFill>
                  <a:srgbClr val="4A4A4A"/>
                </a:solidFill>
                <a:latin typeface="Consolas"/>
              </a:rPr>
              <a:t>[gen_04] Life threatening</a:t>
            </a:r>
          </a:p>
          <a:p>
            <a:pPr>
              <a:lnSpc>
                <a:spcPct val="115000"/>
              </a:lnSpc>
            </a:pPr>
            <a:r>
              <a:rPr sz="850" b="0" i="0" lang="en-US">
                <a:solidFill>
                  <a:srgbClr val="4A4A4A"/>
                </a:solidFill>
                <a:latin typeface="Consolas"/>
              </a:rPr>
              <a:t>bleeding?   1) yes  2) no</a:t>
            </a:r>
          </a:p>
        </p:txBody>
      </p:sp>
      <p:sp>
        <p:nvSpPr>
          <p:cNvPr id="69" name="TextBox 68"/>
          <p:cNvSpPr txBox="1"/>
          <p:nvPr/>
        </p:nvSpPr>
        <p:spPr>
          <a:xfrm>
            <a:off x="9048750" y="6096000"/>
            <a:ext cx="2552700" cy="2286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r>
              <a:rPr sz="750" b="0" i="0" lang="en-US">
                <a:solidFill>
                  <a:srgbClr val="6B6B6B"/>
                </a:solidFill>
                <a:latin typeface="Noto Sans"/>
              </a:rPr>
              <a:t>real session · presentation/traces/walkthrough_yes_branch_en.txt</a:t>
            </a:r>
          </a:p>
        </p:txBody>
      </p:sp>
      <p:sp>
        <p:nvSpPr>
          <p:cNvPr id="70" name="Rounded Rectangle 69"/>
          <p:cNvSpPr/>
          <p:nvPr/>
        </p:nvSpPr>
        <p:spPr>
          <a:xfrm>
            <a:off x="419100" y="6496050"/>
            <a:ext cx="4953000" cy="247650"/>
          </a:xfrm>
          <a:prstGeom prst="roundRect">
            <a:avLst>
              <a:gd name="adj" fmla="val 50000"/>
            </a:avLst>
          </a:prstGeom>
          <a:solidFill>
            <a:srgbClr val="F5F5F5"/>
          </a:solidFill>
          <a:ln w="15875">
            <a:solidFill>
              <a:srgbClr val="E0E0E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76200" rIns="76200" tIns="38100" bIns="38100"/>
          <a:lstStyle/>
          <a:p>
            <a:pPr algn="ctr"/>
            <a:r>
              <a:rPr sz="900" b="0" i="0" lang="en-US">
                <a:solidFill>
                  <a:srgbClr val="4A4A4A"/>
                </a:solidFill>
                <a:latin typeface="Noto Sans"/>
              </a:rPr>
              <a:t>SARC charts #1 + #10 · data/general_assessment.json · data/hemorrhage.json</a:t>
            </a:r>
          </a:p>
        </p:txBody>
      </p:sp>
      <p:sp>
        <p:nvSpPr>
          <p:cNvPr id="71" name="Oval 70"/>
          <p:cNvSpPr/>
          <p:nvPr/>
        </p:nvSpPr>
        <p:spPr>
          <a:xfrm>
            <a:off x="10001250" y="6572250"/>
            <a:ext cx="76200" cy="76200"/>
          </a:xfrm>
          <a:prstGeom prst="ellipse">
            <a:avLst/>
          </a:prstGeom>
          <a:solidFill>
            <a:srgbClr val="4A4A4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76200" rIns="76200" tIns="38100" bIns="38100"/>
          <a:lstStyle/>
          <a:p>
            <a:pPr algn="ctr"/>
          </a:p>
        </p:txBody>
      </p:sp>
      <p:sp>
        <p:nvSpPr>
          <p:cNvPr id="72" name="Oval 71"/>
          <p:cNvSpPr/>
          <p:nvPr/>
        </p:nvSpPr>
        <p:spPr>
          <a:xfrm>
            <a:off x="10163175" y="6572250"/>
            <a:ext cx="76200" cy="76200"/>
          </a:xfrm>
          <a:prstGeom prst="ellipse">
            <a:avLst/>
          </a:prstGeom>
          <a:solidFill>
            <a:srgbClr val="4A4A4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76200" rIns="76200" tIns="38100" bIns="38100"/>
          <a:lstStyle/>
          <a:p>
            <a:pPr algn="ctr"/>
          </a:p>
        </p:txBody>
      </p:sp>
      <p:sp>
        <p:nvSpPr>
          <p:cNvPr id="73" name="Oval 72"/>
          <p:cNvSpPr/>
          <p:nvPr/>
        </p:nvSpPr>
        <p:spPr>
          <a:xfrm>
            <a:off x="10325100" y="6572250"/>
            <a:ext cx="95250" cy="95250"/>
          </a:xfrm>
          <a:prstGeom prst="ellipse">
            <a:avLst/>
          </a:prstGeom>
          <a:solidFill>
            <a:srgbClr val="CC000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76200" rIns="76200" tIns="38100" bIns="38100"/>
          <a:lstStyle/>
          <a:p>
            <a:pPr algn="ctr"/>
          </a:p>
        </p:txBody>
      </p:sp>
      <p:sp>
        <p:nvSpPr>
          <p:cNvPr id="74" name="Oval 73"/>
          <p:cNvSpPr/>
          <p:nvPr/>
        </p:nvSpPr>
        <p:spPr>
          <a:xfrm>
            <a:off x="10487025" y="6572250"/>
            <a:ext cx="76200" cy="76200"/>
          </a:xfrm>
          <a:prstGeom prst="ellipse">
            <a:avLst/>
          </a:prstGeom>
          <a:solidFill>
            <a:srgbClr val="E0E0E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76200" rIns="76200" tIns="38100" bIns="38100"/>
          <a:lstStyle/>
          <a:p>
            <a:pPr algn="ctr"/>
          </a:p>
        </p:txBody>
      </p:sp>
      <p:sp>
        <p:nvSpPr>
          <p:cNvPr id="75" name="Oval 74"/>
          <p:cNvSpPr/>
          <p:nvPr/>
        </p:nvSpPr>
        <p:spPr>
          <a:xfrm>
            <a:off x="10648950" y="6572250"/>
            <a:ext cx="76200" cy="76200"/>
          </a:xfrm>
          <a:prstGeom prst="ellipse">
            <a:avLst/>
          </a:prstGeom>
          <a:solidFill>
            <a:srgbClr val="E0E0E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76200" rIns="76200" tIns="38100" bIns="38100"/>
          <a:lstStyle/>
          <a:p>
            <a:pPr algn="ctr"/>
          </a:p>
        </p:txBody>
      </p:sp>
      <p:sp>
        <p:nvSpPr>
          <p:cNvPr id="76" name="Oval 75"/>
          <p:cNvSpPr/>
          <p:nvPr/>
        </p:nvSpPr>
        <p:spPr>
          <a:xfrm>
            <a:off x="10810875" y="6572250"/>
            <a:ext cx="76200" cy="76200"/>
          </a:xfrm>
          <a:prstGeom prst="ellipse">
            <a:avLst/>
          </a:prstGeom>
          <a:solidFill>
            <a:srgbClr val="E0E0E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76200" rIns="76200" tIns="38100" bIns="38100"/>
          <a:lstStyle/>
          <a:p>
            <a:pPr algn="ctr"/>
          </a:p>
        </p:txBody>
      </p:sp>
      <p:sp>
        <p:nvSpPr>
          <p:cNvPr id="77" name="Oval 76"/>
          <p:cNvSpPr/>
          <p:nvPr/>
        </p:nvSpPr>
        <p:spPr>
          <a:xfrm>
            <a:off x="10972800" y="6572250"/>
            <a:ext cx="76200" cy="76200"/>
          </a:xfrm>
          <a:prstGeom prst="ellipse">
            <a:avLst/>
          </a:prstGeom>
          <a:solidFill>
            <a:srgbClr val="E0E0E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76200" rIns="76200" tIns="38100" bIns="38100"/>
          <a:lstStyle/>
          <a:p>
            <a:pPr algn="ctr"/>
          </a:p>
        </p:txBody>
      </p:sp>
      <p:sp>
        <p:nvSpPr>
          <p:cNvPr id="78" name="Oval 77"/>
          <p:cNvSpPr/>
          <p:nvPr/>
        </p:nvSpPr>
        <p:spPr>
          <a:xfrm>
            <a:off x="11134725" y="6572250"/>
            <a:ext cx="76200" cy="76200"/>
          </a:xfrm>
          <a:prstGeom prst="ellipse">
            <a:avLst/>
          </a:prstGeom>
          <a:solidFill>
            <a:srgbClr val="E0E0E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76200" rIns="76200" tIns="38100" bIns="38100"/>
          <a:lstStyle/>
          <a:p>
            <a:pPr algn="ctr"/>
          </a:p>
        </p:txBody>
      </p:sp>
      <p:sp>
        <p:nvSpPr>
          <p:cNvPr id="79" name="Oval 78"/>
          <p:cNvSpPr/>
          <p:nvPr/>
        </p:nvSpPr>
        <p:spPr>
          <a:xfrm>
            <a:off x="11296650" y="6572250"/>
            <a:ext cx="76200" cy="76200"/>
          </a:xfrm>
          <a:prstGeom prst="ellipse">
            <a:avLst/>
          </a:prstGeom>
          <a:solidFill>
            <a:srgbClr val="E0E0E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76200" rIns="76200" tIns="38100" bIns="38100"/>
          <a:lstStyle/>
          <a:p>
            <a:pPr algn="ctr"/>
          </a:p>
        </p:txBody>
      </p:sp>
      <p:sp>
        <p:nvSpPr>
          <p:cNvPr id="80" name="Oval 79"/>
          <p:cNvSpPr/>
          <p:nvPr/>
        </p:nvSpPr>
        <p:spPr>
          <a:xfrm>
            <a:off x="11458575" y="6572250"/>
            <a:ext cx="76200" cy="76200"/>
          </a:xfrm>
          <a:prstGeom prst="ellipse">
            <a:avLst/>
          </a:prstGeom>
          <a:solidFill>
            <a:srgbClr val="E0E0E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76200" rIns="76200" tIns="38100" bIns="38100"/>
          <a:lstStyle/>
          <a:p>
            <a:pPr algn="ctr"/>
          </a:p>
        </p:txBody>
      </p:sp>
      <p:sp>
        <p:nvSpPr>
          <p:cNvPr id="81" name="TextBox 80"/>
          <p:cNvSpPr txBox="1"/>
          <p:nvPr/>
        </p:nvSpPr>
        <p:spPr>
          <a:xfrm>
            <a:off x="11239500" y="6610350"/>
            <a:ext cx="762000" cy="1905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r>
              <a:rPr sz="900" b="0" i="0" lang="en-US">
                <a:solidFill>
                  <a:srgbClr val="6B6B6B"/>
                </a:solidFill>
                <a:latin typeface="Noto Sans"/>
              </a:rPr>
              <a:t>15 / 28</a:t>
            </a:r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19100" y="285750"/>
            <a:ext cx="8572500" cy="1905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r>
              <a:rPr sz="1050" b="1" i="0" lang="en-US">
                <a:solidFill>
                  <a:srgbClr val="CC0000"/>
                </a:solidFill>
                <a:latin typeface="Noto Sans"/>
              </a:rPr>
              <a:t>FLOW WALKTHROUGH · STEP 4 OF 10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19100" y="495300"/>
            <a:ext cx="9525000" cy="43815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r>
              <a:rPr sz="2100" b="1" i="0" lang="en-US">
                <a:solidFill>
                  <a:srgbClr val="1A1A1A"/>
                </a:solidFill>
                <a:latin typeface="Noto Sans"/>
              </a:rPr>
              <a:t>The chart's most important question. You decide.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10763250" y="323850"/>
            <a:ext cx="1009650" cy="285750"/>
          </a:xfrm>
          <a:prstGeom prst="roundRect">
            <a:avLst>
              <a:gd name="adj" fmla="val 28000"/>
            </a:avLst>
          </a:prstGeom>
          <a:solidFill>
            <a:srgbClr val="CC000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76200" rIns="76200" tIns="38100" bIns="38100"/>
          <a:lstStyle/>
          <a:p>
            <a:pPr algn="ctr"/>
            <a:r>
              <a:rPr sz="1250" b="1" i="0" lang="en-US">
                <a:solidFill>
                  <a:srgbClr val="FFFFFF"/>
                </a:solidFill>
                <a:latin typeface="Noto Sans"/>
              </a:rPr>
              <a:t>ResQRules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14350" y="1123950"/>
            <a:ext cx="3810000" cy="1524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r>
              <a:rPr sz="850" b="1" i="0" lang="en-US">
                <a:solidFill>
                  <a:srgbClr val="6B6B6B"/>
                </a:solidFill>
                <a:latin typeface="Noto Sans"/>
              </a:rPr>
              <a:t>GENERAL ASSESSMENT — CHART #1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14350" y="2114550"/>
            <a:ext cx="4191000" cy="1524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r>
              <a:rPr sz="850" b="1" i="0" lang="en-US">
                <a:solidFill>
                  <a:srgbClr val="6B6B6B"/>
                </a:solidFill>
                <a:latin typeface="Noto Sans"/>
              </a:rPr>
              <a:t>CATASTROPHIC HEMORRHAGE — CHART #10</a:t>
            </a:r>
          </a:p>
        </p:txBody>
      </p:sp>
      <p:cxnSp>
        <p:nvCxnSpPr>
          <p:cNvPr id="7" name="Connector 6"/>
          <p:cNvCxnSpPr/>
          <p:nvPr/>
        </p:nvCxnSpPr>
        <p:spPr>
          <a:xfrm>
            <a:off x="1733550" y="1571625"/>
            <a:ext cx="171450" cy="0"/>
          </a:xfrm>
          <a:prstGeom prst="line">
            <a:avLst/>
          </a:prstGeom>
          <a:ln w="25400">
            <a:solidFill>
              <a:srgbClr val="4A4A4A"/>
            </a:solidFill>
            <a:tailEnd type="triangle" w="med" len="med"/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8" name="Connector 7"/>
          <p:cNvCxnSpPr/>
          <p:nvPr/>
        </p:nvCxnSpPr>
        <p:spPr>
          <a:xfrm>
            <a:off x="3162300" y="1571625"/>
            <a:ext cx="171450" cy="0"/>
          </a:xfrm>
          <a:prstGeom prst="line">
            <a:avLst/>
          </a:prstGeom>
          <a:ln w="25400">
            <a:solidFill>
              <a:srgbClr val="4A4A4A"/>
            </a:solidFill>
            <a:tailEnd type="triangle" w="med" len="med"/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9" name="Connector 8"/>
          <p:cNvCxnSpPr/>
          <p:nvPr/>
        </p:nvCxnSpPr>
        <p:spPr>
          <a:xfrm>
            <a:off x="4591050" y="1571625"/>
            <a:ext cx="133350" cy="0"/>
          </a:xfrm>
          <a:prstGeom prst="line">
            <a:avLst/>
          </a:prstGeom>
          <a:ln w="25400">
            <a:solidFill>
              <a:srgbClr val="4A4A4A"/>
            </a:solidFill>
            <a:tailEnd type="triangle" w="med" len="med"/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0" name="Connector 9"/>
          <p:cNvCxnSpPr/>
          <p:nvPr/>
        </p:nvCxnSpPr>
        <p:spPr>
          <a:xfrm>
            <a:off x="6667500" y="1571625"/>
            <a:ext cx="104775" cy="0"/>
          </a:xfrm>
          <a:prstGeom prst="line">
            <a:avLst/>
          </a:prstGeom>
          <a:ln w="19050">
            <a:solidFill>
              <a:srgbClr val="C7C7C7"/>
            </a:solidFill>
            <a:tailEnd type="triangle" w="med" len="med"/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1" name="Connector 10"/>
          <p:cNvCxnSpPr/>
          <p:nvPr/>
        </p:nvCxnSpPr>
        <p:spPr>
          <a:xfrm>
            <a:off x="7524750" y="1866900"/>
            <a:ext cx="0" cy="95250"/>
          </a:xfrm>
          <a:prstGeom prst="line">
            <a:avLst/>
          </a:prstGeom>
          <a:ln w="19050">
            <a:solidFill>
              <a:srgbClr val="C7C7C7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2" name="Connector 11"/>
          <p:cNvCxnSpPr/>
          <p:nvPr/>
        </p:nvCxnSpPr>
        <p:spPr>
          <a:xfrm flipH="1">
            <a:off x="2276475" y="1962150"/>
            <a:ext cx="5248275" cy="0"/>
          </a:xfrm>
          <a:prstGeom prst="line">
            <a:avLst/>
          </a:prstGeom>
          <a:ln w="19050">
            <a:solidFill>
              <a:srgbClr val="C7C7C7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3" name="Connector 12"/>
          <p:cNvCxnSpPr/>
          <p:nvPr/>
        </p:nvCxnSpPr>
        <p:spPr>
          <a:xfrm>
            <a:off x="2276475" y="1962150"/>
            <a:ext cx="0" cy="342900"/>
          </a:xfrm>
          <a:prstGeom prst="line">
            <a:avLst/>
          </a:prstGeom>
          <a:ln w="19050">
            <a:solidFill>
              <a:srgbClr val="C7C7C7"/>
            </a:solidFill>
            <a:tailEnd type="triangle" w="med" len="med"/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4" name="Connector 13"/>
          <p:cNvCxnSpPr/>
          <p:nvPr/>
        </p:nvCxnSpPr>
        <p:spPr>
          <a:xfrm>
            <a:off x="3676650" y="2667000"/>
            <a:ext cx="323850" cy="0"/>
          </a:xfrm>
          <a:prstGeom prst="line">
            <a:avLst/>
          </a:prstGeom>
          <a:ln w="19050">
            <a:solidFill>
              <a:srgbClr val="C7C7C7"/>
            </a:solidFill>
            <a:tailEnd type="triangle" w="med" len="med"/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5" name="Connector 14"/>
          <p:cNvCxnSpPr/>
          <p:nvPr/>
        </p:nvCxnSpPr>
        <p:spPr>
          <a:xfrm>
            <a:off x="4953000" y="2990850"/>
            <a:ext cx="0" cy="276225"/>
          </a:xfrm>
          <a:prstGeom prst="line">
            <a:avLst/>
          </a:prstGeom>
          <a:ln w="19050">
            <a:solidFill>
              <a:srgbClr val="C7C7C7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6" name="Connector 15"/>
          <p:cNvCxnSpPr/>
          <p:nvPr/>
        </p:nvCxnSpPr>
        <p:spPr>
          <a:xfrm flipH="1">
            <a:off x="2276475" y="3267075"/>
            <a:ext cx="2676525" cy="0"/>
          </a:xfrm>
          <a:prstGeom prst="line">
            <a:avLst/>
          </a:prstGeom>
          <a:ln w="19050">
            <a:solidFill>
              <a:srgbClr val="C7C7C7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7" name="Connector 16"/>
          <p:cNvCxnSpPr/>
          <p:nvPr/>
        </p:nvCxnSpPr>
        <p:spPr>
          <a:xfrm>
            <a:off x="2276475" y="3267075"/>
            <a:ext cx="0" cy="180975"/>
          </a:xfrm>
          <a:prstGeom prst="line">
            <a:avLst/>
          </a:prstGeom>
          <a:ln w="19050">
            <a:solidFill>
              <a:srgbClr val="C7C7C7"/>
            </a:solidFill>
            <a:tailEnd type="triangle" w="med" len="med"/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8" name="Connector 17"/>
          <p:cNvCxnSpPr/>
          <p:nvPr/>
        </p:nvCxnSpPr>
        <p:spPr>
          <a:xfrm>
            <a:off x="5905500" y="2667000"/>
            <a:ext cx="285750" cy="0"/>
          </a:xfrm>
          <a:prstGeom prst="line">
            <a:avLst/>
          </a:prstGeom>
          <a:ln w="19050">
            <a:solidFill>
              <a:srgbClr val="C7C7C7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9" name="Connector 18"/>
          <p:cNvCxnSpPr/>
          <p:nvPr/>
        </p:nvCxnSpPr>
        <p:spPr>
          <a:xfrm>
            <a:off x="6191250" y="2667000"/>
            <a:ext cx="0" cy="419100"/>
          </a:xfrm>
          <a:prstGeom prst="line">
            <a:avLst/>
          </a:prstGeom>
          <a:ln w="19050">
            <a:solidFill>
              <a:srgbClr val="C7C7C7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0" name="Connector 19"/>
          <p:cNvCxnSpPr/>
          <p:nvPr/>
        </p:nvCxnSpPr>
        <p:spPr>
          <a:xfrm>
            <a:off x="6191250" y="3086100"/>
            <a:ext cx="190500" cy="0"/>
          </a:xfrm>
          <a:prstGeom prst="line">
            <a:avLst/>
          </a:prstGeom>
          <a:ln w="19050">
            <a:solidFill>
              <a:srgbClr val="C7C7C7"/>
            </a:solidFill>
            <a:tailEnd type="triangle" w="med" len="med"/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1" name="Connector 20"/>
          <p:cNvCxnSpPr/>
          <p:nvPr/>
        </p:nvCxnSpPr>
        <p:spPr>
          <a:xfrm>
            <a:off x="3676650" y="3810000"/>
            <a:ext cx="323850" cy="0"/>
          </a:xfrm>
          <a:prstGeom prst="line">
            <a:avLst/>
          </a:prstGeom>
          <a:ln w="19050">
            <a:solidFill>
              <a:srgbClr val="C7C7C7"/>
            </a:solidFill>
            <a:tailEnd type="triangle" w="med" len="med"/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2" name="Connector 21"/>
          <p:cNvCxnSpPr/>
          <p:nvPr/>
        </p:nvCxnSpPr>
        <p:spPr>
          <a:xfrm>
            <a:off x="4953000" y="4133850"/>
            <a:ext cx="0" cy="276225"/>
          </a:xfrm>
          <a:prstGeom prst="line">
            <a:avLst/>
          </a:prstGeom>
          <a:ln w="19050">
            <a:solidFill>
              <a:srgbClr val="C7C7C7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3" name="Connector 22"/>
          <p:cNvCxnSpPr/>
          <p:nvPr/>
        </p:nvCxnSpPr>
        <p:spPr>
          <a:xfrm flipH="1">
            <a:off x="2276475" y="4410075"/>
            <a:ext cx="2676525" cy="0"/>
          </a:xfrm>
          <a:prstGeom prst="line">
            <a:avLst/>
          </a:prstGeom>
          <a:ln w="19050">
            <a:solidFill>
              <a:srgbClr val="C7C7C7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4" name="Connector 23"/>
          <p:cNvCxnSpPr/>
          <p:nvPr/>
        </p:nvCxnSpPr>
        <p:spPr>
          <a:xfrm>
            <a:off x="2276475" y="4410075"/>
            <a:ext cx="0" cy="180975"/>
          </a:xfrm>
          <a:prstGeom prst="line">
            <a:avLst/>
          </a:prstGeom>
          <a:ln w="19050">
            <a:solidFill>
              <a:srgbClr val="C7C7C7"/>
            </a:solidFill>
            <a:tailEnd type="triangle" w="med" len="med"/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5" name="Connector 24"/>
          <p:cNvCxnSpPr/>
          <p:nvPr/>
        </p:nvCxnSpPr>
        <p:spPr>
          <a:xfrm>
            <a:off x="5905500" y="3810000"/>
            <a:ext cx="285750" cy="0"/>
          </a:xfrm>
          <a:prstGeom prst="line">
            <a:avLst/>
          </a:prstGeom>
          <a:ln w="19050">
            <a:solidFill>
              <a:srgbClr val="C7C7C7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6" name="Connector 25"/>
          <p:cNvCxnSpPr/>
          <p:nvPr/>
        </p:nvCxnSpPr>
        <p:spPr>
          <a:xfrm flipV="1">
            <a:off x="6191250" y="3371850"/>
            <a:ext cx="0" cy="438150"/>
          </a:xfrm>
          <a:prstGeom prst="line">
            <a:avLst/>
          </a:prstGeom>
          <a:ln w="19050">
            <a:solidFill>
              <a:srgbClr val="C7C7C7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7" name="Connector 26"/>
          <p:cNvCxnSpPr/>
          <p:nvPr/>
        </p:nvCxnSpPr>
        <p:spPr>
          <a:xfrm>
            <a:off x="6191250" y="3371850"/>
            <a:ext cx="190500" cy="0"/>
          </a:xfrm>
          <a:prstGeom prst="line">
            <a:avLst/>
          </a:prstGeom>
          <a:ln w="19050">
            <a:solidFill>
              <a:srgbClr val="C7C7C7"/>
            </a:solidFill>
            <a:tailEnd type="triangle" w="med" len="med"/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8" name="Connector 27"/>
          <p:cNvCxnSpPr/>
          <p:nvPr/>
        </p:nvCxnSpPr>
        <p:spPr>
          <a:xfrm>
            <a:off x="3676650" y="4953000"/>
            <a:ext cx="323850" cy="0"/>
          </a:xfrm>
          <a:prstGeom prst="line">
            <a:avLst/>
          </a:prstGeom>
          <a:ln w="19050">
            <a:solidFill>
              <a:srgbClr val="C7C7C7"/>
            </a:solidFill>
            <a:tailEnd type="triangle" w="med" len="med"/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9" name="Connector 28"/>
          <p:cNvCxnSpPr/>
          <p:nvPr/>
        </p:nvCxnSpPr>
        <p:spPr>
          <a:xfrm>
            <a:off x="5905500" y="4953000"/>
            <a:ext cx="457200" cy="0"/>
          </a:xfrm>
          <a:prstGeom prst="line">
            <a:avLst/>
          </a:prstGeom>
          <a:ln w="19050">
            <a:solidFill>
              <a:srgbClr val="C7C7C7"/>
            </a:solidFill>
            <a:tailEnd type="triangle" w="med" len="med"/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0" name="Connector 29"/>
          <p:cNvCxnSpPr/>
          <p:nvPr/>
        </p:nvCxnSpPr>
        <p:spPr>
          <a:xfrm>
            <a:off x="4953000" y="5276850"/>
            <a:ext cx="0" cy="276225"/>
          </a:xfrm>
          <a:prstGeom prst="line">
            <a:avLst/>
          </a:prstGeom>
          <a:ln w="19050">
            <a:solidFill>
              <a:srgbClr val="C7C7C7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1" name="Connector 30"/>
          <p:cNvCxnSpPr/>
          <p:nvPr/>
        </p:nvCxnSpPr>
        <p:spPr>
          <a:xfrm>
            <a:off x="4953000" y="5553075"/>
            <a:ext cx="2228850" cy="0"/>
          </a:xfrm>
          <a:prstGeom prst="line">
            <a:avLst/>
          </a:prstGeom>
          <a:ln w="19050">
            <a:solidFill>
              <a:srgbClr val="C7C7C7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2" name="Connector 31"/>
          <p:cNvCxnSpPr/>
          <p:nvPr/>
        </p:nvCxnSpPr>
        <p:spPr>
          <a:xfrm flipV="1">
            <a:off x="7181850" y="5200650"/>
            <a:ext cx="0" cy="352425"/>
          </a:xfrm>
          <a:prstGeom prst="line">
            <a:avLst/>
          </a:prstGeom>
          <a:ln w="19050">
            <a:solidFill>
              <a:srgbClr val="C7C7C7"/>
            </a:solidFill>
            <a:tailEnd type="triangle" w="med" len="med"/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33" name="Rounded Rectangle 32"/>
          <p:cNvSpPr/>
          <p:nvPr/>
        </p:nvSpPr>
        <p:spPr>
          <a:xfrm>
            <a:off x="514350" y="1371600"/>
            <a:ext cx="1219200" cy="419100"/>
          </a:xfrm>
          <a:prstGeom prst="roundRect">
            <a:avLst>
              <a:gd name="adj" fmla="val 14000"/>
            </a:avLst>
          </a:prstGeom>
          <a:solidFill>
            <a:srgbClr val="FFFFFF"/>
          </a:solidFill>
          <a:ln w="25400">
            <a:solidFill>
              <a:srgbClr val="4A4A4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76200" rIns="76200" tIns="38100" bIns="38100"/>
          <a:lstStyle/>
          <a:p>
            <a:pPr algn="ctr"/>
            <a:r>
              <a:rPr sz="1100" b="1" i="0" lang="en-US">
                <a:solidFill>
                  <a:srgbClr val="1A1A1A"/>
                </a:solidFill>
                <a:latin typeface="Noto Sans"/>
              </a:rPr>
              <a:t>Safety</a:t>
            </a:r>
          </a:p>
          <a:p>
            <a:pPr algn="ctr"/>
            <a:r>
              <a:rPr sz="750" b="0" i="0" lang="en-US">
                <a:solidFill>
                  <a:srgbClr val="6B6B6B"/>
                </a:solidFill>
                <a:latin typeface="Noto Sans"/>
              </a:rPr>
              <a:t>gen_01</a:t>
            </a:r>
          </a:p>
        </p:txBody>
      </p:sp>
      <p:sp>
        <p:nvSpPr>
          <p:cNvPr id="34" name="Rounded Rectangle 33"/>
          <p:cNvSpPr/>
          <p:nvPr/>
        </p:nvSpPr>
        <p:spPr>
          <a:xfrm>
            <a:off x="1905000" y="1371600"/>
            <a:ext cx="1257300" cy="419100"/>
          </a:xfrm>
          <a:prstGeom prst="roundRect">
            <a:avLst>
              <a:gd name="adj" fmla="val 14000"/>
            </a:avLst>
          </a:prstGeom>
          <a:solidFill>
            <a:srgbClr val="FFFFFF"/>
          </a:solidFill>
          <a:ln w="25400">
            <a:solidFill>
              <a:srgbClr val="4A4A4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76200" rIns="76200" tIns="38100" bIns="38100"/>
          <a:lstStyle/>
          <a:p>
            <a:pPr algn="ctr"/>
            <a:r>
              <a:rPr sz="1100" b="1" i="0" lang="en-US">
                <a:solidFill>
                  <a:srgbClr val="1A1A1A"/>
                </a:solidFill>
                <a:latin typeface="Noto Sans"/>
              </a:rPr>
              <a:t>Scene</a:t>
            </a:r>
          </a:p>
          <a:p>
            <a:pPr algn="ctr"/>
            <a:r>
              <a:rPr sz="750" b="0" i="0" lang="en-US">
                <a:solidFill>
                  <a:srgbClr val="6B6B6B"/>
                </a:solidFill>
                <a:latin typeface="Noto Sans"/>
              </a:rPr>
              <a:t>gen_02</a:t>
            </a:r>
          </a:p>
        </p:txBody>
      </p:sp>
      <p:sp>
        <p:nvSpPr>
          <p:cNvPr id="35" name="Rounded Rectangle 34"/>
          <p:cNvSpPr/>
          <p:nvPr/>
        </p:nvSpPr>
        <p:spPr>
          <a:xfrm>
            <a:off x="3333750" y="1371600"/>
            <a:ext cx="1257300" cy="419100"/>
          </a:xfrm>
          <a:prstGeom prst="roundRect">
            <a:avLst>
              <a:gd name="adj" fmla="val 14000"/>
            </a:avLst>
          </a:prstGeom>
          <a:solidFill>
            <a:srgbClr val="FFFFFF"/>
          </a:solidFill>
          <a:ln w="25400">
            <a:solidFill>
              <a:srgbClr val="4A4A4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76200" rIns="76200" tIns="38100" bIns="38100"/>
          <a:lstStyle/>
          <a:p>
            <a:pPr algn="ctr"/>
            <a:r>
              <a:rPr sz="1100" b="1" i="0" lang="en-US">
                <a:solidFill>
                  <a:srgbClr val="1A1A1A"/>
                </a:solidFill>
                <a:latin typeface="Noto Sans"/>
              </a:rPr>
              <a:t>Situation</a:t>
            </a:r>
          </a:p>
          <a:p>
            <a:pPr algn="ctr"/>
            <a:r>
              <a:rPr sz="750" b="0" i="0" lang="en-US">
                <a:solidFill>
                  <a:srgbClr val="6B6B6B"/>
                </a:solidFill>
                <a:latin typeface="Noto Sans"/>
              </a:rPr>
              <a:t>gen_03</a:t>
            </a:r>
          </a:p>
        </p:txBody>
      </p:sp>
      <p:sp>
        <p:nvSpPr>
          <p:cNvPr id="36" name="Rounded Rectangle 35"/>
          <p:cNvSpPr/>
          <p:nvPr/>
        </p:nvSpPr>
        <p:spPr>
          <a:xfrm>
            <a:off x="4762500" y="1314450"/>
            <a:ext cx="1866900" cy="533400"/>
          </a:xfrm>
          <a:prstGeom prst="roundRect">
            <a:avLst>
              <a:gd name="adj" fmla="val 14000"/>
            </a:avLst>
          </a:prstGeom>
          <a:solidFill>
            <a:srgbClr val="FFEAEA"/>
          </a:solidFill>
          <a:ln w="31750">
            <a:solidFill>
              <a:srgbClr val="CC000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76200" rIns="76200" tIns="38100" bIns="38100"/>
          <a:lstStyle/>
          <a:p>
            <a:pPr algn="ctr"/>
            <a:r>
              <a:rPr sz="1100" b="1" i="0" lang="en-US">
                <a:solidFill>
                  <a:srgbClr val="1A1A1A"/>
                </a:solidFill>
                <a:latin typeface="Noto Sans"/>
              </a:rPr>
              <a:t>◇ Life-threatening bleeding?</a:t>
            </a:r>
          </a:p>
          <a:p>
            <a:pPr algn="ctr"/>
            <a:r>
              <a:rPr sz="750" b="0" i="0" lang="en-US">
                <a:solidFill>
                  <a:srgbClr val="6B6B6B"/>
                </a:solidFill>
                <a:latin typeface="Noto Sans"/>
              </a:rPr>
              <a:t>gen_04</a:t>
            </a:r>
          </a:p>
        </p:txBody>
      </p:sp>
      <p:sp>
        <p:nvSpPr>
          <p:cNvPr id="37" name="Rounded Rectangle 36"/>
          <p:cNvSpPr/>
          <p:nvPr/>
        </p:nvSpPr>
        <p:spPr>
          <a:xfrm>
            <a:off x="6819900" y="1352550"/>
            <a:ext cx="1409700" cy="495300"/>
          </a:xfrm>
          <a:prstGeom prst="roundRect">
            <a:avLst>
              <a:gd name="adj" fmla="val 14000"/>
            </a:avLst>
          </a:prstGeom>
          <a:solidFill>
            <a:srgbClr val="FFFFFF"/>
          </a:solidFill>
          <a:ln w="19050">
            <a:solidFill>
              <a:srgbClr val="E0E0E0"/>
            </a:solidFill>
            <a:prstDash val="dash"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76200" rIns="76200" tIns="38100" bIns="38100"/>
          <a:lstStyle/>
          <a:p>
            <a:pPr algn="ctr"/>
            <a:r>
              <a:rPr sz="1100" b="0" i="0" lang="en-US">
                <a:solidFill>
                  <a:srgbClr val="6B6B6B"/>
                </a:solidFill>
                <a:latin typeface="Noto Sans"/>
              </a:rPr>
              <a:t>⇢ Hemorrhage</a:t>
            </a:r>
          </a:p>
          <a:p>
            <a:pPr algn="ctr"/>
            <a:r>
              <a:rPr sz="750" b="0" i="0" lang="en-US">
                <a:solidFill>
                  <a:srgbClr val="6B6B6B"/>
                </a:solidFill>
                <a:latin typeface="Noto Sans"/>
              </a:rPr>
              <a:t>gen_05 · jump</a:t>
            </a:r>
          </a:p>
        </p:txBody>
      </p:sp>
      <p:sp>
        <p:nvSpPr>
          <p:cNvPr id="38" name="Rounded Rectangle 37"/>
          <p:cNvSpPr/>
          <p:nvPr/>
        </p:nvSpPr>
        <p:spPr>
          <a:xfrm>
            <a:off x="895350" y="2362200"/>
            <a:ext cx="2781300" cy="609600"/>
          </a:xfrm>
          <a:prstGeom prst="roundRect">
            <a:avLst>
              <a:gd name="adj" fmla="val 14000"/>
            </a:avLst>
          </a:prstGeom>
          <a:solidFill>
            <a:srgbClr val="FFFFFF"/>
          </a:solidFill>
          <a:ln w="19050">
            <a:solidFill>
              <a:srgbClr val="E0E0E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76200" rIns="76200" tIns="38100" bIns="38100"/>
          <a:lstStyle/>
          <a:p>
            <a:pPr algn="ctr"/>
            <a:r>
              <a:rPr sz="1100" b="0" i="0" lang="en-US">
                <a:solidFill>
                  <a:srgbClr val="6B6B6B"/>
                </a:solidFill>
                <a:latin typeface="Noto Sans"/>
              </a:rPr>
              <a:t>Direct pressure · compression dressing</a:t>
            </a:r>
          </a:p>
          <a:p>
            <a:pPr algn="ctr"/>
            <a:r>
              <a:rPr sz="750" b="0" i="0" lang="en-US">
                <a:solidFill>
                  <a:srgbClr val="6B6B6B"/>
                </a:solidFill>
                <a:latin typeface="Noto Sans"/>
              </a:rPr>
              <a:t>hem_01</a:t>
            </a:r>
          </a:p>
        </p:txBody>
      </p:sp>
      <p:sp>
        <p:nvSpPr>
          <p:cNvPr id="39" name="Rounded Rectangle 38"/>
          <p:cNvSpPr/>
          <p:nvPr/>
        </p:nvSpPr>
        <p:spPr>
          <a:xfrm>
            <a:off x="4038600" y="2381250"/>
            <a:ext cx="1866900" cy="571500"/>
          </a:xfrm>
          <a:prstGeom prst="roundRect">
            <a:avLst>
              <a:gd name="adj" fmla="val 14000"/>
            </a:avLst>
          </a:prstGeom>
          <a:solidFill>
            <a:srgbClr val="FFFFFF"/>
          </a:solidFill>
          <a:ln w="19050">
            <a:solidFill>
              <a:srgbClr val="E0E0E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76200" rIns="76200" tIns="38100" bIns="38100"/>
          <a:lstStyle/>
          <a:p>
            <a:pPr algn="ctr"/>
            <a:r>
              <a:rPr sz="1100" b="0" i="0" lang="en-US">
                <a:solidFill>
                  <a:srgbClr val="6B6B6B"/>
                </a:solidFill>
                <a:latin typeface="Noto Sans"/>
              </a:rPr>
              <a:t>◇ Active bleeding?</a:t>
            </a:r>
          </a:p>
          <a:p>
            <a:pPr algn="ctr"/>
            <a:r>
              <a:rPr sz="750" b="0" i="0" lang="en-US">
                <a:solidFill>
                  <a:srgbClr val="6B6B6B"/>
                </a:solidFill>
                <a:latin typeface="Noto Sans"/>
              </a:rPr>
              <a:t>hem_02</a:t>
            </a:r>
          </a:p>
        </p:txBody>
      </p:sp>
      <p:sp>
        <p:nvSpPr>
          <p:cNvPr id="40" name="Rounded Rectangle 39"/>
          <p:cNvSpPr/>
          <p:nvPr/>
        </p:nvSpPr>
        <p:spPr>
          <a:xfrm>
            <a:off x="895350" y="3505200"/>
            <a:ext cx="2781300" cy="609600"/>
          </a:xfrm>
          <a:prstGeom prst="roundRect">
            <a:avLst>
              <a:gd name="adj" fmla="val 14000"/>
            </a:avLst>
          </a:prstGeom>
          <a:solidFill>
            <a:srgbClr val="FFFFFF"/>
          </a:solidFill>
          <a:ln w="19050">
            <a:solidFill>
              <a:srgbClr val="E0E0E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76200" rIns="76200" tIns="38100" bIns="38100"/>
          <a:lstStyle/>
          <a:p>
            <a:pPr algn="ctr"/>
            <a:r>
              <a:rPr sz="1100" b="0" i="0" lang="en-US">
                <a:solidFill>
                  <a:srgbClr val="6B6B6B"/>
                </a:solidFill>
                <a:latin typeface="Noto Sans"/>
              </a:rPr>
              <a:t>Second compression bandage</a:t>
            </a:r>
          </a:p>
          <a:p>
            <a:pPr algn="ctr"/>
            <a:r>
              <a:rPr sz="750" b="0" i="0" lang="en-US">
                <a:solidFill>
                  <a:srgbClr val="6B6B6B"/>
                </a:solidFill>
                <a:latin typeface="Noto Sans"/>
              </a:rPr>
              <a:t>hem_03 · TIER 2</a:t>
            </a:r>
          </a:p>
        </p:txBody>
      </p:sp>
      <p:sp>
        <p:nvSpPr>
          <p:cNvPr id="41" name="Rounded Rectangle 40"/>
          <p:cNvSpPr/>
          <p:nvPr/>
        </p:nvSpPr>
        <p:spPr>
          <a:xfrm>
            <a:off x="4038600" y="3524250"/>
            <a:ext cx="1866900" cy="571500"/>
          </a:xfrm>
          <a:prstGeom prst="roundRect">
            <a:avLst>
              <a:gd name="adj" fmla="val 14000"/>
            </a:avLst>
          </a:prstGeom>
          <a:solidFill>
            <a:srgbClr val="FFFFFF"/>
          </a:solidFill>
          <a:ln w="19050">
            <a:solidFill>
              <a:srgbClr val="E0E0E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76200" rIns="76200" tIns="38100" bIns="38100"/>
          <a:lstStyle/>
          <a:p>
            <a:pPr algn="ctr"/>
            <a:r>
              <a:rPr sz="1100" b="0" i="0" lang="en-US">
                <a:solidFill>
                  <a:srgbClr val="6B6B6B"/>
                </a:solidFill>
                <a:latin typeface="Noto Sans"/>
              </a:rPr>
              <a:t>◇ Active bleeding?</a:t>
            </a:r>
          </a:p>
          <a:p>
            <a:pPr algn="ctr"/>
            <a:r>
              <a:rPr sz="750" b="0" i="0" lang="en-US">
                <a:solidFill>
                  <a:srgbClr val="6B6B6B"/>
                </a:solidFill>
                <a:latin typeface="Noto Sans"/>
              </a:rPr>
              <a:t>hem_04</a:t>
            </a:r>
          </a:p>
        </p:txBody>
      </p:sp>
      <p:sp>
        <p:nvSpPr>
          <p:cNvPr id="42" name="Rounded Rectangle 41"/>
          <p:cNvSpPr/>
          <p:nvPr/>
        </p:nvSpPr>
        <p:spPr>
          <a:xfrm>
            <a:off x="895350" y="4648200"/>
            <a:ext cx="2781300" cy="609600"/>
          </a:xfrm>
          <a:prstGeom prst="roundRect">
            <a:avLst>
              <a:gd name="adj" fmla="val 14000"/>
            </a:avLst>
          </a:prstGeom>
          <a:solidFill>
            <a:srgbClr val="FFFFFF"/>
          </a:solidFill>
          <a:ln w="19050">
            <a:solidFill>
              <a:srgbClr val="E0E0E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76200" rIns="76200" tIns="38100" bIns="38100"/>
          <a:lstStyle/>
          <a:p>
            <a:pPr algn="ctr"/>
            <a:r>
              <a:rPr sz="1100" b="0" i="0" lang="en-US">
                <a:solidFill>
                  <a:srgbClr val="6B6B6B"/>
                </a:solidFill>
                <a:latin typeface="Noto Sans"/>
              </a:rPr>
              <a:t>Tourniquet — one palm above wound</a:t>
            </a:r>
          </a:p>
          <a:p>
            <a:pPr algn="ctr"/>
            <a:r>
              <a:rPr sz="750" b="0" i="0" lang="en-US">
                <a:solidFill>
                  <a:srgbClr val="6B6B6B"/>
                </a:solidFill>
                <a:latin typeface="Noto Sans"/>
              </a:rPr>
              <a:t>hem_05 · terminal</a:t>
            </a:r>
          </a:p>
        </p:txBody>
      </p:sp>
      <p:sp>
        <p:nvSpPr>
          <p:cNvPr id="43" name="Rounded Rectangle 42"/>
          <p:cNvSpPr/>
          <p:nvPr/>
        </p:nvSpPr>
        <p:spPr>
          <a:xfrm>
            <a:off x="4038600" y="4667250"/>
            <a:ext cx="1866900" cy="571500"/>
          </a:xfrm>
          <a:prstGeom prst="roundRect">
            <a:avLst>
              <a:gd name="adj" fmla="val 14000"/>
            </a:avLst>
          </a:prstGeom>
          <a:solidFill>
            <a:srgbClr val="FFFFFF"/>
          </a:solidFill>
          <a:ln w="19050">
            <a:solidFill>
              <a:srgbClr val="E0E0E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76200" rIns="76200" tIns="38100" bIns="38100"/>
          <a:lstStyle/>
          <a:p>
            <a:pPr algn="ctr"/>
            <a:r>
              <a:rPr sz="1100" b="0" i="0" lang="en-US">
                <a:solidFill>
                  <a:srgbClr val="6B6B6B"/>
                </a:solidFill>
                <a:latin typeface="Noto Sans"/>
              </a:rPr>
              <a:t>◇ Active bleeding?</a:t>
            </a:r>
          </a:p>
          <a:p>
            <a:pPr algn="ctr"/>
            <a:r>
              <a:rPr sz="750" b="0" i="0" lang="en-US">
                <a:solidFill>
                  <a:srgbClr val="6B6B6B"/>
                </a:solidFill>
                <a:latin typeface="Noto Sans"/>
              </a:rPr>
              <a:t>hem_06</a:t>
            </a:r>
          </a:p>
        </p:txBody>
      </p:sp>
      <p:sp>
        <p:nvSpPr>
          <p:cNvPr id="44" name="Rounded Rectangle 43"/>
          <p:cNvSpPr/>
          <p:nvPr/>
        </p:nvSpPr>
        <p:spPr>
          <a:xfrm>
            <a:off x="6381750" y="2895600"/>
            <a:ext cx="2133600" cy="476250"/>
          </a:xfrm>
          <a:prstGeom prst="roundRect">
            <a:avLst>
              <a:gd name="adj" fmla="val 50000"/>
            </a:avLst>
          </a:prstGeom>
          <a:solidFill>
            <a:srgbClr val="FFFFFF"/>
          </a:solidFill>
          <a:ln w="19050">
            <a:solidFill>
              <a:srgbClr val="E0E0E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76200" rIns="76200" tIns="38100" bIns="38100"/>
          <a:lstStyle/>
          <a:p>
            <a:pPr algn="ctr"/>
            <a:r>
              <a:rPr sz="1100" b="0" i="0" lang="en-US">
                <a:solidFill>
                  <a:srgbClr val="6B6B6B"/>
                </a:solidFill>
                <a:latin typeface="Noto Sans"/>
              </a:rPr>
              <a:t>Transport to health center</a:t>
            </a:r>
          </a:p>
          <a:p>
            <a:pPr algn="ctr"/>
            <a:r>
              <a:rPr sz="750" b="0" i="0" lang="en-US">
                <a:solidFill>
                  <a:srgbClr val="6B6B6B"/>
                </a:solidFill>
                <a:latin typeface="Noto Sans"/>
              </a:rPr>
              <a:t>hem_08</a:t>
            </a:r>
          </a:p>
        </p:txBody>
      </p:sp>
      <p:sp>
        <p:nvSpPr>
          <p:cNvPr id="45" name="Rounded Rectangle 44"/>
          <p:cNvSpPr/>
          <p:nvPr/>
        </p:nvSpPr>
        <p:spPr>
          <a:xfrm>
            <a:off x="6381750" y="4724400"/>
            <a:ext cx="2133600" cy="476250"/>
          </a:xfrm>
          <a:prstGeom prst="roundRect">
            <a:avLst>
              <a:gd name="adj" fmla="val 50000"/>
            </a:avLst>
          </a:prstGeom>
          <a:solidFill>
            <a:srgbClr val="FFFFFF"/>
          </a:solidFill>
          <a:ln w="19050">
            <a:solidFill>
              <a:srgbClr val="E0E0E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76200" rIns="76200" tIns="38100" bIns="38100"/>
          <a:lstStyle/>
          <a:p>
            <a:pPr algn="ctr"/>
            <a:r>
              <a:rPr sz="1100" b="0" i="0" lang="en-US">
                <a:solidFill>
                  <a:srgbClr val="6B6B6B"/>
                </a:solidFill>
                <a:latin typeface="Noto Sans"/>
              </a:rPr>
              <a:t>URGENT transport</a:t>
            </a:r>
          </a:p>
          <a:p>
            <a:pPr algn="ctr"/>
            <a:r>
              <a:rPr sz="750" b="0" i="0" lang="en-US">
                <a:solidFill>
                  <a:srgbClr val="6B6B6B"/>
                </a:solidFill>
                <a:latin typeface="Noto Sans"/>
              </a:rPr>
              <a:t>hem_07</a:t>
            </a:r>
          </a:p>
        </p:txBody>
      </p:sp>
      <p:sp>
        <p:nvSpPr>
          <p:cNvPr id="46" name="Oval 45"/>
          <p:cNvSpPr/>
          <p:nvPr/>
        </p:nvSpPr>
        <p:spPr>
          <a:xfrm>
            <a:off x="514350" y="2533650"/>
            <a:ext cx="266700" cy="266700"/>
          </a:xfrm>
          <a:prstGeom prst="ellipse">
            <a:avLst/>
          </a:prstGeom>
          <a:solidFill>
            <a:srgbClr val="F5F5F5"/>
          </a:solidFill>
          <a:ln w="19050">
            <a:solidFill>
              <a:srgbClr val="E0E0E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76200" rIns="76200" tIns="38100" bIns="38100"/>
          <a:lstStyle/>
          <a:p>
            <a:pPr algn="ctr"/>
            <a:r>
              <a:rPr sz="1100" b="1" i="0" lang="en-US">
                <a:solidFill>
                  <a:srgbClr val="4A4A4A"/>
                </a:solidFill>
                <a:latin typeface="Noto Sans"/>
              </a:rPr>
              <a:t>1</a:t>
            </a:r>
          </a:p>
        </p:txBody>
      </p:sp>
      <p:sp>
        <p:nvSpPr>
          <p:cNvPr id="47" name="Oval 46"/>
          <p:cNvSpPr/>
          <p:nvPr/>
        </p:nvSpPr>
        <p:spPr>
          <a:xfrm>
            <a:off x="514350" y="3676650"/>
            <a:ext cx="266700" cy="266700"/>
          </a:xfrm>
          <a:prstGeom prst="ellipse">
            <a:avLst/>
          </a:prstGeom>
          <a:solidFill>
            <a:srgbClr val="F5F5F5"/>
          </a:solidFill>
          <a:ln w="19050">
            <a:solidFill>
              <a:srgbClr val="E0E0E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76200" rIns="76200" tIns="38100" bIns="38100"/>
          <a:lstStyle/>
          <a:p>
            <a:pPr algn="ctr"/>
            <a:r>
              <a:rPr sz="1100" b="1" i="0" lang="en-US">
                <a:solidFill>
                  <a:srgbClr val="4A4A4A"/>
                </a:solidFill>
                <a:latin typeface="Noto Sans"/>
              </a:rPr>
              <a:t>2</a:t>
            </a:r>
          </a:p>
        </p:txBody>
      </p:sp>
      <p:sp>
        <p:nvSpPr>
          <p:cNvPr id="48" name="Oval 47"/>
          <p:cNvSpPr/>
          <p:nvPr/>
        </p:nvSpPr>
        <p:spPr>
          <a:xfrm>
            <a:off x="514350" y="4819650"/>
            <a:ext cx="266700" cy="266700"/>
          </a:xfrm>
          <a:prstGeom prst="ellipse">
            <a:avLst/>
          </a:prstGeom>
          <a:solidFill>
            <a:srgbClr val="F5F5F5"/>
          </a:solidFill>
          <a:ln w="19050">
            <a:solidFill>
              <a:srgbClr val="E0E0E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76200" rIns="76200" tIns="38100" bIns="38100"/>
          <a:lstStyle/>
          <a:p>
            <a:pPr algn="ctr"/>
            <a:r>
              <a:rPr sz="1100" b="1" i="0" lang="en-US">
                <a:solidFill>
                  <a:srgbClr val="4A4A4A"/>
                </a:solidFill>
                <a:latin typeface="Noto Sans"/>
              </a:rPr>
              <a:t>3</a:t>
            </a:r>
          </a:p>
        </p:txBody>
      </p:sp>
      <p:sp>
        <p:nvSpPr>
          <p:cNvPr id="49" name="Rounded Rectangle 48"/>
          <p:cNvSpPr/>
          <p:nvPr/>
        </p:nvSpPr>
        <p:spPr>
          <a:xfrm>
            <a:off x="3467100" y="1847850"/>
            <a:ext cx="3143250" cy="228600"/>
          </a:xfrm>
          <a:prstGeom prst="roundRect">
            <a:avLst>
              <a:gd name="adj" fmla="val 40000"/>
            </a:avLst>
          </a:prstGeom>
          <a:solidFill>
            <a:srgbClr val="FFFFFF"/>
          </a:solidFill>
          <a:ln w="15875">
            <a:solidFill>
              <a:srgbClr val="C7C7C7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76200" rIns="76200" tIns="38100" bIns="38100"/>
          <a:lstStyle/>
          <a:p>
            <a:pPr algn="ctr"/>
            <a:r>
              <a:rPr sz="900" b="1" i="0" lang="en-US">
                <a:solidFill>
                  <a:srgbClr val="C7C7C7"/>
                </a:solidFill>
                <a:latin typeface="Noto Sans"/>
              </a:rPr>
              <a:t>yes →  &gt;&gt; JUMP to chart 'hemorrhage' &lt;&lt;</a:t>
            </a:r>
          </a:p>
        </p:txBody>
      </p:sp>
      <p:sp>
        <p:nvSpPr>
          <p:cNvPr id="50" name="Rounded Rectangle 49"/>
          <p:cNvSpPr/>
          <p:nvPr/>
        </p:nvSpPr>
        <p:spPr>
          <a:xfrm>
            <a:off x="2895600" y="3143250"/>
            <a:ext cx="1619250" cy="228600"/>
          </a:xfrm>
          <a:prstGeom prst="roundRect">
            <a:avLst>
              <a:gd name="adj" fmla="val 40000"/>
            </a:avLst>
          </a:prstGeom>
          <a:solidFill>
            <a:srgbClr val="FFFFFF"/>
          </a:solidFill>
          <a:ln w="15875">
            <a:solidFill>
              <a:srgbClr val="E5A3A3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76200" rIns="76200" tIns="38100" bIns="38100"/>
          <a:lstStyle/>
          <a:p>
            <a:pPr algn="ctr"/>
            <a:r>
              <a:rPr sz="900" b="1" i="0" lang="en-US">
                <a:solidFill>
                  <a:srgbClr val="E5A3A3"/>
                </a:solidFill>
                <a:latin typeface="Noto Sans"/>
              </a:rPr>
              <a:t>yes — still bleeding</a:t>
            </a:r>
          </a:p>
        </p:txBody>
      </p:sp>
      <p:sp>
        <p:nvSpPr>
          <p:cNvPr id="51" name="Rounded Rectangle 50"/>
          <p:cNvSpPr/>
          <p:nvPr/>
        </p:nvSpPr>
        <p:spPr>
          <a:xfrm>
            <a:off x="2895600" y="4286250"/>
            <a:ext cx="1619250" cy="228600"/>
          </a:xfrm>
          <a:prstGeom prst="roundRect">
            <a:avLst>
              <a:gd name="adj" fmla="val 40000"/>
            </a:avLst>
          </a:prstGeom>
          <a:solidFill>
            <a:srgbClr val="FFFFFF"/>
          </a:solidFill>
          <a:ln w="15875">
            <a:solidFill>
              <a:srgbClr val="E5A3A3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76200" rIns="76200" tIns="38100" bIns="38100"/>
          <a:lstStyle/>
          <a:p>
            <a:pPr algn="ctr"/>
            <a:r>
              <a:rPr sz="900" b="1" i="0" lang="en-US">
                <a:solidFill>
                  <a:srgbClr val="E5A3A3"/>
                </a:solidFill>
                <a:latin typeface="Noto Sans"/>
              </a:rPr>
              <a:t>yes — still bleeding</a:t>
            </a:r>
          </a:p>
        </p:txBody>
      </p:sp>
      <p:sp>
        <p:nvSpPr>
          <p:cNvPr id="52" name="Rounded Rectangle 51"/>
          <p:cNvSpPr/>
          <p:nvPr/>
        </p:nvSpPr>
        <p:spPr>
          <a:xfrm>
            <a:off x="6191250" y="2247900"/>
            <a:ext cx="1428750" cy="228600"/>
          </a:xfrm>
          <a:prstGeom prst="roundRect">
            <a:avLst>
              <a:gd name="adj" fmla="val 40000"/>
            </a:avLst>
          </a:prstGeom>
          <a:solidFill>
            <a:srgbClr val="FFFFFF"/>
          </a:solidFill>
          <a:ln w="15875">
            <a:solidFill>
              <a:srgbClr val="A9C9B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76200" rIns="76200" tIns="38100" bIns="38100"/>
          <a:lstStyle/>
          <a:p>
            <a:pPr algn="ctr"/>
            <a:r>
              <a:rPr sz="900" b="1" i="0" lang="en-US">
                <a:solidFill>
                  <a:srgbClr val="A9C9BA"/>
                </a:solidFill>
                <a:latin typeface="Noto Sans"/>
              </a:rPr>
              <a:t>✓ no — controlled</a:t>
            </a:r>
          </a:p>
        </p:txBody>
      </p:sp>
      <p:sp>
        <p:nvSpPr>
          <p:cNvPr id="53" name="Rounded Rectangle 52"/>
          <p:cNvSpPr/>
          <p:nvPr/>
        </p:nvSpPr>
        <p:spPr>
          <a:xfrm>
            <a:off x="6191250" y="3962400"/>
            <a:ext cx="1428750" cy="228600"/>
          </a:xfrm>
          <a:prstGeom prst="roundRect">
            <a:avLst>
              <a:gd name="adj" fmla="val 40000"/>
            </a:avLst>
          </a:prstGeom>
          <a:solidFill>
            <a:srgbClr val="FFFFFF"/>
          </a:solidFill>
          <a:ln w="15875">
            <a:solidFill>
              <a:srgbClr val="A9C9B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76200" rIns="76200" tIns="38100" bIns="38100"/>
          <a:lstStyle/>
          <a:p>
            <a:pPr algn="ctr"/>
            <a:r>
              <a:rPr sz="900" b="1" i="0" lang="en-US">
                <a:solidFill>
                  <a:srgbClr val="A9C9BA"/>
                </a:solidFill>
                <a:latin typeface="Noto Sans"/>
              </a:rPr>
              <a:t>✓ no — controlled</a:t>
            </a:r>
          </a:p>
        </p:txBody>
      </p:sp>
      <p:sp>
        <p:nvSpPr>
          <p:cNvPr id="54" name="Rounded Rectangle 53"/>
          <p:cNvSpPr/>
          <p:nvPr/>
        </p:nvSpPr>
        <p:spPr>
          <a:xfrm>
            <a:off x="5962650" y="5181600"/>
            <a:ext cx="628650" cy="209550"/>
          </a:xfrm>
          <a:prstGeom prst="roundRect">
            <a:avLst>
              <a:gd name="adj" fmla="val 40000"/>
            </a:avLst>
          </a:prstGeom>
          <a:solidFill>
            <a:srgbClr val="FFFFFF"/>
          </a:solidFill>
          <a:ln w="15875">
            <a:solidFill>
              <a:srgbClr val="A9C9B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76200" rIns="76200" tIns="38100" bIns="38100"/>
          <a:lstStyle/>
          <a:p>
            <a:pPr algn="ctr"/>
            <a:r>
              <a:rPr sz="900" b="1" i="0" lang="en-US">
                <a:solidFill>
                  <a:srgbClr val="A9C9BA"/>
                </a:solidFill>
                <a:latin typeface="Noto Sans"/>
              </a:rPr>
              <a:t>✓ no</a:t>
            </a:r>
          </a:p>
        </p:txBody>
      </p:sp>
      <p:sp>
        <p:nvSpPr>
          <p:cNvPr id="55" name="Rounded Rectangle 54"/>
          <p:cNvSpPr/>
          <p:nvPr/>
        </p:nvSpPr>
        <p:spPr>
          <a:xfrm>
            <a:off x="2381250" y="5429250"/>
            <a:ext cx="4095750" cy="228600"/>
          </a:xfrm>
          <a:prstGeom prst="roundRect">
            <a:avLst>
              <a:gd name="adj" fmla="val 40000"/>
            </a:avLst>
          </a:prstGeom>
          <a:solidFill>
            <a:srgbClr val="FFFFFF"/>
          </a:solidFill>
          <a:ln w="15875">
            <a:solidFill>
              <a:srgbClr val="E3C29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76200" rIns="76200" tIns="38100" bIns="38100"/>
          <a:lstStyle/>
          <a:p>
            <a:pPr algn="ctr"/>
            <a:r>
              <a:rPr sz="900" b="1" i="0" lang="en-US">
                <a:solidFill>
                  <a:srgbClr val="E3C29E"/>
                </a:solidFill>
                <a:latin typeface="Noto Sans"/>
              </a:rPr>
              <a:t>⚠ yes at terminal tier → HOLD, no tier 4 (flagged divergence)</a:t>
            </a:r>
          </a:p>
        </p:txBody>
      </p:sp>
      <p:sp>
        <p:nvSpPr>
          <p:cNvPr id="56" name="Rounded Rectangle 55"/>
          <p:cNvSpPr/>
          <p:nvPr/>
        </p:nvSpPr>
        <p:spPr>
          <a:xfrm>
            <a:off x="8877300" y="1123950"/>
            <a:ext cx="2895600" cy="5257800"/>
          </a:xfrm>
          <a:prstGeom prst="roundRect">
            <a:avLst>
              <a:gd name="adj" fmla="val 5000"/>
            </a:avLst>
          </a:prstGeom>
          <a:solidFill>
            <a:srgbClr val="FFFFFF"/>
          </a:solidFill>
          <a:ln w="19050">
            <a:solidFill>
              <a:srgbClr val="E0E0E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76200" rIns="76200" tIns="38100" bIns="38100"/>
          <a:lstStyle/>
          <a:p>
            <a:pPr algn="ctr"/>
          </a:p>
        </p:txBody>
      </p:sp>
      <p:sp>
        <p:nvSpPr>
          <p:cNvPr id="57" name="TextBox 56"/>
          <p:cNvSpPr txBox="1"/>
          <p:nvPr/>
        </p:nvSpPr>
        <p:spPr>
          <a:xfrm>
            <a:off x="9048750" y="1257300"/>
            <a:ext cx="2476500" cy="1905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r>
              <a:rPr sz="1000" b="1" i="0" lang="en-US">
                <a:solidFill>
                  <a:srgbClr val="1A1A1A"/>
                </a:solidFill>
                <a:latin typeface="Noto Sans"/>
              </a:rPr>
              <a:t>ENGINE STATE</a:t>
            </a:r>
          </a:p>
        </p:txBody>
      </p:sp>
      <p:cxnSp>
        <p:nvCxnSpPr>
          <p:cNvPr id="58" name="Connector 57"/>
          <p:cNvCxnSpPr/>
          <p:nvPr/>
        </p:nvCxnSpPr>
        <p:spPr>
          <a:xfrm>
            <a:off x="9048750" y="1485900"/>
            <a:ext cx="2552700" cy="0"/>
          </a:xfrm>
          <a:prstGeom prst="line">
            <a:avLst/>
          </a:prstGeom>
          <a:ln w="12700">
            <a:solidFill>
              <a:srgbClr val="E0E0E0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59" name="TextBox 58"/>
          <p:cNvSpPr txBox="1"/>
          <p:nvPr/>
        </p:nvSpPr>
        <p:spPr>
          <a:xfrm>
            <a:off x="9048750" y="1581150"/>
            <a:ext cx="2476500" cy="1524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r>
              <a:rPr sz="800" b="1" i="0" lang="en-US">
                <a:solidFill>
                  <a:srgbClr val="6B6B6B"/>
                </a:solidFill>
                <a:latin typeface="Noto Sans"/>
              </a:rPr>
              <a:t>WORKING MEMORY</a:t>
            </a:r>
          </a:p>
        </p:txBody>
      </p:sp>
      <p:sp>
        <p:nvSpPr>
          <p:cNvPr id="60" name="Rounded Rectangle 59"/>
          <p:cNvSpPr/>
          <p:nvPr/>
        </p:nvSpPr>
        <p:spPr>
          <a:xfrm>
            <a:off x="9048750" y="1771650"/>
            <a:ext cx="2381250" cy="247650"/>
          </a:xfrm>
          <a:prstGeom prst="roundRect">
            <a:avLst>
              <a:gd name="adj" fmla="val 50000"/>
            </a:avLst>
          </a:prstGeom>
          <a:solidFill>
            <a:srgbClr val="F5F5F5"/>
          </a:solidFill>
          <a:ln w="15875">
            <a:solidFill>
              <a:srgbClr val="E0E0E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76200" rIns="76200" tIns="38100" bIns="38100"/>
          <a:lstStyle/>
          <a:p>
            <a:pPr algn="ctr"/>
            <a:r>
              <a:rPr sz="1000" b="0" i="0" lang="en-US">
                <a:solidFill>
                  <a:srgbClr val="4A4A4A"/>
                </a:solidFill>
                <a:latin typeface="Consolas"/>
              </a:rPr>
              <a:t>Position(nid=gen_04)</a:t>
            </a:r>
          </a:p>
        </p:txBody>
      </p:sp>
      <p:sp>
        <p:nvSpPr>
          <p:cNvPr id="61" name="Rounded Rectangle 60"/>
          <p:cNvSpPr/>
          <p:nvPr/>
        </p:nvSpPr>
        <p:spPr>
          <a:xfrm>
            <a:off x="9048750" y="2076450"/>
            <a:ext cx="2381250" cy="247650"/>
          </a:xfrm>
          <a:prstGeom prst="roundRect">
            <a:avLst>
              <a:gd name="adj" fmla="val 50000"/>
            </a:avLst>
          </a:prstGeom>
          <a:solidFill>
            <a:srgbClr val="F5F5F5"/>
          </a:solidFill>
          <a:ln w="15875">
            <a:solidFill>
              <a:srgbClr val="E0E0E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76200" rIns="76200" tIns="38100" bIns="38100"/>
          <a:lstStyle/>
          <a:p>
            <a:pPr algn="ctr"/>
            <a:r>
              <a:rPr sz="1000" b="0" i="0" lang="en-US">
                <a:solidFill>
                  <a:srgbClr val="4A4A4A"/>
                </a:solidFill>
                <a:latin typeface="Consolas"/>
              </a:rPr>
              <a:t>Active(chart=general_…)</a:t>
            </a:r>
          </a:p>
        </p:txBody>
      </p:sp>
      <p:sp>
        <p:nvSpPr>
          <p:cNvPr id="62" name="TextBox 61"/>
          <p:cNvSpPr txBox="1"/>
          <p:nvPr/>
        </p:nvSpPr>
        <p:spPr>
          <a:xfrm>
            <a:off x="9048750" y="2457450"/>
            <a:ext cx="2476500" cy="1524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r>
              <a:rPr sz="800" b="1" i="0" lang="en-US">
                <a:solidFill>
                  <a:srgbClr val="6B6B6B"/>
                </a:solidFill>
                <a:latin typeface="Noto Sans"/>
              </a:rPr>
              <a:t>YOUR ANSWER BECOMES A FACT</a:t>
            </a:r>
          </a:p>
        </p:txBody>
      </p:sp>
      <p:sp>
        <p:nvSpPr>
          <p:cNvPr id="63" name="Rounded Rectangle 62">
            <a:hlinkClick action="ppaction://hlinksldjump" r:id="rId2"/>
          </p:cNvPr>
          <p:cNvSpPr/>
          <p:nvPr/>
        </p:nvSpPr>
        <p:spPr>
          <a:xfrm>
            <a:off x="9048750" y="2667000"/>
            <a:ext cx="2552700" cy="800100"/>
          </a:xfrm>
          <a:prstGeom prst="roundRect">
            <a:avLst>
              <a:gd name="adj" fmla="val 12000"/>
            </a:avLst>
          </a:prstGeom>
          <a:solidFill>
            <a:srgbClr val="CC000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76200" rIns="76200" tIns="38100" bIns="38100"/>
          <a:lstStyle/>
          <a:p>
            <a:pPr algn="ctr"/>
            <a:r>
              <a:rPr sz="2200" b="1" i="0" lang="en-US">
                <a:solidFill>
                  <a:srgbClr val="FFFFFF"/>
                </a:solidFill>
                <a:latin typeface="Noto Sans"/>
              </a:rPr>
              <a:t>YES</a:t>
            </a:r>
          </a:p>
          <a:p>
            <a:pPr algn="ctr"/>
            <a:r>
              <a:rPr sz="1050" b="1" i="0" lang="en-US">
                <a:solidFill>
                  <a:srgbClr val="FFEAEA"/>
                </a:solidFill>
                <a:latin typeface="Noto Sans"/>
              </a:rPr>
              <a:t>blood is spreading fast</a:t>
            </a:r>
          </a:p>
        </p:txBody>
      </p:sp>
      <p:sp>
        <p:nvSpPr>
          <p:cNvPr id="64" name="Rounded Rectangle 63">
            <a:hlinkClick action="ppaction://hlinksldjump" r:id="rId3"/>
          </p:cNvPr>
          <p:cNvSpPr/>
          <p:nvPr/>
        </p:nvSpPr>
        <p:spPr>
          <a:xfrm>
            <a:off x="9048750" y="3581400"/>
            <a:ext cx="2552700" cy="800100"/>
          </a:xfrm>
          <a:prstGeom prst="roundRect">
            <a:avLst>
              <a:gd name="adj" fmla="val 12000"/>
            </a:avLst>
          </a:prstGeom>
          <a:solidFill>
            <a:srgbClr val="FFFFFF"/>
          </a:solidFill>
          <a:ln w="25400">
            <a:solidFill>
              <a:srgbClr val="2D6A4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76200" rIns="76200" tIns="38100" bIns="38100"/>
          <a:lstStyle/>
          <a:p>
            <a:pPr algn="ctr"/>
            <a:r>
              <a:rPr sz="2200" b="1" i="0" lang="en-US">
                <a:solidFill>
                  <a:srgbClr val="2D6A4F"/>
                </a:solidFill>
                <a:latin typeface="Noto Sans"/>
              </a:rPr>
              <a:t>NO</a:t>
            </a:r>
          </a:p>
          <a:p>
            <a:pPr algn="ctr"/>
            <a:r>
              <a:rPr sz="1050" b="1" i="0" lang="en-US">
                <a:solidFill>
                  <a:srgbClr val="2D6A4F"/>
                </a:solidFill>
                <a:latin typeface="Noto Sans"/>
              </a:rPr>
              <a:t>no life-threatening bleed</a:t>
            </a:r>
          </a:p>
        </p:txBody>
      </p:sp>
      <p:sp>
        <p:nvSpPr>
          <p:cNvPr id="65" name="TextBox 64"/>
          <p:cNvSpPr txBox="1"/>
          <p:nvPr/>
        </p:nvSpPr>
        <p:spPr>
          <a:xfrm>
            <a:off x="9048750" y="5086350"/>
            <a:ext cx="2476500" cy="1524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r>
              <a:rPr sz="800" b="1" i="0" lang="en-US">
                <a:solidFill>
                  <a:srgbClr val="6B6B6B"/>
                </a:solidFill>
                <a:latin typeface="Noto Sans"/>
              </a:rPr>
              <a:t>ENGINE OUTPUT (VERBATIM)</a:t>
            </a:r>
          </a:p>
        </p:txBody>
      </p:sp>
      <p:sp>
        <p:nvSpPr>
          <p:cNvPr id="66" name="Rounded Rectangle 65"/>
          <p:cNvSpPr/>
          <p:nvPr/>
        </p:nvSpPr>
        <p:spPr>
          <a:xfrm>
            <a:off x="9048750" y="5257800"/>
            <a:ext cx="2552700" cy="800100"/>
          </a:xfrm>
          <a:prstGeom prst="roundRect">
            <a:avLst>
              <a:gd name="adj" fmla="val 6000"/>
            </a:avLst>
          </a:prstGeom>
          <a:solidFill>
            <a:srgbClr val="F5F5F5"/>
          </a:solidFill>
          <a:ln w="15875">
            <a:solidFill>
              <a:srgbClr val="E0E0E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 wrap="square" lIns="114300" rIns="114300" tIns="76200" bIns="76200"/>
          <a:lstStyle/>
          <a:p>
            <a:pPr algn="ctr">
              <a:lnSpc>
                <a:spcPct val="115000"/>
              </a:lnSpc>
            </a:pPr>
            <a:r>
              <a:rPr sz="850" b="0" i="0" lang="en-US">
                <a:solidFill>
                  <a:srgbClr val="4A4A4A"/>
                </a:solidFill>
                <a:latin typeface="Consolas"/>
              </a:rPr>
              <a:t>[gen_04] Life threatening</a:t>
            </a:r>
          </a:p>
          <a:p>
            <a:pPr>
              <a:lnSpc>
                <a:spcPct val="115000"/>
              </a:lnSpc>
            </a:pPr>
            <a:r>
              <a:rPr sz="850" b="0" i="0" lang="en-US">
                <a:solidFill>
                  <a:srgbClr val="4A4A4A"/>
                </a:solidFill>
                <a:latin typeface="Consolas"/>
              </a:rPr>
              <a:t>bleeding?</a:t>
            </a:r>
          </a:p>
          <a:p>
            <a:pPr>
              <a:lnSpc>
                <a:spcPct val="115000"/>
              </a:lnSpc>
            </a:pPr>
            <a:r>
              <a:rPr sz="850" b="0" i="0" lang="en-US">
                <a:solidFill>
                  <a:srgbClr val="4A4A4A"/>
                </a:solidFill>
                <a:latin typeface="Consolas"/>
              </a:rPr>
              <a:t>   1) yes   2) no</a:t>
            </a:r>
          </a:p>
          <a:p>
            <a:pPr>
              <a:lnSpc>
                <a:spcPct val="115000"/>
              </a:lnSpc>
            </a:pPr>
            <a:r>
              <a:rPr sz="850" b="0" i="0" lang="en-US">
                <a:solidFill>
                  <a:srgbClr val="4A4A4A"/>
                </a:solidFill>
                <a:latin typeface="Consolas"/>
              </a:rPr>
              <a:t>   &gt; _</a:t>
            </a:r>
          </a:p>
        </p:txBody>
      </p:sp>
      <p:sp>
        <p:nvSpPr>
          <p:cNvPr id="67" name="TextBox 66"/>
          <p:cNvSpPr txBox="1"/>
          <p:nvPr/>
        </p:nvSpPr>
        <p:spPr>
          <a:xfrm>
            <a:off x="9048750" y="6096000"/>
            <a:ext cx="2552700" cy="2286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r>
              <a:rPr sz="750" b="0" i="0" lang="en-US">
                <a:solidFill>
                  <a:srgbClr val="6B6B6B"/>
                </a:solidFill>
                <a:latin typeface="Noto Sans"/>
              </a:rPr>
              <a:t>real session · presentation/traces/walkthrough_yes_branch_en.txt</a:t>
            </a:r>
          </a:p>
        </p:txBody>
      </p:sp>
      <p:sp>
        <p:nvSpPr>
          <p:cNvPr id="68" name="Rounded Rectangle 67"/>
          <p:cNvSpPr/>
          <p:nvPr/>
        </p:nvSpPr>
        <p:spPr>
          <a:xfrm>
            <a:off x="419100" y="6496050"/>
            <a:ext cx="4953000" cy="247650"/>
          </a:xfrm>
          <a:prstGeom prst="roundRect">
            <a:avLst>
              <a:gd name="adj" fmla="val 50000"/>
            </a:avLst>
          </a:prstGeom>
          <a:solidFill>
            <a:srgbClr val="F5F5F5"/>
          </a:solidFill>
          <a:ln w="15875">
            <a:solidFill>
              <a:srgbClr val="E0E0E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76200" rIns="76200" tIns="38100" bIns="38100"/>
          <a:lstStyle/>
          <a:p>
            <a:pPr algn="ctr"/>
            <a:r>
              <a:rPr sz="900" b="0" i="0" lang="en-US">
                <a:solidFill>
                  <a:srgbClr val="4A4A4A"/>
                </a:solidFill>
                <a:latin typeface="Noto Sans"/>
              </a:rPr>
              <a:t>SARC charts #1 + #10 · data/general_assessment.json · data/hemorrhage.json</a:t>
            </a:r>
          </a:p>
        </p:txBody>
      </p:sp>
      <p:sp>
        <p:nvSpPr>
          <p:cNvPr id="69" name="Oval 68"/>
          <p:cNvSpPr/>
          <p:nvPr/>
        </p:nvSpPr>
        <p:spPr>
          <a:xfrm>
            <a:off x="10001250" y="6572250"/>
            <a:ext cx="76200" cy="76200"/>
          </a:xfrm>
          <a:prstGeom prst="ellipse">
            <a:avLst/>
          </a:prstGeom>
          <a:solidFill>
            <a:srgbClr val="4A4A4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76200" rIns="76200" tIns="38100" bIns="38100"/>
          <a:lstStyle/>
          <a:p>
            <a:pPr algn="ctr"/>
          </a:p>
        </p:txBody>
      </p:sp>
      <p:sp>
        <p:nvSpPr>
          <p:cNvPr id="70" name="Oval 69"/>
          <p:cNvSpPr/>
          <p:nvPr/>
        </p:nvSpPr>
        <p:spPr>
          <a:xfrm>
            <a:off x="10163175" y="6572250"/>
            <a:ext cx="76200" cy="76200"/>
          </a:xfrm>
          <a:prstGeom prst="ellipse">
            <a:avLst/>
          </a:prstGeom>
          <a:solidFill>
            <a:srgbClr val="4A4A4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76200" rIns="76200" tIns="38100" bIns="38100"/>
          <a:lstStyle/>
          <a:p>
            <a:pPr algn="ctr"/>
          </a:p>
        </p:txBody>
      </p:sp>
      <p:sp>
        <p:nvSpPr>
          <p:cNvPr id="71" name="Oval 70"/>
          <p:cNvSpPr/>
          <p:nvPr/>
        </p:nvSpPr>
        <p:spPr>
          <a:xfrm>
            <a:off x="10325100" y="6572250"/>
            <a:ext cx="76200" cy="76200"/>
          </a:xfrm>
          <a:prstGeom prst="ellipse">
            <a:avLst/>
          </a:prstGeom>
          <a:solidFill>
            <a:srgbClr val="4A4A4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76200" rIns="76200" tIns="38100" bIns="38100"/>
          <a:lstStyle/>
          <a:p>
            <a:pPr algn="ctr"/>
          </a:p>
        </p:txBody>
      </p:sp>
      <p:sp>
        <p:nvSpPr>
          <p:cNvPr id="72" name="Oval 71"/>
          <p:cNvSpPr/>
          <p:nvPr/>
        </p:nvSpPr>
        <p:spPr>
          <a:xfrm>
            <a:off x="10487025" y="6572250"/>
            <a:ext cx="95250" cy="95250"/>
          </a:xfrm>
          <a:prstGeom prst="ellipse">
            <a:avLst/>
          </a:prstGeom>
          <a:solidFill>
            <a:srgbClr val="CC000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76200" rIns="76200" tIns="38100" bIns="38100"/>
          <a:lstStyle/>
          <a:p>
            <a:pPr algn="ctr"/>
          </a:p>
        </p:txBody>
      </p:sp>
      <p:sp>
        <p:nvSpPr>
          <p:cNvPr id="73" name="Oval 72"/>
          <p:cNvSpPr/>
          <p:nvPr/>
        </p:nvSpPr>
        <p:spPr>
          <a:xfrm>
            <a:off x="10648950" y="6572250"/>
            <a:ext cx="76200" cy="76200"/>
          </a:xfrm>
          <a:prstGeom prst="ellipse">
            <a:avLst/>
          </a:prstGeom>
          <a:solidFill>
            <a:srgbClr val="E0E0E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76200" rIns="76200" tIns="38100" bIns="38100"/>
          <a:lstStyle/>
          <a:p>
            <a:pPr algn="ctr"/>
          </a:p>
        </p:txBody>
      </p:sp>
      <p:sp>
        <p:nvSpPr>
          <p:cNvPr id="74" name="Oval 73"/>
          <p:cNvSpPr/>
          <p:nvPr/>
        </p:nvSpPr>
        <p:spPr>
          <a:xfrm>
            <a:off x="10810875" y="6572250"/>
            <a:ext cx="76200" cy="76200"/>
          </a:xfrm>
          <a:prstGeom prst="ellipse">
            <a:avLst/>
          </a:prstGeom>
          <a:solidFill>
            <a:srgbClr val="E0E0E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76200" rIns="76200" tIns="38100" bIns="38100"/>
          <a:lstStyle/>
          <a:p>
            <a:pPr algn="ctr"/>
          </a:p>
        </p:txBody>
      </p:sp>
      <p:sp>
        <p:nvSpPr>
          <p:cNvPr id="75" name="Oval 74"/>
          <p:cNvSpPr/>
          <p:nvPr/>
        </p:nvSpPr>
        <p:spPr>
          <a:xfrm>
            <a:off x="10972800" y="6572250"/>
            <a:ext cx="76200" cy="76200"/>
          </a:xfrm>
          <a:prstGeom prst="ellipse">
            <a:avLst/>
          </a:prstGeom>
          <a:solidFill>
            <a:srgbClr val="E0E0E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76200" rIns="76200" tIns="38100" bIns="38100"/>
          <a:lstStyle/>
          <a:p>
            <a:pPr algn="ctr"/>
          </a:p>
        </p:txBody>
      </p:sp>
      <p:sp>
        <p:nvSpPr>
          <p:cNvPr id="76" name="Oval 75"/>
          <p:cNvSpPr/>
          <p:nvPr/>
        </p:nvSpPr>
        <p:spPr>
          <a:xfrm>
            <a:off x="11134725" y="6572250"/>
            <a:ext cx="76200" cy="76200"/>
          </a:xfrm>
          <a:prstGeom prst="ellipse">
            <a:avLst/>
          </a:prstGeom>
          <a:solidFill>
            <a:srgbClr val="E0E0E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76200" rIns="76200" tIns="38100" bIns="38100"/>
          <a:lstStyle/>
          <a:p>
            <a:pPr algn="ctr"/>
          </a:p>
        </p:txBody>
      </p:sp>
      <p:sp>
        <p:nvSpPr>
          <p:cNvPr id="77" name="Oval 76"/>
          <p:cNvSpPr/>
          <p:nvPr/>
        </p:nvSpPr>
        <p:spPr>
          <a:xfrm>
            <a:off x="11296650" y="6572250"/>
            <a:ext cx="76200" cy="76200"/>
          </a:xfrm>
          <a:prstGeom prst="ellipse">
            <a:avLst/>
          </a:prstGeom>
          <a:solidFill>
            <a:srgbClr val="E0E0E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76200" rIns="76200" tIns="38100" bIns="38100"/>
          <a:lstStyle/>
          <a:p>
            <a:pPr algn="ctr"/>
          </a:p>
        </p:txBody>
      </p:sp>
      <p:sp>
        <p:nvSpPr>
          <p:cNvPr id="78" name="Oval 77"/>
          <p:cNvSpPr/>
          <p:nvPr/>
        </p:nvSpPr>
        <p:spPr>
          <a:xfrm>
            <a:off x="11458575" y="6572250"/>
            <a:ext cx="76200" cy="76200"/>
          </a:xfrm>
          <a:prstGeom prst="ellipse">
            <a:avLst/>
          </a:prstGeom>
          <a:solidFill>
            <a:srgbClr val="E0E0E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76200" rIns="76200" tIns="38100" bIns="38100"/>
          <a:lstStyle/>
          <a:p>
            <a:pPr algn="ctr"/>
          </a:p>
        </p:txBody>
      </p:sp>
      <p:sp>
        <p:nvSpPr>
          <p:cNvPr id="79" name="TextBox 78"/>
          <p:cNvSpPr txBox="1"/>
          <p:nvPr/>
        </p:nvSpPr>
        <p:spPr>
          <a:xfrm>
            <a:off x="11239500" y="6610350"/>
            <a:ext cx="762000" cy="1905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r>
              <a:rPr sz="900" b="0" i="0" lang="en-US">
                <a:solidFill>
                  <a:srgbClr val="6B6B6B"/>
                </a:solidFill>
                <a:latin typeface="Noto Sans"/>
              </a:rPr>
              <a:t>16 / 28</a:t>
            </a:r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19100" y="285750"/>
            <a:ext cx="8572500" cy="1905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r>
              <a:rPr sz="1050" b="1" i="0" lang="en-US">
                <a:solidFill>
                  <a:srgbClr val="CC0000"/>
                </a:solidFill>
                <a:latin typeface="Noto Sans"/>
              </a:rPr>
              <a:t>FLOW WALKTHROUGH · STEP 5 OF 10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19100" y="495300"/>
            <a:ext cx="9525000" cy="43815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r>
              <a:rPr sz="2100" b="1" i="0" lang="en-US">
                <a:solidFill>
                  <a:srgbClr val="1A1A1A"/>
                </a:solidFill>
                <a:latin typeface="Noto Sans"/>
              </a:rPr>
              <a:t>A jump: the knowledge is five separate trees.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10763250" y="323850"/>
            <a:ext cx="1009650" cy="285750"/>
          </a:xfrm>
          <a:prstGeom prst="roundRect">
            <a:avLst>
              <a:gd name="adj" fmla="val 28000"/>
            </a:avLst>
          </a:prstGeom>
          <a:solidFill>
            <a:srgbClr val="CC000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76200" rIns="76200" tIns="38100" bIns="38100"/>
          <a:lstStyle/>
          <a:p>
            <a:pPr algn="ctr"/>
            <a:r>
              <a:rPr sz="1250" b="1" i="0" lang="en-US">
                <a:solidFill>
                  <a:srgbClr val="FFFFFF"/>
                </a:solidFill>
                <a:latin typeface="Noto Sans"/>
              </a:rPr>
              <a:t>ResQRules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14350" y="1123950"/>
            <a:ext cx="3810000" cy="1524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r>
              <a:rPr sz="850" b="1" i="0" lang="en-US">
                <a:solidFill>
                  <a:srgbClr val="6B6B6B"/>
                </a:solidFill>
                <a:latin typeface="Noto Sans"/>
              </a:rPr>
              <a:t>GENERAL ASSESSMENT — CHART #1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14350" y="2114550"/>
            <a:ext cx="4191000" cy="1524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r>
              <a:rPr sz="850" b="1" i="0" lang="en-US">
                <a:solidFill>
                  <a:srgbClr val="6B6B6B"/>
                </a:solidFill>
                <a:latin typeface="Noto Sans"/>
              </a:rPr>
              <a:t>CATASTROPHIC HEMORRHAGE — CHART #10</a:t>
            </a:r>
          </a:p>
        </p:txBody>
      </p:sp>
      <p:cxnSp>
        <p:nvCxnSpPr>
          <p:cNvPr id="7" name="Connector 6"/>
          <p:cNvCxnSpPr/>
          <p:nvPr/>
        </p:nvCxnSpPr>
        <p:spPr>
          <a:xfrm>
            <a:off x="1733550" y="1571625"/>
            <a:ext cx="171450" cy="0"/>
          </a:xfrm>
          <a:prstGeom prst="line">
            <a:avLst/>
          </a:prstGeom>
          <a:ln w="25400">
            <a:solidFill>
              <a:srgbClr val="4A4A4A"/>
            </a:solidFill>
            <a:tailEnd type="triangle" w="med" len="med"/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8" name="Connector 7"/>
          <p:cNvCxnSpPr/>
          <p:nvPr/>
        </p:nvCxnSpPr>
        <p:spPr>
          <a:xfrm>
            <a:off x="3162300" y="1571625"/>
            <a:ext cx="171450" cy="0"/>
          </a:xfrm>
          <a:prstGeom prst="line">
            <a:avLst/>
          </a:prstGeom>
          <a:ln w="25400">
            <a:solidFill>
              <a:srgbClr val="4A4A4A"/>
            </a:solidFill>
            <a:tailEnd type="triangle" w="med" len="med"/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9" name="Connector 8"/>
          <p:cNvCxnSpPr/>
          <p:nvPr/>
        </p:nvCxnSpPr>
        <p:spPr>
          <a:xfrm>
            <a:off x="4591050" y="1571625"/>
            <a:ext cx="133350" cy="0"/>
          </a:xfrm>
          <a:prstGeom prst="line">
            <a:avLst/>
          </a:prstGeom>
          <a:ln w="25400">
            <a:solidFill>
              <a:srgbClr val="4A4A4A"/>
            </a:solidFill>
            <a:tailEnd type="triangle" w="med" len="med"/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0" name="Connector 9"/>
          <p:cNvCxnSpPr/>
          <p:nvPr/>
        </p:nvCxnSpPr>
        <p:spPr>
          <a:xfrm>
            <a:off x="6667500" y="1571625"/>
            <a:ext cx="104775" cy="0"/>
          </a:xfrm>
          <a:prstGeom prst="line">
            <a:avLst/>
          </a:prstGeom>
          <a:ln w="25400">
            <a:solidFill>
              <a:srgbClr val="4A4A4A"/>
            </a:solidFill>
            <a:tailEnd type="triangle" w="med" len="med"/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1" name="Connector 10"/>
          <p:cNvCxnSpPr/>
          <p:nvPr/>
        </p:nvCxnSpPr>
        <p:spPr>
          <a:xfrm>
            <a:off x="7524750" y="1866900"/>
            <a:ext cx="0" cy="95250"/>
          </a:xfrm>
          <a:prstGeom prst="line">
            <a:avLst/>
          </a:prstGeom>
          <a:ln w="31750">
            <a:solidFill>
              <a:srgbClr val="CC0000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2" name="Connector 11"/>
          <p:cNvCxnSpPr/>
          <p:nvPr/>
        </p:nvCxnSpPr>
        <p:spPr>
          <a:xfrm flipH="1">
            <a:off x="2276475" y="1962150"/>
            <a:ext cx="5248275" cy="0"/>
          </a:xfrm>
          <a:prstGeom prst="line">
            <a:avLst/>
          </a:prstGeom>
          <a:ln w="31750">
            <a:solidFill>
              <a:srgbClr val="CC0000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3" name="Connector 12"/>
          <p:cNvCxnSpPr/>
          <p:nvPr/>
        </p:nvCxnSpPr>
        <p:spPr>
          <a:xfrm>
            <a:off x="2276475" y="1962150"/>
            <a:ext cx="0" cy="342900"/>
          </a:xfrm>
          <a:prstGeom prst="line">
            <a:avLst/>
          </a:prstGeom>
          <a:ln w="31750">
            <a:solidFill>
              <a:srgbClr val="CC0000"/>
            </a:solidFill>
            <a:tailEnd type="triangle" w="med" len="med"/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4" name="Connector 13"/>
          <p:cNvCxnSpPr/>
          <p:nvPr/>
        </p:nvCxnSpPr>
        <p:spPr>
          <a:xfrm>
            <a:off x="3676650" y="2667000"/>
            <a:ext cx="323850" cy="0"/>
          </a:xfrm>
          <a:prstGeom prst="line">
            <a:avLst/>
          </a:prstGeom>
          <a:ln w="19050">
            <a:solidFill>
              <a:srgbClr val="C7C7C7"/>
            </a:solidFill>
            <a:tailEnd type="triangle" w="med" len="med"/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5" name="Connector 14"/>
          <p:cNvCxnSpPr/>
          <p:nvPr/>
        </p:nvCxnSpPr>
        <p:spPr>
          <a:xfrm>
            <a:off x="4953000" y="2990850"/>
            <a:ext cx="0" cy="276225"/>
          </a:xfrm>
          <a:prstGeom prst="line">
            <a:avLst/>
          </a:prstGeom>
          <a:ln w="19050">
            <a:solidFill>
              <a:srgbClr val="C7C7C7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6" name="Connector 15"/>
          <p:cNvCxnSpPr/>
          <p:nvPr/>
        </p:nvCxnSpPr>
        <p:spPr>
          <a:xfrm flipH="1">
            <a:off x="2276475" y="3267075"/>
            <a:ext cx="2676525" cy="0"/>
          </a:xfrm>
          <a:prstGeom prst="line">
            <a:avLst/>
          </a:prstGeom>
          <a:ln w="19050">
            <a:solidFill>
              <a:srgbClr val="C7C7C7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7" name="Connector 16"/>
          <p:cNvCxnSpPr/>
          <p:nvPr/>
        </p:nvCxnSpPr>
        <p:spPr>
          <a:xfrm>
            <a:off x="2276475" y="3267075"/>
            <a:ext cx="0" cy="180975"/>
          </a:xfrm>
          <a:prstGeom prst="line">
            <a:avLst/>
          </a:prstGeom>
          <a:ln w="19050">
            <a:solidFill>
              <a:srgbClr val="C7C7C7"/>
            </a:solidFill>
            <a:tailEnd type="triangle" w="med" len="med"/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8" name="Connector 17"/>
          <p:cNvCxnSpPr/>
          <p:nvPr/>
        </p:nvCxnSpPr>
        <p:spPr>
          <a:xfrm>
            <a:off x="5905500" y="2667000"/>
            <a:ext cx="285750" cy="0"/>
          </a:xfrm>
          <a:prstGeom prst="line">
            <a:avLst/>
          </a:prstGeom>
          <a:ln w="19050">
            <a:solidFill>
              <a:srgbClr val="C7C7C7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9" name="Connector 18"/>
          <p:cNvCxnSpPr/>
          <p:nvPr/>
        </p:nvCxnSpPr>
        <p:spPr>
          <a:xfrm>
            <a:off x="6191250" y="2667000"/>
            <a:ext cx="0" cy="419100"/>
          </a:xfrm>
          <a:prstGeom prst="line">
            <a:avLst/>
          </a:prstGeom>
          <a:ln w="19050">
            <a:solidFill>
              <a:srgbClr val="C7C7C7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0" name="Connector 19"/>
          <p:cNvCxnSpPr/>
          <p:nvPr/>
        </p:nvCxnSpPr>
        <p:spPr>
          <a:xfrm>
            <a:off x="6191250" y="3086100"/>
            <a:ext cx="190500" cy="0"/>
          </a:xfrm>
          <a:prstGeom prst="line">
            <a:avLst/>
          </a:prstGeom>
          <a:ln w="19050">
            <a:solidFill>
              <a:srgbClr val="C7C7C7"/>
            </a:solidFill>
            <a:tailEnd type="triangle" w="med" len="med"/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1" name="Connector 20"/>
          <p:cNvCxnSpPr/>
          <p:nvPr/>
        </p:nvCxnSpPr>
        <p:spPr>
          <a:xfrm>
            <a:off x="3676650" y="3810000"/>
            <a:ext cx="323850" cy="0"/>
          </a:xfrm>
          <a:prstGeom prst="line">
            <a:avLst/>
          </a:prstGeom>
          <a:ln w="19050">
            <a:solidFill>
              <a:srgbClr val="C7C7C7"/>
            </a:solidFill>
            <a:tailEnd type="triangle" w="med" len="med"/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2" name="Connector 21"/>
          <p:cNvCxnSpPr/>
          <p:nvPr/>
        </p:nvCxnSpPr>
        <p:spPr>
          <a:xfrm>
            <a:off x="4953000" y="4133850"/>
            <a:ext cx="0" cy="276225"/>
          </a:xfrm>
          <a:prstGeom prst="line">
            <a:avLst/>
          </a:prstGeom>
          <a:ln w="19050">
            <a:solidFill>
              <a:srgbClr val="C7C7C7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3" name="Connector 22"/>
          <p:cNvCxnSpPr/>
          <p:nvPr/>
        </p:nvCxnSpPr>
        <p:spPr>
          <a:xfrm flipH="1">
            <a:off x="2276475" y="4410075"/>
            <a:ext cx="2676525" cy="0"/>
          </a:xfrm>
          <a:prstGeom prst="line">
            <a:avLst/>
          </a:prstGeom>
          <a:ln w="19050">
            <a:solidFill>
              <a:srgbClr val="C7C7C7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4" name="Connector 23"/>
          <p:cNvCxnSpPr/>
          <p:nvPr/>
        </p:nvCxnSpPr>
        <p:spPr>
          <a:xfrm>
            <a:off x="2276475" y="4410075"/>
            <a:ext cx="0" cy="180975"/>
          </a:xfrm>
          <a:prstGeom prst="line">
            <a:avLst/>
          </a:prstGeom>
          <a:ln w="19050">
            <a:solidFill>
              <a:srgbClr val="C7C7C7"/>
            </a:solidFill>
            <a:tailEnd type="triangle" w="med" len="med"/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5" name="Connector 24"/>
          <p:cNvCxnSpPr/>
          <p:nvPr/>
        </p:nvCxnSpPr>
        <p:spPr>
          <a:xfrm>
            <a:off x="5905500" y="3810000"/>
            <a:ext cx="285750" cy="0"/>
          </a:xfrm>
          <a:prstGeom prst="line">
            <a:avLst/>
          </a:prstGeom>
          <a:ln w="19050">
            <a:solidFill>
              <a:srgbClr val="C7C7C7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6" name="Connector 25"/>
          <p:cNvCxnSpPr/>
          <p:nvPr/>
        </p:nvCxnSpPr>
        <p:spPr>
          <a:xfrm flipV="1">
            <a:off x="6191250" y="3371850"/>
            <a:ext cx="0" cy="438150"/>
          </a:xfrm>
          <a:prstGeom prst="line">
            <a:avLst/>
          </a:prstGeom>
          <a:ln w="19050">
            <a:solidFill>
              <a:srgbClr val="C7C7C7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7" name="Connector 26"/>
          <p:cNvCxnSpPr/>
          <p:nvPr/>
        </p:nvCxnSpPr>
        <p:spPr>
          <a:xfrm>
            <a:off x="6191250" y="3371850"/>
            <a:ext cx="190500" cy="0"/>
          </a:xfrm>
          <a:prstGeom prst="line">
            <a:avLst/>
          </a:prstGeom>
          <a:ln w="19050">
            <a:solidFill>
              <a:srgbClr val="C7C7C7"/>
            </a:solidFill>
            <a:tailEnd type="triangle" w="med" len="med"/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8" name="Connector 27"/>
          <p:cNvCxnSpPr/>
          <p:nvPr/>
        </p:nvCxnSpPr>
        <p:spPr>
          <a:xfrm>
            <a:off x="3676650" y="4953000"/>
            <a:ext cx="323850" cy="0"/>
          </a:xfrm>
          <a:prstGeom prst="line">
            <a:avLst/>
          </a:prstGeom>
          <a:ln w="19050">
            <a:solidFill>
              <a:srgbClr val="C7C7C7"/>
            </a:solidFill>
            <a:tailEnd type="triangle" w="med" len="med"/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9" name="Connector 28"/>
          <p:cNvCxnSpPr/>
          <p:nvPr/>
        </p:nvCxnSpPr>
        <p:spPr>
          <a:xfrm>
            <a:off x="5905500" y="4953000"/>
            <a:ext cx="457200" cy="0"/>
          </a:xfrm>
          <a:prstGeom prst="line">
            <a:avLst/>
          </a:prstGeom>
          <a:ln w="19050">
            <a:solidFill>
              <a:srgbClr val="C7C7C7"/>
            </a:solidFill>
            <a:tailEnd type="triangle" w="med" len="med"/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0" name="Connector 29"/>
          <p:cNvCxnSpPr/>
          <p:nvPr/>
        </p:nvCxnSpPr>
        <p:spPr>
          <a:xfrm>
            <a:off x="4953000" y="5276850"/>
            <a:ext cx="0" cy="276225"/>
          </a:xfrm>
          <a:prstGeom prst="line">
            <a:avLst/>
          </a:prstGeom>
          <a:ln w="19050">
            <a:solidFill>
              <a:srgbClr val="C7C7C7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1" name="Connector 30"/>
          <p:cNvCxnSpPr/>
          <p:nvPr/>
        </p:nvCxnSpPr>
        <p:spPr>
          <a:xfrm>
            <a:off x="4953000" y="5553075"/>
            <a:ext cx="2228850" cy="0"/>
          </a:xfrm>
          <a:prstGeom prst="line">
            <a:avLst/>
          </a:prstGeom>
          <a:ln w="19050">
            <a:solidFill>
              <a:srgbClr val="C7C7C7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2" name="Connector 31"/>
          <p:cNvCxnSpPr/>
          <p:nvPr/>
        </p:nvCxnSpPr>
        <p:spPr>
          <a:xfrm flipV="1">
            <a:off x="7181850" y="5200650"/>
            <a:ext cx="0" cy="352425"/>
          </a:xfrm>
          <a:prstGeom prst="line">
            <a:avLst/>
          </a:prstGeom>
          <a:ln w="19050">
            <a:solidFill>
              <a:srgbClr val="C7C7C7"/>
            </a:solidFill>
            <a:tailEnd type="triangle" w="med" len="med"/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33" name="Rounded Rectangle 32"/>
          <p:cNvSpPr/>
          <p:nvPr/>
        </p:nvSpPr>
        <p:spPr>
          <a:xfrm>
            <a:off x="514350" y="1371600"/>
            <a:ext cx="1219200" cy="419100"/>
          </a:xfrm>
          <a:prstGeom prst="roundRect">
            <a:avLst>
              <a:gd name="adj" fmla="val 14000"/>
            </a:avLst>
          </a:prstGeom>
          <a:solidFill>
            <a:srgbClr val="FFFFFF"/>
          </a:solidFill>
          <a:ln w="25400">
            <a:solidFill>
              <a:srgbClr val="4A4A4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76200" rIns="76200" tIns="38100" bIns="38100"/>
          <a:lstStyle/>
          <a:p>
            <a:pPr algn="ctr"/>
            <a:r>
              <a:rPr sz="1100" b="1" i="0" lang="en-US">
                <a:solidFill>
                  <a:srgbClr val="1A1A1A"/>
                </a:solidFill>
                <a:latin typeface="Noto Sans"/>
              </a:rPr>
              <a:t>Safety</a:t>
            </a:r>
          </a:p>
          <a:p>
            <a:pPr algn="ctr"/>
            <a:r>
              <a:rPr sz="750" b="0" i="0" lang="en-US">
                <a:solidFill>
                  <a:srgbClr val="6B6B6B"/>
                </a:solidFill>
                <a:latin typeface="Noto Sans"/>
              </a:rPr>
              <a:t>gen_01</a:t>
            </a:r>
          </a:p>
        </p:txBody>
      </p:sp>
      <p:sp>
        <p:nvSpPr>
          <p:cNvPr id="34" name="Rounded Rectangle 33"/>
          <p:cNvSpPr/>
          <p:nvPr/>
        </p:nvSpPr>
        <p:spPr>
          <a:xfrm>
            <a:off x="1905000" y="1371600"/>
            <a:ext cx="1257300" cy="419100"/>
          </a:xfrm>
          <a:prstGeom prst="roundRect">
            <a:avLst>
              <a:gd name="adj" fmla="val 14000"/>
            </a:avLst>
          </a:prstGeom>
          <a:solidFill>
            <a:srgbClr val="FFFFFF"/>
          </a:solidFill>
          <a:ln w="25400">
            <a:solidFill>
              <a:srgbClr val="4A4A4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76200" rIns="76200" tIns="38100" bIns="38100"/>
          <a:lstStyle/>
          <a:p>
            <a:pPr algn="ctr"/>
            <a:r>
              <a:rPr sz="1100" b="1" i="0" lang="en-US">
                <a:solidFill>
                  <a:srgbClr val="1A1A1A"/>
                </a:solidFill>
                <a:latin typeface="Noto Sans"/>
              </a:rPr>
              <a:t>Scene</a:t>
            </a:r>
          </a:p>
          <a:p>
            <a:pPr algn="ctr"/>
            <a:r>
              <a:rPr sz="750" b="0" i="0" lang="en-US">
                <a:solidFill>
                  <a:srgbClr val="6B6B6B"/>
                </a:solidFill>
                <a:latin typeface="Noto Sans"/>
              </a:rPr>
              <a:t>gen_02</a:t>
            </a:r>
          </a:p>
        </p:txBody>
      </p:sp>
      <p:sp>
        <p:nvSpPr>
          <p:cNvPr id="35" name="Rounded Rectangle 34"/>
          <p:cNvSpPr/>
          <p:nvPr/>
        </p:nvSpPr>
        <p:spPr>
          <a:xfrm>
            <a:off x="3333750" y="1371600"/>
            <a:ext cx="1257300" cy="419100"/>
          </a:xfrm>
          <a:prstGeom prst="roundRect">
            <a:avLst>
              <a:gd name="adj" fmla="val 14000"/>
            </a:avLst>
          </a:prstGeom>
          <a:solidFill>
            <a:srgbClr val="FFFFFF"/>
          </a:solidFill>
          <a:ln w="25400">
            <a:solidFill>
              <a:srgbClr val="4A4A4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76200" rIns="76200" tIns="38100" bIns="38100"/>
          <a:lstStyle/>
          <a:p>
            <a:pPr algn="ctr"/>
            <a:r>
              <a:rPr sz="1100" b="1" i="0" lang="en-US">
                <a:solidFill>
                  <a:srgbClr val="1A1A1A"/>
                </a:solidFill>
                <a:latin typeface="Noto Sans"/>
              </a:rPr>
              <a:t>Situation</a:t>
            </a:r>
          </a:p>
          <a:p>
            <a:pPr algn="ctr"/>
            <a:r>
              <a:rPr sz="750" b="0" i="0" lang="en-US">
                <a:solidFill>
                  <a:srgbClr val="6B6B6B"/>
                </a:solidFill>
                <a:latin typeface="Noto Sans"/>
              </a:rPr>
              <a:t>gen_03</a:t>
            </a:r>
          </a:p>
        </p:txBody>
      </p:sp>
      <p:sp>
        <p:nvSpPr>
          <p:cNvPr id="36" name="Rounded Rectangle 35"/>
          <p:cNvSpPr/>
          <p:nvPr/>
        </p:nvSpPr>
        <p:spPr>
          <a:xfrm>
            <a:off x="4762500" y="1314450"/>
            <a:ext cx="1866900" cy="533400"/>
          </a:xfrm>
          <a:prstGeom prst="roundRect">
            <a:avLst>
              <a:gd name="adj" fmla="val 14000"/>
            </a:avLst>
          </a:prstGeom>
          <a:solidFill>
            <a:srgbClr val="FFFFFF"/>
          </a:solidFill>
          <a:ln w="25400">
            <a:solidFill>
              <a:srgbClr val="4A4A4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76200" rIns="76200" tIns="38100" bIns="38100"/>
          <a:lstStyle/>
          <a:p>
            <a:pPr algn="ctr"/>
            <a:r>
              <a:rPr sz="1100" b="1" i="0" lang="en-US">
                <a:solidFill>
                  <a:srgbClr val="1A1A1A"/>
                </a:solidFill>
                <a:latin typeface="Noto Sans"/>
              </a:rPr>
              <a:t>◇ Life-threatening bleeding?</a:t>
            </a:r>
          </a:p>
          <a:p>
            <a:pPr algn="ctr"/>
            <a:r>
              <a:rPr sz="750" b="0" i="0" lang="en-US">
                <a:solidFill>
                  <a:srgbClr val="6B6B6B"/>
                </a:solidFill>
                <a:latin typeface="Noto Sans"/>
              </a:rPr>
              <a:t>gen_04</a:t>
            </a:r>
          </a:p>
        </p:txBody>
      </p:sp>
      <p:sp>
        <p:nvSpPr>
          <p:cNvPr id="37" name="Rounded Rectangle 36"/>
          <p:cNvSpPr/>
          <p:nvPr/>
        </p:nvSpPr>
        <p:spPr>
          <a:xfrm>
            <a:off x="6819900" y="1352550"/>
            <a:ext cx="1409700" cy="495300"/>
          </a:xfrm>
          <a:prstGeom prst="roundRect">
            <a:avLst>
              <a:gd name="adj" fmla="val 14000"/>
            </a:avLst>
          </a:prstGeom>
          <a:solidFill>
            <a:srgbClr val="FFFFFF"/>
          </a:solidFill>
          <a:ln w="25400">
            <a:solidFill>
              <a:srgbClr val="4A4A4A"/>
            </a:solidFill>
            <a:prstDash val="dash"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76200" rIns="76200" tIns="38100" bIns="38100"/>
          <a:lstStyle/>
          <a:p>
            <a:pPr algn="ctr"/>
            <a:r>
              <a:rPr sz="1100" b="1" i="0" lang="en-US">
                <a:solidFill>
                  <a:srgbClr val="1A1A1A"/>
                </a:solidFill>
                <a:latin typeface="Noto Sans"/>
              </a:rPr>
              <a:t>⇢ Hemorrhage</a:t>
            </a:r>
          </a:p>
          <a:p>
            <a:pPr algn="ctr"/>
            <a:r>
              <a:rPr sz="750" b="0" i="0" lang="en-US">
                <a:solidFill>
                  <a:srgbClr val="6B6B6B"/>
                </a:solidFill>
                <a:latin typeface="Noto Sans"/>
              </a:rPr>
              <a:t>gen_05 · jump</a:t>
            </a:r>
          </a:p>
        </p:txBody>
      </p:sp>
      <p:sp>
        <p:nvSpPr>
          <p:cNvPr id="38" name="Rounded Rectangle 37"/>
          <p:cNvSpPr/>
          <p:nvPr/>
        </p:nvSpPr>
        <p:spPr>
          <a:xfrm>
            <a:off x="895350" y="2362200"/>
            <a:ext cx="2781300" cy="609600"/>
          </a:xfrm>
          <a:prstGeom prst="roundRect">
            <a:avLst>
              <a:gd name="adj" fmla="val 14000"/>
            </a:avLst>
          </a:prstGeom>
          <a:solidFill>
            <a:srgbClr val="FFEAEA"/>
          </a:solidFill>
          <a:ln w="31750">
            <a:solidFill>
              <a:srgbClr val="CC000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76200" rIns="76200" tIns="38100" bIns="38100"/>
          <a:lstStyle/>
          <a:p>
            <a:pPr algn="ctr"/>
            <a:r>
              <a:rPr sz="1100" b="1" i="0" lang="en-US">
                <a:solidFill>
                  <a:srgbClr val="1A1A1A"/>
                </a:solidFill>
                <a:latin typeface="Noto Sans"/>
              </a:rPr>
              <a:t>Direct pressure · compression dressing</a:t>
            </a:r>
          </a:p>
          <a:p>
            <a:pPr algn="ctr"/>
            <a:r>
              <a:rPr sz="750" b="0" i="0" lang="en-US">
                <a:solidFill>
                  <a:srgbClr val="6B6B6B"/>
                </a:solidFill>
                <a:latin typeface="Noto Sans"/>
              </a:rPr>
              <a:t>hem_01</a:t>
            </a:r>
          </a:p>
        </p:txBody>
      </p:sp>
      <p:sp>
        <p:nvSpPr>
          <p:cNvPr id="39" name="Rounded Rectangle 38"/>
          <p:cNvSpPr/>
          <p:nvPr/>
        </p:nvSpPr>
        <p:spPr>
          <a:xfrm>
            <a:off x="4038600" y="2381250"/>
            <a:ext cx="1866900" cy="571500"/>
          </a:xfrm>
          <a:prstGeom prst="roundRect">
            <a:avLst>
              <a:gd name="adj" fmla="val 14000"/>
            </a:avLst>
          </a:prstGeom>
          <a:solidFill>
            <a:srgbClr val="FFFFFF"/>
          </a:solidFill>
          <a:ln w="19050">
            <a:solidFill>
              <a:srgbClr val="E0E0E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76200" rIns="76200" tIns="38100" bIns="38100"/>
          <a:lstStyle/>
          <a:p>
            <a:pPr algn="ctr"/>
            <a:r>
              <a:rPr sz="1100" b="0" i="0" lang="en-US">
                <a:solidFill>
                  <a:srgbClr val="6B6B6B"/>
                </a:solidFill>
                <a:latin typeface="Noto Sans"/>
              </a:rPr>
              <a:t>◇ Active bleeding?</a:t>
            </a:r>
          </a:p>
          <a:p>
            <a:pPr algn="ctr"/>
            <a:r>
              <a:rPr sz="750" b="0" i="0" lang="en-US">
                <a:solidFill>
                  <a:srgbClr val="6B6B6B"/>
                </a:solidFill>
                <a:latin typeface="Noto Sans"/>
              </a:rPr>
              <a:t>hem_02</a:t>
            </a:r>
          </a:p>
        </p:txBody>
      </p:sp>
      <p:sp>
        <p:nvSpPr>
          <p:cNvPr id="40" name="Rounded Rectangle 39"/>
          <p:cNvSpPr/>
          <p:nvPr/>
        </p:nvSpPr>
        <p:spPr>
          <a:xfrm>
            <a:off x="895350" y="3505200"/>
            <a:ext cx="2781300" cy="609600"/>
          </a:xfrm>
          <a:prstGeom prst="roundRect">
            <a:avLst>
              <a:gd name="adj" fmla="val 14000"/>
            </a:avLst>
          </a:prstGeom>
          <a:solidFill>
            <a:srgbClr val="FFFFFF"/>
          </a:solidFill>
          <a:ln w="19050">
            <a:solidFill>
              <a:srgbClr val="E0E0E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76200" rIns="76200" tIns="38100" bIns="38100"/>
          <a:lstStyle/>
          <a:p>
            <a:pPr algn="ctr"/>
            <a:r>
              <a:rPr sz="1100" b="0" i="0" lang="en-US">
                <a:solidFill>
                  <a:srgbClr val="6B6B6B"/>
                </a:solidFill>
                <a:latin typeface="Noto Sans"/>
              </a:rPr>
              <a:t>Second compression bandage</a:t>
            </a:r>
          </a:p>
          <a:p>
            <a:pPr algn="ctr"/>
            <a:r>
              <a:rPr sz="750" b="0" i="0" lang="en-US">
                <a:solidFill>
                  <a:srgbClr val="6B6B6B"/>
                </a:solidFill>
                <a:latin typeface="Noto Sans"/>
              </a:rPr>
              <a:t>hem_03 · TIER 2</a:t>
            </a:r>
          </a:p>
        </p:txBody>
      </p:sp>
      <p:sp>
        <p:nvSpPr>
          <p:cNvPr id="41" name="Rounded Rectangle 40"/>
          <p:cNvSpPr/>
          <p:nvPr/>
        </p:nvSpPr>
        <p:spPr>
          <a:xfrm>
            <a:off x="4038600" y="3524250"/>
            <a:ext cx="1866900" cy="571500"/>
          </a:xfrm>
          <a:prstGeom prst="roundRect">
            <a:avLst>
              <a:gd name="adj" fmla="val 14000"/>
            </a:avLst>
          </a:prstGeom>
          <a:solidFill>
            <a:srgbClr val="FFFFFF"/>
          </a:solidFill>
          <a:ln w="19050">
            <a:solidFill>
              <a:srgbClr val="E0E0E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76200" rIns="76200" tIns="38100" bIns="38100"/>
          <a:lstStyle/>
          <a:p>
            <a:pPr algn="ctr"/>
            <a:r>
              <a:rPr sz="1100" b="0" i="0" lang="en-US">
                <a:solidFill>
                  <a:srgbClr val="6B6B6B"/>
                </a:solidFill>
                <a:latin typeface="Noto Sans"/>
              </a:rPr>
              <a:t>◇ Active bleeding?</a:t>
            </a:r>
          </a:p>
          <a:p>
            <a:pPr algn="ctr"/>
            <a:r>
              <a:rPr sz="750" b="0" i="0" lang="en-US">
                <a:solidFill>
                  <a:srgbClr val="6B6B6B"/>
                </a:solidFill>
                <a:latin typeface="Noto Sans"/>
              </a:rPr>
              <a:t>hem_04</a:t>
            </a:r>
          </a:p>
        </p:txBody>
      </p:sp>
      <p:sp>
        <p:nvSpPr>
          <p:cNvPr id="42" name="Rounded Rectangle 41"/>
          <p:cNvSpPr/>
          <p:nvPr/>
        </p:nvSpPr>
        <p:spPr>
          <a:xfrm>
            <a:off x="895350" y="4648200"/>
            <a:ext cx="2781300" cy="609600"/>
          </a:xfrm>
          <a:prstGeom prst="roundRect">
            <a:avLst>
              <a:gd name="adj" fmla="val 14000"/>
            </a:avLst>
          </a:prstGeom>
          <a:solidFill>
            <a:srgbClr val="FFFFFF"/>
          </a:solidFill>
          <a:ln w="19050">
            <a:solidFill>
              <a:srgbClr val="E0E0E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76200" rIns="76200" tIns="38100" bIns="38100"/>
          <a:lstStyle/>
          <a:p>
            <a:pPr algn="ctr"/>
            <a:r>
              <a:rPr sz="1100" b="0" i="0" lang="en-US">
                <a:solidFill>
                  <a:srgbClr val="6B6B6B"/>
                </a:solidFill>
                <a:latin typeface="Noto Sans"/>
              </a:rPr>
              <a:t>Tourniquet — one palm above wound</a:t>
            </a:r>
          </a:p>
          <a:p>
            <a:pPr algn="ctr"/>
            <a:r>
              <a:rPr sz="750" b="0" i="0" lang="en-US">
                <a:solidFill>
                  <a:srgbClr val="6B6B6B"/>
                </a:solidFill>
                <a:latin typeface="Noto Sans"/>
              </a:rPr>
              <a:t>hem_05 · terminal</a:t>
            </a:r>
          </a:p>
        </p:txBody>
      </p:sp>
      <p:sp>
        <p:nvSpPr>
          <p:cNvPr id="43" name="Rounded Rectangle 42"/>
          <p:cNvSpPr/>
          <p:nvPr/>
        </p:nvSpPr>
        <p:spPr>
          <a:xfrm>
            <a:off x="4038600" y="4667250"/>
            <a:ext cx="1866900" cy="571500"/>
          </a:xfrm>
          <a:prstGeom prst="roundRect">
            <a:avLst>
              <a:gd name="adj" fmla="val 14000"/>
            </a:avLst>
          </a:prstGeom>
          <a:solidFill>
            <a:srgbClr val="FFFFFF"/>
          </a:solidFill>
          <a:ln w="19050">
            <a:solidFill>
              <a:srgbClr val="E0E0E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76200" rIns="76200" tIns="38100" bIns="38100"/>
          <a:lstStyle/>
          <a:p>
            <a:pPr algn="ctr"/>
            <a:r>
              <a:rPr sz="1100" b="0" i="0" lang="en-US">
                <a:solidFill>
                  <a:srgbClr val="6B6B6B"/>
                </a:solidFill>
                <a:latin typeface="Noto Sans"/>
              </a:rPr>
              <a:t>◇ Active bleeding?</a:t>
            </a:r>
          </a:p>
          <a:p>
            <a:pPr algn="ctr"/>
            <a:r>
              <a:rPr sz="750" b="0" i="0" lang="en-US">
                <a:solidFill>
                  <a:srgbClr val="6B6B6B"/>
                </a:solidFill>
                <a:latin typeface="Noto Sans"/>
              </a:rPr>
              <a:t>hem_06</a:t>
            </a:r>
          </a:p>
        </p:txBody>
      </p:sp>
      <p:sp>
        <p:nvSpPr>
          <p:cNvPr id="44" name="Rounded Rectangle 43"/>
          <p:cNvSpPr/>
          <p:nvPr/>
        </p:nvSpPr>
        <p:spPr>
          <a:xfrm>
            <a:off x="6381750" y="2895600"/>
            <a:ext cx="2133600" cy="476250"/>
          </a:xfrm>
          <a:prstGeom prst="roundRect">
            <a:avLst>
              <a:gd name="adj" fmla="val 50000"/>
            </a:avLst>
          </a:prstGeom>
          <a:solidFill>
            <a:srgbClr val="FFFFFF"/>
          </a:solidFill>
          <a:ln w="19050">
            <a:solidFill>
              <a:srgbClr val="E0E0E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76200" rIns="76200" tIns="38100" bIns="38100"/>
          <a:lstStyle/>
          <a:p>
            <a:pPr algn="ctr"/>
            <a:r>
              <a:rPr sz="1100" b="0" i="0" lang="en-US">
                <a:solidFill>
                  <a:srgbClr val="6B6B6B"/>
                </a:solidFill>
                <a:latin typeface="Noto Sans"/>
              </a:rPr>
              <a:t>Transport to health center</a:t>
            </a:r>
          </a:p>
          <a:p>
            <a:pPr algn="ctr"/>
            <a:r>
              <a:rPr sz="750" b="0" i="0" lang="en-US">
                <a:solidFill>
                  <a:srgbClr val="6B6B6B"/>
                </a:solidFill>
                <a:latin typeface="Noto Sans"/>
              </a:rPr>
              <a:t>hem_08</a:t>
            </a:r>
          </a:p>
        </p:txBody>
      </p:sp>
      <p:sp>
        <p:nvSpPr>
          <p:cNvPr id="45" name="Rounded Rectangle 44"/>
          <p:cNvSpPr/>
          <p:nvPr/>
        </p:nvSpPr>
        <p:spPr>
          <a:xfrm>
            <a:off x="6381750" y="4724400"/>
            <a:ext cx="2133600" cy="476250"/>
          </a:xfrm>
          <a:prstGeom prst="roundRect">
            <a:avLst>
              <a:gd name="adj" fmla="val 50000"/>
            </a:avLst>
          </a:prstGeom>
          <a:solidFill>
            <a:srgbClr val="FFFFFF"/>
          </a:solidFill>
          <a:ln w="19050">
            <a:solidFill>
              <a:srgbClr val="E0E0E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76200" rIns="76200" tIns="38100" bIns="38100"/>
          <a:lstStyle/>
          <a:p>
            <a:pPr algn="ctr"/>
            <a:r>
              <a:rPr sz="1100" b="0" i="0" lang="en-US">
                <a:solidFill>
                  <a:srgbClr val="6B6B6B"/>
                </a:solidFill>
                <a:latin typeface="Noto Sans"/>
              </a:rPr>
              <a:t>URGENT transport</a:t>
            </a:r>
          </a:p>
          <a:p>
            <a:pPr algn="ctr"/>
            <a:r>
              <a:rPr sz="750" b="0" i="0" lang="en-US">
                <a:solidFill>
                  <a:srgbClr val="6B6B6B"/>
                </a:solidFill>
                <a:latin typeface="Noto Sans"/>
              </a:rPr>
              <a:t>hem_07</a:t>
            </a:r>
          </a:p>
        </p:txBody>
      </p:sp>
      <p:sp>
        <p:nvSpPr>
          <p:cNvPr id="46" name="Oval 45"/>
          <p:cNvSpPr/>
          <p:nvPr/>
        </p:nvSpPr>
        <p:spPr>
          <a:xfrm>
            <a:off x="514350" y="2533650"/>
            <a:ext cx="266700" cy="266700"/>
          </a:xfrm>
          <a:prstGeom prst="ellipse">
            <a:avLst/>
          </a:prstGeom>
          <a:solidFill>
            <a:srgbClr val="F5F5F5"/>
          </a:solidFill>
          <a:ln w="19050">
            <a:solidFill>
              <a:srgbClr val="E0E0E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76200" rIns="76200" tIns="38100" bIns="38100"/>
          <a:lstStyle/>
          <a:p>
            <a:pPr algn="ctr"/>
            <a:r>
              <a:rPr sz="1100" b="1" i="0" lang="en-US">
                <a:solidFill>
                  <a:srgbClr val="4A4A4A"/>
                </a:solidFill>
                <a:latin typeface="Noto Sans"/>
              </a:rPr>
              <a:t>1</a:t>
            </a:r>
          </a:p>
        </p:txBody>
      </p:sp>
      <p:sp>
        <p:nvSpPr>
          <p:cNvPr id="47" name="Oval 46"/>
          <p:cNvSpPr/>
          <p:nvPr/>
        </p:nvSpPr>
        <p:spPr>
          <a:xfrm>
            <a:off x="514350" y="3676650"/>
            <a:ext cx="266700" cy="266700"/>
          </a:xfrm>
          <a:prstGeom prst="ellipse">
            <a:avLst/>
          </a:prstGeom>
          <a:solidFill>
            <a:srgbClr val="F5F5F5"/>
          </a:solidFill>
          <a:ln w="19050">
            <a:solidFill>
              <a:srgbClr val="E0E0E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76200" rIns="76200" tIns="38100" bIns="38100"/>
          <a:lstStyle/>
          <a:p>
            <a:pPr algn="ctr"/>
            <a:r>
              <a:rPr sz="1100" b="1" i="0" lang="en-US">
                <a:solidFill>
                  <a:srgbClr val="4A4A4A"/>
                </a:solidFill>
                <a:latin typeface="Noto Sans"/>
              </a:rPr>
              <a:t>2</a:t>
            </a:r>
          </a:p>
        </p:txBody>
      </p:sp>
      <p:sp>
        <p:nvSpPr>
          <p:cNvPr id="48" name="Oval 47"/>
          <p:cNvSpPr/>
          <p:nvPr/>
        </p:nvSpPr>
        <p:spPr>
          <a:xfrm>
            <a:off x="514350" y="4819650"/>
            <a:ext cx="266700" cy="266700"/>
          </a:xfrm>
          <a:prstGeom prst="ellipse">
            <a:avLst/>
          </a:prstGeom>
          <a:solidFill>
            <a:srgbClr val="F5F5F5"/>
          </a:solidFill>
          <a:ln w="19050">
            <a:solidFill>
              <a:srgbClr val="E0E0E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76200" rIns="76200" tIns="38100" bIns="38100"/>
          <a:lstStyle/>
          <a:p>
            <a:pPr algn="ctr"/>
            <a:r>
              <a:rPr sz="1100" b="1" i="0" lang="en-US">
                <a:solidFill>
                  <a:srgbClr val="4A4A4A"/>
                </a:solidFill>
                <a:latin typeface="Noto Sans"/>
              </a:rPr>
              <a:t>3</a:t>
            </a:r>
          </a:p>
        </p:txBody>
      </p:sp>
      <p:sp>
        <p:nvSpPr>
          <p:cNvPr id="49" name="Rounded Rectangle 48"/>
          <p:cNvSpPr/>
          <p:nvPr/>
        </p:nvSpPr>
        <p:spPr>
          <a:xfrm>
            <a:off x="3467100" y="1847850"/>
            <a:ext cx="3143250" cy="228600"/>
          </a:xfrm>
          <a:prstGeom prst="roundRect">
            <a:avLst>
              <a:gd name="adj" fmla="val 40000"/>
            </a:avLst>
          </a:prstGeom>
          <a:solidFill>
            <a:srgbClr val="FFFFFF"/>
          </a:solidFill>
          <a:ln w="15875">
            <a:solidFill>
              <a:srgbClr val="4A4A4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76200" rIns="76200" tIns="38100" bIns="38100"/>
          <a:lstStyle/>
          <a:p>
            <a:pPr algn="ctr"/>
            <a:r>
              <a:rPr sz="900" b="1" i="0" lang="en-US">
                <a:solidFill>
                  <a:srgbClr val="4A4A4A"/>
                </a:solidFill>
                <a:latin typeface="Noto Sans"/>
              </a:rPr>
              <a:t>yes →  &gt;&gt; JUMP to chart 'hemorrhage' &lt;&lt;</a:t>
            </a:r>
          </a:p>
        </p:txBody>
      </p:sp>
      <p:sp>
        <p:nvSpPr>
          <p:cNvPr id="50" name="Rounded Rectangle 49"/>
          <p:cNvSpPr/>
          <p:nvPr/>
        </p:nvSpPr>
        <p:spPr>
          <a:xfrm>
            <a:off x="2895600" y="3143250"/>
            <a:ext cx="1619250" cy="228600"/>
          </a:xfrm>
          <a:prstGeom prst="roundRect">
            <a:avLst>
              <a:gd name="adj" fmla="val 40000"/>
            </a:avLst>
          </a:prstGeom>
          <a:solidFill>
            <a:srgbClr val="FFFFFF"/>
          </a:solidFill>
          <a:ln w="15875">
            <a:solidFill>
              <a:srgbClr val="E5A3A3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76200" rIns="76200" tIns="38100" bIns="38100"/>
          <a:lstStyle/>
          <a:p>
            <a:pPr algn="ctr"/>
            <a:r>
              <a:rPr sz="900" b="1" i="0" lang="en-US">
                <a:solidFill>
                  <a:srgbClr val="E5A3A3"/>
                </a:solidFill>
                <a:latin typeface="Noto Sans"/>
              </a:rPr>
              <a:t>yes — still bleeding</a:t>
            </a:r>
          </a:p>
        </p:txBody>
      </p:sp>
      <p:sp>
        <p:nvSpPr>
          <p:cNvPr id="51" name="Rounded Rectangle 50"/>
          <p:cNvSpPr/>
          <p:nvPr/>
        </p:nvSpPr>
        <p:spPr>
          <a:xfrm>
            <a:off x="2895600" y="4286250"/>
            <a:ext cx="1619250" cy="228600"/>
          </a:xfrm>
          <a:prstGeom prst="roundRect">
            <a:avLst>
              <a:gd name="adj" fmla="val 40000"/>
            </a:avLst>
          </a:prstGeom>
          <a:solidFill>
            <a:srgbClr val="FFFFFF"/>
          </a:solidFill>
          <a:ln w="15875">
            <a:solidFill>
              <a:srgbClr val="E5A3A3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76200" rIns="76200" tIns="38100" bIns="38100"/>
          <a:lstStyle/>
          <a:p>
            <a:pPr algn="ctr"/>
            <a:r>
              <a:rPr sz="900" b="1" i="0" lang="en-US">
                <a:solidFill>
                  <a:srgbClr val="E5A3A3"/>
                </a:solidFill>
                <a:latin typeface="Noto Sans"/>
              </a:rPr>
              <a:t>yes — still bleeding</a:t>
            </a:r>
          </a:p>
        </p:txBody>
      </p:sp>
      <p:sp>
        <p:nvSpPr>
          <p:cNvPr id="52" name="Rounded Rectangle 51"/>
          <p:cNvSpPr/>
          <p:nvPr/>
        </p:nvSpPr>
        <p:spPr>
          <a:xfrm>
            <a:off x="6191250" y="2247900"/>
            <a:ext cx="1428750" cy="228600"/>
          </a:xfrm>
          <a:prstGeom prst="roundRect">
            <a:avLst>
              <a:gd name="adj" fmla="val 40000"/>
            </a:avLst>
          </a:prstGeom>
          <a:solidFill>
            <a:srgbClr val="FFFFFF"/>
          </a:solidFill>
          <a:ln w="15875">
            <a:solidFill>
              <a:srgbClr val="A9C9B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76200" rIns="76200" tIns="38100" bIns="38100"/>
          <a:lstStyle/>
          <a:p>
            <a:pPr algn="ctr"/>
            <a:r>
              <a:rPr sz="900" b="1" i="0" lang="en-US">
                <a:solidFill>
                  <a:srgbClr val="A9C9BA"/>
                </a:solidFill>
                <a:latin typeface="Noto Sans"/>
              </a:rPr>
              <a:t>✓ no — controlled</a:t>
            </a:r>
          </a:p>
        </p:txBody>
      </p:sp>
      <p:sp>
        <p:nvSpPr>
          <p:cNvPr id="53" name="Rounded Rectangle 52"/>
          <p:cNvSpPr/>
          <p:nvPr/>
        </p:nvSpPr>
        <p:spPr>
          <a:xfrm>
            <a:off x="6191250" y="3962400"/>
            <a:ext cx="1428750" cy="228600"/>
          </a:xfrm>
          <a:prstGeom prst="roundRect">
            <a:avLst>
              <a:gd name="adj" fmla="val 40000"/>
            </a:avLst>
          </a:prstGeom>
          <a:solidFill>
            <a:srgbClr val="FFFFFF"/>
          </a:solidFill>
          <a:ln w="15875">
            <a:solidFill>
              <a:srgbClr val="A9C9B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76200" rIns="76200" tIns="38100" bIns="38100"/>
          <a:lstStyle/>
          <a:p>
            <a:pPr algn="ctr"/>
            <a:r>
              <a:rPr sz="900" b="1" i="0" lang="en-US">
                <a:solidFill>
                  <a:srgbClr val="A9C9BA"/>
                </a:solidFill>
                <a:latin typeface="Noto Sans"/>
              </a:rPr>
              <a:t>✓ no — controlled</a:t>
            </a:r>
          </a:p>
        </p:txBody>
      </p:sp>
      <p:sp>
        <p:nvSpPr>
          <p:cNvPr id="54" name="Rounded Rectangle 53"/>
          <p:cNvSpPr/>
          <p:nvPr/>
        </p:nvSpPr>
        <p:spPr>
          <a:xfrm>
            <a:off x="5962650" y="5181600"/>
            <a:ext cx="628650" cy="209550"/>
          </a:xfrm>
          <a:prstGeom prst="roundRect">
            <a:avLst>
              <a:gd name="adj" fmla="val 40000"/>
            </a:avLst>
          </a:prstGeom>
          <a:solidFill>
            <a:srgbClr val="FFFFFF"/>
          </a:solidFill>
          <a:ln w="15875">
            <a:solidFill>
              <a:srgbClr val="A9C9B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76200" rIns="76200" tIns="38100" bIns="38100"/>
          <a:lstStyle/>
          <a:p>
            <a:pPr algn="ctr"/>
            <a:r>
              <a:rPr sz="900" b="1" i="0" lang="en-US">
                <a:solidFill>
                  <a:srgbClr val="A9C9BA"/>
                </a:solidFill>
                <a:latin typeface="Noto Sans"/>
              </a:rPr>
              <a:t>✓ no</a:t>
            </a:r>
          </a:p>
        </p:txBody>
      </p:sp>
      <p:sp>
        <p:nvSpPr>
          <p:cNvPr id="55" name="Rounded Rectangle 54"/>
          <p:cNvSpPr/>
          <p:nvPr/>
        </p:nvSpPr>
        <p:spPr>
          <a:xfrm>
            <a:off x="2381250" y="5429250"/>
            <a:ext cx="4095750" cy="228600"/>
          </a:xfrm>
          <a:prstGeom prst="roundRect">
            <a:avLst>
              <a:gd name="adj" fmla="val 40000"/>
            </a:avLst>
          </a:prstGeom>
          <a:solidFill>
            <a:srgbClr val="FFFFFF"/>
          </a:solidFill>
          <a:ln w="15875">
            <a:solidFill>
              <a:srgbClr val="E3C29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76200" rIns="76200" tIns="38100" bIns="38100"/>
          <a:lstStyle/>
          <a:p>
            <a:pPr algn="ctr"/>
            <a:r>
              <a:rPr sz="900" b="1" i="0" lang="en-US">
                <a:solidFill>
                  <a:srgbClr val="E3C29E"/>
                </a:solidFill>
                <a:latin typeface="Noto Sans"/>
              </a:rPr>
              <a:t>⚠ yes at terminal tier → HOLD, no tier 4 (flagged divergence)</a:t>
            </a:r>
          </a:p>
        </p:txBody>
      </p:sp>
      <p:sp>
        <p:nvSpPr>
          <p:cNvPr id="56" name="Rounded Rectangle 55"/>
          <p:cNvSpPr/>
          <p:nvPr/>
        </p:nvSpPr>
        <p:spPr>
          <a:xfrm>
            <a:off x="8877300" y="1123950"/>
            <a:ext cx="2895600" cy="5257800"/>
          </a:xfrm>
          <a:prstGeom prst="roundRect">
            <a:avLst>
              <a:gd name="adj" fmla="val 5000"/>
            </a:avLst>
          </a:prstGeom>
          <a:solidFill>
            <a:srgbClr val="FFFFFF"/>
          </a:solidFill>
          <a:ln w="19050">
            <a:solidFill>
              <a:srgbClr val="E0E0E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76200" rIns="76200" tIns="38100" bIns="38100"/>
          <a:lstStyle/>
          <a:p>
            <a:pPr algn="ctr"/>
          </a:p>
        </p:txBody>
      </p:sp>
      <p:sp>
        <p:nvSpPr>
          <p:cNvPr id="57" name="TextBox 56"/>
          <p:cNvSpPr txBox="1"/>
          <p:nvPr/>
        </p:nvSpPr>
        <p:spPr>
          <a:xfrm>
            <a:off x="9048750" y="1257300"/>
            <a:ext cx="2476500" cy="1905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r>
              <a:rPr sz="1000" b="1" i="0" lang="en-US">
                <a:solidFill>
                  <a:srgbClr val="1A1A1A"/>
                </a:solidFill>
                <a:latin typeface="Noto Sans"/>
              </a:rPr>
              <a:t>ENGINE STATE</a:t>
            </a:r>
          </a:p>
        </p:txBody>
      </p:sp>
      <p:cxnSp>
        <p:nvCxnSpPr>
          <p:cNvPr id="58" name="Connector 57"/>
          <p:cNvCxnSpPr/>
          <p:nvPr/>
        </p:nvCxnSpPr>
        <p:spPr>
          <a:xfrm>
            <a:off x="9048750" y="1485900"/>
            <a:ext cx="2552700" cy="0"/>
          </a:xfrm>
          <a:prstGeom prst="line">
            <a:avLst/>
          </a:prstGeom>
          <a:ln w="12700">
            <a:solidFill>
              <a:srgbClr val="E0E0E0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59" name="TextBox 58"/>
          <p:cNvSpPr txBox="1"/>
          <p:nvPr/>
        </p:nvSpPr>
        <p:spPr>
          <a:xfrm>
            <a:off x="9048750" y="1581150"/>
            <a:ext cx="2476500" cy="1524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r>
              <a:rPr sz="800" b="1" i="0" lang="en-US">
                <a:solidFill>
                  <a:srgbClr val="6B6B6B"/>
                </a:solidFill>
                <a:latin typeface="Noto Sans"/>
              </a:rPr>
              <a:t>WORKING MEMORY</a:t>
            </a:r>
          </a:p>
        </p:txBody>
      </p:sp>
      <p:sp>
        <p:nvSpPr>
          <p:cNvPr id="60" name="Rounded Rectangle 59"/>
          <p:cNvSpPr/>
          <p:nvPr/>
        </p:nvSpPr>
        <p:spPr>
          <a:xfrm>
            <a:off x="9048750" y="1771650"/>
            <a:ext cx="1504950" cy="247650"/>
          </a:xfrm>
          <a:prstGeom prst="roundRect">
            <a:avLst>
              <a:gd name="adj" fmla="val 50000"/>
            </a:avLst>
          </a:prstGeom>
          <a:solidFill>
            <a:srgbClr val="FFEAEA"/>
          </a:solidFill>
          <a:ln w="15875">
            <a:solidFill>
              <a:srgbClr val="CC000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76200" rIns="76200" tIns="38100" bIns="38100"/>
          <a:lstStyle/>
          <a:p>
            <a:pPr algn="ctr"/>
            <a:r>
              <a:rPr sz="1000" b="1" i="0" lang="en-US">
                <a:solidFill>
                  <a:srgbClr val="990000"/>
                </a:solidFill>
                <a:latin typeface="Consolas"/>
              </a:rPr>
              <a:t>Position(nid=hem_01)</a:t>
            </a:r>
          </a:p>
        </p:txBody>
      </p:sp>
      <p:sp>
        <p:nvSpPr>
          <p:cNvPr id="61" name="Rounded Rectangle 60"/>
          <p:cNvSpPr/>
          <p:nvPr/>
        </p:nvSpPr>
        <p:spPr>
          <a:xfrm>
            <a:off x="9048750" y="2076450"/>
            <a:ext cx="1748790" cy="247650"/>
          </a:xfrm>
          <a:prstGeom prst="roundRect">
            <a:avLst>
              <a:gd name="adj" fmla="val 50000"/>
            </a:avLst>
          </a:prstGeom>
          <a:solidFill>
            <a:srgbClr val="FFEAEA"/>
          </a:solidFill>
          <a:ln w="15875">
            <a:solidFill>
              <a:srgbClr val="CC000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76200" rIns="76200" tIns="38100" bIns="38100"/>
          <a:lstStyle/>
          <a:p>
            <a:pPr algn="ctr"/>
            <a:r>
              <a:rPr sz="1000" b="1" i="0" lang="en-US">
                <a:solidFill>
                  <a:srgbClr val="990000"/>
                </a:solidFill>
                <a:latin typeface="Consolas"/>
              </a:rPr>
              <a:t>Active(chart=hemorrhage)</a:t>
            </a:r>
          </a:p>
        </p:txBody>
      </p:sp>
      <p:sp>
        <p:nvSpPr>
          <p:cNvPr id="62" name="TextBox 61"/>
          <p:cNvSpPr txBox="1"/>
          <p:nvPr/>
        </p:nvSpPr>
        <p:spPr>
          <a:xfrm>
            <a:off x="9048750" y="2438400"/>
            <a:ext cx="2476500" cy="1524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r>
              <a:rPr sz="800" b="1" i="0" lang="en-US">
                <a:solidFill>
                  <a:srgbClr val="6B6B6B"/>
                </a:solidFill>
                <a:latin typeface="Noto Sans"/>
              </a:rPr>
              <a:t>RULE FIRED</a:t>
            </a:r>
          </a:p>
        </p:txBody>
      </p:sp>
      <p:sp>
        <p:nvSpPr>
          <p:cNvPr id="63" name="TextBox 62"/>
          <p:cNvSpPr txBox="1"/>
          <p:nvPr/>
        </p:nvSpPr>
        <p:spPr>
          <a:xfrm>
            <a:off x="9048750" y="2609850"/>
            <a:ext cx="2552700" cy="2286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r>
              <a:rPr sz="1300" b="1" i="0" lang="en-US">
                <a:solidFill>
                  <a:srgbClr val="1A1A1A"/>
                </a:solidFill>
                <a:latin typeface="Consolas"/>
              </a:rPr>
              <a:t>walk</a:t>
            </a:r>
            <a:r>
              <a:rPr sz="950" b="0" i="0" lang="en-US">
                <a:solidFill>
                  <a:srgbClr val="4A4A4A"/>
                </a:solidFill>
                <a:latin typeface="Noto Sans"/>
              </a:rPr>
              <a:t>   salience 0 · resolves the jump</a:t>
            </a:r>
          </a:p>
        </p:txBody>
      </p:sp>
      <p:sp>
        <p:nvSpPr>
          <p:cNvPr id="64" name="TextBox 63"/>
          <p:cNvSpPr txBox="1"/>
          <p:nvPr/>
        </p:nvSpPr>
        <p:spPr>
          <a:xfrm>
            <a:off x="9048750" y="2914650"/>
            <a:ext cx="2476500" cy="1524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r>
              <a:rPr sz="800" b="1" i="0" lang="en-US">
                <a:solidFill>
                  <a:srgbClr val="6B6B6B"/>
                </a:solidFill>
                <a:latin typeface="Noto Sans"/>
              </a:rPr>
              <a:t>Δ THIS STEP</a:t>
            </a:r>
          </a:p>
        </p:txBody>
      </p:sp>
      <p:sp>
        <p:nvSpPr>
          <p:cNvPr id="65" name="TextBox 64"/>
          <p:cNvSpPr txBox="1"/>
          <p:nvPr/>
        </p:nvSpPr>
        <p:spPr>
          <a:xfrm>
            <a:off x="9048750" y="3086100"/>
            <a:ext cx="2552700" cy="1905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r>
              <a:rPr sz="1100" b="1" i="0" lang="en-US">
                <a:solidFill>
                  <a:srgbClr val="6B6B6B"/>
                </a:solidFill>
                <a:latin typeface="Consolas"/>
              </a:rPr>
              <a:t>− </a:t>
            </a:r>
            <a:r>
              <a:rPr sz="1100" b="0" i="0" lang="en-US" strike="sngStrike">
                <a:solidFill>
                  <a:srgbClr val="6B6B6B"/>
                </a:solidFill>
                <a:latin typeface="Consolas"/>
              </a:rPr>
              <a:t>Active(chart=general_…)</a:t>
            </a:r>
            <a:r>
              <a:rPr sz="850" b="0" i="0" lang="en-US">
                <a:solidFill>
                  <a:srgbClr val="6B6B6B"/>
                </a:solidFill>
                <a:latin typeface="Noto Sans"/>
              </a:rPr>
              <a:t>  retract</a:t>
            </a:r>
          </a:p>
        </p:txBody>
      </p:sp>
      <p:sp>
        <p:nvSpPr>
          <p:cNvPr id="66" name="TextBox 65"/>
          <p:cNvSpPr txBox="1"/>
          <p:nvPr/>
        </p:nvSpPr>
        <p:spPr>
          <a:xfrm>
            <a:off x="9048750" y="3314700"/>
            <a:ext cx="2552700" cy="1905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r>
              <a:rPr sz="1100" b="1" i="0" lang="en-US">
                <a:solidFill>
                  <a:srgbClr val="CC0000"/>
                </a:solidFill>
                <a:latin typeface="Consolas"/>
              </a:rPr>
              <a:t>+ </a:t>
            </a:r>
            <a:r>
              <a:rPr sz="1100" b="1" i="0" lang="en-US">
                <a:solidFill>
                  <a:srgbClr val="990000"/>
                </a:solidFill>
                <a:latin typeface="Consolas"/>
              </a:rPr>
              <a:t>Active(chart=hemorrhage)</a:t>
            </a:r>
            <a:r>
              <a:rPr sz="850" b="0" i="0" lang="en-US">
                <a:solidFill>
                  <a:srgbClr val="6B6B6B"/>
                </a:solidFill>
                <a:latin typeface="Noto Sans"/>
              </a:rPr>
              <a:t>  declare</a:t>
            </a:r>
          </a:p>
        </p:txBody>
      </p:sp>
      <p:sp>
        <p:nvSpPr>
          <p:cNvPr id="67" name="Rounded Rectangle 66"/>
          <p:cNvSpPr/>
          <p:nvPr/>
        </p:nvSpPr>
        <p:spPr>
          <a:xfrm>
            <a:off x="9048750" y="3600450"/>
            <a:ext cx="38100" cy="419100"/>
          </a:xfrm>
          <a:prstGeom prst="roundRect">
            <a:avLst>
              <a:gd name="adj" fmla="val 30000"/>
            </a:avLst>
          </a:prstGeom>
          <a:solidFill>
            <a:srgbClr val="CC000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76200" rIns="76200" tIns="38100" bIns="38100"/>
          <a:lstStyle/>
          <a:p>
            <a:pPr algn="ctr"/>
          </a:p>
        </p:txBody>
      </p:sp>
      <p:sp>
        <p:nvSpPr>
          <p:cNvPr id="68" name="TextBox 67"/>
          <p:cNvSpPr txBox="1"/>
          <p:nvPr/>
        </p:nvSpPr>
        <p:spPr>
          <a:xfrm>
            <a:off x="9163050" y="3600450"/>
            <a:ext cx="2438400" cy="4953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>
              <a:lnSpc>
                <a:spcPct val="110000"/>
              </a:lnSpc>
            </a:pPr>
            <a:r>
              <a:rPr sz="1000" b="1" i="0" lang="en-US">
                <a:solidFill>
                  <a:srgbClr val="1A1A1A"/>
                </a:solidFill>
                <a:latin typeface="Noto Sans"/>
              </a:rPr>
              <a:t>ABCDE never ran — circulation-first, as structure.</a:t>
            </a:r>
          </a:p>
        </p:txBody>
      </p:sp>
      <p:sp>
        <p:nvSpPr>
          <p:cNvPr id="69" name="TextBox 68"/>
          <p:cNvSpPr txBox="1"/>
          <p:nvPr/>
        </p:nvSpPr>
        <p:spPr>
          <a:xfrm>
            <a:off x="9048750" y="5086350"/>
            <a:ext cx="2476500" cy="1524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r>
              <a:rPr sz="800" b="1" i="0" lang="en-US">
                <a:solidFill>
                  <a:srgbClr val="6B6B6B"/>
                </a:solidFill>
                <a:latin typeface="Noto Sans"/>
              </a:rPr>
              <a:t>ENGINE OUTPUT (VERBATIM)</a:t>
            </a:r>
          </a:p>
        </p:txBody>
      </p:sp>
      <p:sp>
        <p:nvSpPr>
          <p:cNvPr id="70" name="Rounded Rectangle 69"/>
          <p:cNvSpPr/>
          <p:nvPr/>
        </p:nvSpPr>
        <p:spPr>
          <a:xfrm>
            <a:off x="9048750" y="5257800"/>
            <a:ext cx="2552700" cy="800100"/>
          </a:xfrm>
          <a:prstGeom prst="roundRect">
            <a:avLst>
              <a:gd name="adj" fmla="val 6000"/>
            </a:avLst>
          </a:prstGeom>
          <a:solidFill>
            <a:srgbClr val="F5F5F5"/>
          </a:solidFill>
          <a:ln w="15875">
            <a:solidFill>
              <a:srgbClr val="E0E0E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 wrap="square" lIns="114300" rIns="114300" tIns="76200" bIns="76200"/>
          <a:lstStyle/>
          <a:p>
            <a:pPr algn="ctr">
              <a:lnSpc>
                <a:spcPct val="115000"/>
              </a:lnSpc>
            </a:pPr>
            <a:r>
              <a:rPr sz="850" b="0" i="0" lang="en-US">
                <a:solidFill>
                  <a:srgbClr val="4A4A4A"/>
                </a:solidFill>
                <a:latin typeface="Consolas"/>
              </a:rPr>
              <a:t>[gen_05] Catastrophic Hemorrhage.</a:t>
            </a:r>
          </a:p>
          <a:p>
            <a:pPr>
              <a:lnSpc>
                <a:spcPct val="115000"/>
              </a:lnSpc>
            </a:pPr>
            <a:r>
              <a:rPr sz="850" b="0" i="0" lang="en-US">
                <a:solidFill>
                  <a:srgbClr val="4A4A4A"/>
                </a:solidFill>
                <a:latin typeface="Consolas"/>
              </a:rPr>
              <a:t>&gt;&gt; JUMP to chart 'hemorrhage'</a:t>
            </a:r>
          </a:p>
          <a:p>
            <a:pPr>
              <a:lnSpc>
                <a:spcPct val="115000"/>
              </a:lnSpc>
            </a:pPr>
            <a:r>
              <a:rPr sz="850" b="0" i="0" lang="en-US">
                <a:solidFill>
                  <a:srgbClr val="4A4A4A"/>
                </a:solidFill>
                <a:latin typeface="Consolas"/>
              </a:rPr>
              <a:t>(node 'hem_01') &lt;&lt;</a:t>
            </a:r>
          </a:p>
        </p:txBody>
      </p:sp>
      <p:sp>
        <p:nvSpPr>
          <p:cNvPr id="71" name="TextBox 70"/>
          <p:cNvSpPr txBox="1"/>
          <p:nvPr/>
        </p:nvSpPr>
        <p:spPr>
          <a:xfrm>
            <a:off x="9048750" y="6096000"/>
            <a:ext cx="2552700" cy="2286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r>
              <a:rPr sz="750" b="0" i="0" lang="en-US">
                <a:solidFill>
                  <a:srgbClr val="6B6B6B"/>
                </a:solidFill>
                <a:latin typeface="Noto Sans"/>
              </a:rPr>
              <a:t>real session · presentation/traces/walkthrough_yes_branch_en.txt</a:t>
            </a:r>
          </a:p>
        </p:txBody>
      </p:sp>
      <p:sp>
        <p:nvSpPr>
          <p:cNvPr id="72" name="Rounded Rectangle 71"/>
          <p:cNvSpPr/>
          <p:nvPr/>
        </p:nvSpPr>
        <p:spPr>
          <a:xfrm>
            <a:off x="419100" y="6496050"/>
            <a:ext cx="4953000" cy="247650"/>
          </a:xfrm>
          <a:prstGeom prst="roundRect">
            <a:avLst>
              <a:gd name="adj" fmla="val 50000"/>
            </a:avLst>
          </a:prstGeom>
          <a:solidFill>
            <a:srgbClr val="F5F5F5"/>
          </a:solidFill>
          <a:ln w="15875">
            <a:solidFill>
              <a:srgbClr val="E0E0E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76200" rIns="76200" tIns="38100" bIns="38100"/>
          <a:lstStyle/>
          <a:p>
            <a:pPr algn="ctr"/>
            <a:r>
              <a:rPr sz="900" b="0" i="0" lang="en-US">
                <a:solidFill>
                  <a:srgbClr val="4A4A4A"/>
                </a:solidFill>
                <a:latin typeface="Noto Sans"/>
              </a:rPr>
              <a:t>SARC charts #1 + #10 · data/general_assessment.json · data/hemorrhage.json</a:t>
            </a:r>
          </a:p>
        </p:txBody>
      </p:sp>
      <p:sp>
        <p:nvSpPr>
          <p:cNvPr id="73" name="Oval 72"/>
          <p:cNvSpPr/>
          <p:nvPr/>
        </p:nvSpPr>
        <p:spPr>
          <a:xfrm>
            <a:off x="10001250" y="6572250"/>
            <a:ext cx="76200" cy="76200"/>
          </a:xfrm>
          <a:prstGeom prst="ellipse">
            <a:avLst/>
          </a:prstGeom>
          <a:solidFill>
            <a:srgbClr val="4A4A4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76200" rIns="76200" tIns="38100" bIns="38100"/>
          <a:lstStyle/>
          <a:p>
            <a:pPr algn="ctr"/>
          </a:p>
        </p:txBody>
      </p:sp>
      <p:sp>
        <p:nvSpPr>
          <p:cNvPr id="74" name="Oval 73"/>
          <p:cNvSpPr/>
          <p:nvPr/>
        </p:nvSpPr>
        <p:spPr>
          <a:xfrm>
            <a:off x="10163175" y="6572250"/>
            <a:ext cx="76200" cy="76200"/>
          </a:xfrm>
          <a:prstGeom prst="ellipse">
            <a:avLst/>
          </a:prstGeom>
          <a:solidFill>
            <a:srgbClr val="4A4A4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76200" rIns="76200" tIns="38100" bIns="38100"/>
          <a:lstStyle/>
          <a:p>
            <a:pPr algn="ctr"/>
          </a:p>
        </p:txBody>
      </p:sp>
      <p:sp>
        <p:nvSpPr>
          <p:cNvPr id="75" name="Oval 74"/>
          <p:cNvSpPr/>
          <p:nvPr/>
        </p:nvSpPr>
        <p:spPr>
          <a:xfrm>
            <a:off x="10325100" y="6572250"/>
            <a:ext cx="76200" cy="76200"/>
          </a:xfrm>
          <a:prstGeom prst="ellipse">
            <a:avLst/>
          </a:prstGeom>
          <a:solidFill>
            <a:srgbClr val="4A4A4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76200" rIns="76200" tIns="38100" bIns="38100"/>
          <a:lstStyle/>
          <a:p>
            <a:pPr algn="ctr"/>
          </a:p>
        </p:txBody>
      </p:sp>
      <p:sp>
        <p:nvSpPr>
          <p:cNvPr id="76" name="Oval 75"/>
          <p:cNvSpPr/>
          <p:nvPr/>
        </p:nvSpPr>
        <p:spPr>
          <a:xfrm>
            <a:off x="10487025" y="6572250"/>
            <a:ext cx="76200" cy="76200"/>
          </a:xfrm>
          <a:prstGeom prst="ellipse">
            <a:avLst/>
          </a:prstGeom>
          <a:solidFill>
            <a:srgbClr val="4A4A4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76200" rIns="76200" tIns="38100" bIns="38100"/>
          <a:lstStyle/>
          <a:p>
            <a:pPr algn="ctr"/>
          </a:p>
        </p:txBody>
      </p:sp>
      <p:sp>
        <p:nvSpPr>
          <p:cNvPr id="77" name="Oval 76"/>
          <p:cNvSpPr/>
          <p:nvPr/>
        </p:nvSpPr>
        <p:spPr>
          <a:xfrm>
            <a:off x="10648950" y="6572250"/>
            <a:ext cx="95250" cy="95250"/>
          </a:xfrm>
          <a:prstGeom prst="ellipse">
            <a:avLst/>
          </a:prstGeom>
          <a:solidFill>
            <a:srgbClr val="CC000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76200" rIns="76200" tIns="38100" bIns="38100"/>
          <a:lstStyle/>
          <a:p>
            <a:pPr algn="ctr"/>
          </a:p>
        </p:txBody>
      </p:sp>
      <p:sp>
        <p:nvSpPr>
          <p:cNvPr id="78" name="Oval 77"/>
          <p:cNvSpPr/>
          <p:nvPr/>
        </p:nvSpPr>
        <p:spPr>
          <a:xfrm>
            <a:off x="10810875" y="6572250"/>
            <a:ext cx="76200" cy="76200"/>
          </a:xfrm>
          <a:prstGeom prst="ellipse">
            <a:avLst/>
          </a:prstGeom>
          <a:solidFill>
            <a:srgbClr val="E0E0E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76200" rIns="76200" tIns="38100" bIns="38100"/>
          <a:lstStyle/>
          <a:p>
            <a:pPr algn="ctr"/>
          </a:p>
        </p:txBody>
      </p:sp>
      <p:sp>
        <p:nvSpPr>
          <p:cNvPr id="79" name="Oval 78"/>
          <p:cNvSpPr/>
          <p:nvPr/>
        </p:nvSpPr>
        <p:spPr>
          <a:xfrm>
            <a:off x="10972800" y="6572250"/>
            <a:ext cx="76200" cy="76200"/>
          </a:xfrm>
          <a:prstGeom prst="ellipse">
            <a:avLst/>
          </a:prstGeom>
          <a:solidFill>
            <a:srgbClr val="E0E0E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76200" rIns="76200" tIns="38100" bIns="38100"/>
          <a:lstStyle/>
          <a:p>
            <a:pPr algn="ctr"/>
          </a:p>
        </p:txBody>
      </p:sp>
      <p:sp>
        <p:nvSpPr>
          <p:cNvPr id="80" name="Oval 79"/>
          <p:cNvSpPr/>
          <p:nvPr/>
        </p:nvSpPr>
        <p:spPr>
          <a:xfrm>
            <a:off x="11134725" y="6572250"/>
            <a:ext cx="76200" cy="76200"/>
          </a:xfrm>
          <a:prstGeom prst="ellipse">
            <a:avLst/>
          </a:prstGeom>
          <a:solidFill>
            <a:srgbClr val="E0E0E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76200" rIns="76200" tIns="38100" bIns="38100"/>
          <a:lstStyle/>
          <a:p>
            <a:pPr algn="ctr"/>
          </a:p>
        </p:txBody>
      </p:sp>
      <p:sp>
        <p:nvSpPr>
          <p:cNvPr id="81" name="Oval 80"/>
          <p:cNvSpPr/>
          <p:nvPr/>
        </p:nvSpPr>
        <p:spPr>
          <a:xfrm>
            <a:off x="11296650" y="6572250"/>
            <a:ext cx="76200" cy="76200"/>
          </a:xfrm>
          <a:prstGeom prst="ellipse">
            <a:avLst/>
          </a:prstGeom>
          <a:solidFill>
            <a:srgbClr val="E0E0E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76200" rIns="76200" tIns="38100" bIns="38100"/>
          <a:lstStyle/>
          <a:p>
            <a:pPr algn="ctr"/>
          </a:p>
        </p:txBody>
      </p:sp>
      <p:sp>
        <p:nvSpPr>
          <p:cNvPr id="82" name="Oval 81"/>
          <p:cNvSpPr/>
          <p:nvPr/>
        </p:nvSpPr>
        <p:spPr>
          <a:xfrm>
            <a:off x="11458575" y="6572250"/>
            <a:ext cx="76200" cy="76200"/>
          </a:xfrm>
          <a:prstGeom prst="ellipse">
            <a:avLst/>
          </a:prstGeom>
          <a:solidFill>
            <a:srgbClr val="E0E0E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76200" rIns="76200" tIns="38100" bIns="38100"/>
          <a:lstStyle/>
          <a:p>
            <a:pPr algn="ctr"/>
          </a:p>
        </p:txBody>
      </p:sp>
      <p:sp>
        <p:nvSpPr>
          <p:cNvPr id="83" name="TextBox 82"/>
          <p:cNvSpPr txBox="1"/>
          <p:nvPr/>
        </p:nvSpPr>
        <p:spPr>
          <a:xfrm>
            <a:off x="11239500" y="6610350"/>
            <a:ext cx="762000" cy="1905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r>
              <a:rPr sz="900" b="0" i="0" lang="en-US">
                <a:solidFill>
                  <a:srgbClr val="6B6B6B"/>
                </a:solidFill>
                <a:latin typeface="Noto Sans"/>
              </a:rPr>
              <a:t>17 / 28</a:t>
            </a:r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19100" y="285750"/>
            <a:ext cx="8572500" cy="1905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r>
              <a:rPr sz="1050" b="1" i="0" lang="en-US">
                <a:solidFill>
                  <a:srgbClr val="CC0000"/>
                </a:solidFill>
                <a:latin typeface="Noto Sans"/>
              </a:rPr>
              <a:t>FLOW WALKTHROUGH · STEP 6 OF 10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19100" y="495300"/>
            <a:ext cx="9525000" cy="43815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r>
              <a:rPr sz="2100" b="1" i="0" lang="en-US">
                <a:solidFill>
                  <a:srgbClr val="1A1A1A"/>
                </a:solidFill>
                <a:latin typeface="Noto Sans"/>
              </a:rPr>
              <a:t>A NEW kind of fact: state, not position.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10763250" y="323850"/>
            <a:ext cx="1009650" cy="285750"/>
          </a:xfrm>
          <a:prstGeom prst="roundRect">
            <a:avLst>
              <a:gd name="adj" fmla="val 28000"/>
            </a:avLst>
          </a:prstGeom>
          <a:solidFill>
            <a:srgbClr val="CC000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76200" rIns="76200" tIns="38100" bIns="38100"/>
          <a:lstStyle/>
          <a:p>
            <a:pPr algn="ctr"/>
            <a:r>
              <a:rPr sz="1250" b="1" i="0" lang="en-US">
                <a:solidFill>
                  <a:srgbClr val="FFFFFF"/>
                </a:solidFill>
                <a:latin typeface="Noto Sans"/>
              </a:rPr>
              <a:t>ResQRules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14350" y="1123950"/>
            <a:ext cx="3810000" cy="1524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r>
              <a:rPr sz="850" b="1" i="0" lang="en-US">
                <a:solidFill>
                  <a:srgbClr val="6B6B6B"/>
                </a:solidFill>
                <a:latin typeface="Noto Sans"/>
              </a:rPr>
              <a:t>GENERAL ASSESSMENT — CHART #1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14350" y="2114550"/>
            <a:ext cx="4191000" cy="1524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r>
              <a:rPr sz="850" b="1" i="0" lang="en-US">
                <a:solidFill>
                  <a:srgbClr val="6B6B6B"/>
                </a:solidFill>
                <a:latin typeface="Noto Sans"/>
              </a:rPr>
              <a:t>CATASTROPHIC HEMORRHAGE — CHART #10</a:t>
            </a:r>
          </a:p>
        </p:txBody>
      </p:sp>
      <p:cxnSp>
        <p:nvCxnSpPr>
          <p:cNvPr id="7" name="Connector 6"/>
          <p:cNvCxnSpPr/>
          <p:nvPr/>
        </p:nvCxnSpPr>
        <p:spPr>
          <a:xfrm>
            <a:off x="1733550" y="1571625"/>
            <a:ext cx="171450" cy="0"/>
          </a:xfrm>
          <a:prstGeom prst="line">
            <a:avLst/>
          </a:prstGeom>
          <a:ln w="25400">
            <a:solidFill>
              <a:srgbClr val="4A4A4A"/>
            </a:solidFill>
            <a:tailEnd type="triangle" w="med" len="med"/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8" name="Connector 7"/>
          <p:cNvCxnSpPr/>
          <p:nvPr/>
        </p:nvCxnSpPr>
        <p:spPr>
          <a:xfrm>
            <a:off x="3162300" y="1571625"/>
            <a:ext cx="171450" cy="0"/>
          </a:xfrm>
          <a:prstGeom prst="line">
            <a:avLst/>
          </a:prstGeom>
          <a:ln w="25400">
            <a:solidFill>
              <a:srgbClr val="4A4A4A"/>
            </a:solidFill>
            <a:tailEnd type="triangle" w="med" len="med"/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9" name="Connector 8"/>
          <p:cNvCxnSpPr/>
          <p:nvPr/>
        </p:nvCxnSpPr>
        <p:spPr>
          <a:xfrm>
            <a:off x="4591050" y="1571625"/>
            <a:ext cx="133350" cy="0"/>
          </a:xfrm>
          <a:prstGeom prst="line">
            <a:avLst/>
          </a:prstGeom>
          <a:ln w="25400">
            <a:solidFill>
              <a:srgbClr val="4A4A4A"/>
            </a:solidFill>
            <a:tailEnd type="triangle" w="med" len="med"/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0" name="Connector 9"/>
          <p:cNvCxnSpPr/>
          <p:nvPr/>
        </p:nvCxnSpPr>
        <p:spPr>
          <a:xfrm>
            <a:off x="6667500" y="1571625"/>
            <a:ext cx="104775" cy="0"/>
          </a:xfrm>
          <a:prstGeom prst="line">
            <a:avLst/>
          </a:prstGeom>
          <a:ln w="25400">
            <a:solidFill>
              <a:srgbClr val="4A4A4A"/>
            </a:solidFill>
            <a:tailEnd type="triangle" w="med" len="med"/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1" name="Connector 10"/>
          <p:cNvCxnSpPr/>
          <p:nvPr/>
        </p:nvCxnSpPr>
        <p:spPr>
          <a:xfrm>
            <a:off x="7524750" y="1866900"/>
            <a:ext cx="0" cy="95250"/>
          </a:xfrm>
          <a:prstGeom prst="line">
            <a:avLst/>
          </a:prstGeom>
          <a:ln w="25400">
            <a:solidFill>
              <a:srgbClr val="4A4A4A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2" name="Connector 11"/>
          <p:cNvCxnSpPr/>
          <p:nvPr/>
        </p:nvCxnSpPr>
        <p:spPr>
          <a:xfrm flipH="1">
            <a:off x="2276475" y="1962150"/>
            <a:ext cx="5248275" cy="0"/>
          </a:xfrm>
          <a:prstGeom prst="line">
            <a:avLst/>
          </a:prstGeom>
          <a:ln w="25400">
            <a:solidFill>
              <a:srgbClr val="4A4A4A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3" name="Connector 12"/>
          <p:cNvCxnSpPr/>
          <p:nvPr/>
        </p:nvCxnSpPr>
        <p:spPr>
          <a:xfrm>
            <a:off x="2276475" y="1962150"/>
            <a:ext cx="0" cy="342900"/>
          </a:xfrm>
          <a:prstGeom prst="line">
            <a:avLst/>
          </a:prstGeom>
          <a:ln w="25400">
            <a:solidFill>
              <a:srgbClr val="4A4A4A"/>
            </a:solidFill>
            <a:tailEnd type="triangle" w="med" len="med"/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4" name="Connector 13"/>
          <p:cNvCxnSpPr/>
          <p:nvPr/>
        </p:nvCxnSpPr>
        <p:spPr>
          <a:xfrm>
            <a:off x="3676650" y="2667000"/>
            <a:ext cx="323850" cy="0"/>
          </a:xfrm>
          <a:prstGeom prst="line">
            <a:avLst/>
          </a:prstGeom>
          <a:ln w="19050">
            <a:solidFill>
              <a:srgbClr val="C7C7C7"/>
            </a:solidFill>
            <a:tailEnd type="triangle" w="med" len="med"/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5" name="Connector 14"/>
          <p:cNvCxnSpPr/>
          <p:nvPr/>
        </p:nvCxnSpPr>
        <p:spPr>
          <a:xfrm>
            <a:off x="4953000" y="2990850"/>
            <a:ext cx="0" cy="276225"/>
          </a:xfrm>
          <a:prstGeom prst="line">
            <a:avLst/>
          </a:prstGeom>
          <a:ln w="19050">
            <a:solidFill>
              <a:srgbClr val="C7C7C7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6" name="Connector 15"/>
          <p:cNvCxnSpPr/>
          <p:nvPr/>
        </p:nvCxnSpPr>
        <p:spPr>
          <a:xfrm flipH="1">
            <a:off x="2276475" y="3267075"/>
            <a:ext cx="2676525" cy="0"/>
          </a:xfrm>
          <a:prstGeom prst="line">
            <a:avLst/>
          </a:prstGeom>
          <a:ln w="19050">
            <a:solidFill>
              <a:srgbClr val="C7C7C7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7" name="Connector 16"/>
          <p:cNvCxnSpPr/>
          <p:nvPr/>
        </p:nvCxnSpPr>
        <p:spPr>
          <a:xfrm>
            <a:off x="2276475" y="3267075"/>
            <a:ext cx="0" cy="180975"/>
          </a:xfrm>
          <a:prstGeom prst="line">
            <a:avLst/>
          </a:prstGeom>
          <a:ln w="19050">
            <a:solidFill>
              <a:srgbClr val="C7C7C7"/>
            </a:solidFill>
            <a:tailEnd type="triangle" w="med" len="med"/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8" name="Connector 17"/>
          <p:cNvCxnSpPr/>
          <p:nvPr/>
        </p:nvCxnSpPr>
        <p:spPr>
          <a:xfrm>
            <a:off x="5905500" y="2667000"/>
            <a:ext cx="285750" cy="0"/>
          </a:xfrm>
          <a:prstGeom prst="line">
            <a:avLst/>
          </a:prstGeom>
          <a:ln w="19050">
            <a:solidFill>
              <a:srgbClr val="C7C7C7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9" name="Connector 18"/>
          <p:cNvCxnSpPr/>
          <p:nvPr/>
        </p:nvCxnSpPr>
        <p:spPr>
          <a:xfrm>
            <a:off x="6191250" y="2667000"/>
            <a:ext cx="0" cy="419100"/>
          </a:xfrm>
          <a:prstGeom prst="line">
            <a:avLst/>
          </a:prstGeom>
          <a:ln w="19050">
            <a:solidFill>
              <a:srgbClr val="C7C7C7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0" name="Connector 19"/>
          <p:cNvCxnSpPr/>
          <p:nvPr/>
        </p:nvCxnSpPr>
        <p:spPr>
          <a:xfrm>
            <a:off x="6191250" y="3086100"/>
            <a:ext cx="190500" cy="0"/>
          </a:xfrm>
          <a:prstGeom prst="line">
            <a:avLst/>
          </a:prstGeom>
          <a:ln w="19050">
            <a:solidFill>
              <a:srgbClr val="C7C7C7"/>
            </a:solidFill>
            <a:tailEnd type="triangle" w="med" len="med"/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1" name="Connector 20"/>
          <p:cNvCxnSpPr/>
          <p:nvPr/>
        </p:nvCxnSpPr>
        <p:spPr>
          <a:xfrm>
            <a:off x="3676650" y="3810000"/>
            <a:ext cx="323850" cy="0"/>
          </a:xfrm>
          <a:prstGeom prst="line">
            <a:avLst/>
          </a:prstGeom>
          <a:ln w="19050">
            <a:solidFill>
              <a:srgbClr val="C7C7C7"/>
            </a:solidFill>
            <a:tailEnd type="triangle" w="med" len="med"/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2" name="Connector 21"/>
          <p:cNvCxnSpPr/>
          <p:nvPr/>
        </p:nvCxnSpPr>
        <p:spPr>
          <a:xfrm>
            <a:off x="4953000" y="4133850"/>
            <a:ext cx="0" cy="276225"/>
          </a:xfrm>
          <a:prstGeom prst="line">
            <a:avLst/>
          </a:prstGeom>
          <a:ln w="19050">
            <a:solidFill>
              <a:srgbClr val="C7C7C7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3" name="Connector 22"/>
          <p:cNvCxnSpPr/>
          <p:nvPr/>
        </p:nvCxnSpPr>
        <p:spPr>
          <a:xfrm flipH="1">
            <a:off x="2276475" y="4410075"/>
            <a:ext cx="2676525" cy="0"/>
          </a:xfrm>
          <a:prstGeom prst="line">
            <a:avLst/>
          </a:prstGeom>
          <a:ln w="19050">
            <a:solidFill>
              <a:srgbClr val="C7C7C7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4" name="Connector 23"/>
          <p:cNvCxnSpPr/>
          <p:nvPr/>
        </p:nvCxnSpPr>
        <p:spPr>
          <a:xfrm>
            <a:off x="2276475" y="4410075"/>
            <a:ext cx="0" cy="180975"/>
          </a:xfrm>
          <a:prstGeom prst="line">
            <a:avLst/>
          </a:prstGeom>
          <a:ln w="19050">
            <a:solidFill>
              <a:srgbClr val="C7C7C7"/>
            </a:solidFill>
            <a:tailEnd type="triangle" w="med" len="med"/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5" name="Connector 24"/>
          <p:cNvCxnSpPr/>
          <p:nvPr/>
        </p:nvCxnSpPr>
        <p:spPr>
          <a:xfrm>
            <a:off x="5905500" y="3810000"/>
            <a:ext cx="285750" cy="0"/>
          </a:xfrm>
          <a:prstGeom prst="line">
            <a:avLst/>
          </a:prstGeom>
          <a:ln w="19050">
            <a:solidFill>
              <a:srgbClr val="C7C7C7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6" name="Connector 25"/>
          <p:cNvCxnSpPr/>
          <p:nvPr/>
        </p:nvCxnSpPr>
        <p:spPr>
          <a:xfrm flipV="1">
            <a:off x="6191250" y="3371850"/>
            <a:ext cx="0" cy="438150"/>
          </a:xfrm>
          <a:prstGeom prst="line">
            <a:avLst/>
          </a:prstGeom>
          <a:ln w="19050">
            <a:solidFill>
              <a:srgbClr val="C7C7C7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7" name="Connector 26"/>
          <p:cNvCxnSpPr/>
          <p:nvPr/>
        </p:nvCxnSpPr>
        <p:spPr>
          <a:xfrm>
            <a:off x="6191250" y="3371850"/>
            <a:ext cx="190500" cy="0"/>
          </a:xfrm>
          <a:prstGeom prst="line">
            <a:avLst/>
          </a:prstGeom>
          <a:ln w="19050">
            <a:solidFill>
              <a:srgbClr val="C7C7C7"/>
            </a:solidFill>
            <a:tailEnd type="triangle" w="med" len="med"/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8" name="Connector 27"/>
          <p:cNvCxnSpPr/>
          <p:nvPr/>
        </p:nvCxnSpPr>
        <p:spPr>
          <a:xfrm>
            <a:off x="3676650" y="4953000"/>
            <a:ext cx="323850" cy="0"/>
          </a:xfrm>
          <a:prstGeom prst="line">
            <a:avLst/>
          </a:prstGeom>
          <a:ln w="19050">
            <a:solidFill>
              <a:srgbClr val="C7C7C7"/>
            </a:solidFill>
            <a:tailEnd type="triangle" w="med" len="med"/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9" name="Connector 28"/>
          <p:cNvCxnSpPr/>
          <p:nvPr/>
        </p:nvCxnSpPr>
        <p:spPr>
          <a:xfrm>
            <a:off x="5905500" y="4953000"/>
            <a:ext cx="457200" cy="0"/>
          </a:xfrm>
          <a:prstGeom prst="line">
            <a:avLst/>
          </a:prstGeom>
          <a:ln w="19050">
            <a:solidFill>
              <a:srgbClr val="C7C7C7"/>
            </a:solidFill>
            <a:tailEnd type="triangle" w="med" len="med"/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0" name="Connector 29"/>
          <p:cNvCxnSpPr/>
          <p:nvPr/>
        </p:nvCxnSpPr>
        <p:spPr>
          <a:xfrm>
            <a:off x="4953000" y="5276850"/>
            <a:ext cx="0" cy="276225"/>
          </a:xfrm>
          <a:prstGeom prst="line">
            <a:avLst/>
          </a:prstGeom>
          <a:ln w="19050">
            <a:solidFill>
              <a:srgbClr val="C7C7C7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1" name="Connector 30"/>
          <p:cNvCxnSpPr/>
          <p:nvPr/>
        </p:nvCxnSpPr>
        <p:spPr>
          <a:xfrm>
            <a:off x="4953000" y="5553075"/>
            <a:ext cx="2228850" cy="0"/>
          </a:xfrm>
          <a:prstGeom prst="line">
            <a:avLst/>
          </a:prstGeom>
          <a:ln w="19050">
            <a:solidFill>
              <a:srgbClr val="C7C7C7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2" name="Connector 31"/>
          <p:cNvCxnSpPr/>
          <p:nvPr/>
        </p:nvCxnSpPr>
        <p:spPr>
          <a:xfrm flipV="1">
            <a:off x="7181850" y="5200650"/>
            <a:ext cx="0" cy="352425"/>
          </a:xfrm>
          <a:prstGeom prst="line">
            <a:avLst/>
          </a:prstGeom>
          <a:ln w="19050">
            <a:solidFill>
              <a:srgbClr val="C7C7C7"/>
            </a:solidFill>
            <a:tailEnd type="triangle" w="med" len="med"/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33" name="Rounded Rectangle 32"/>
          <p:cNvSpPr/>
          <p:nvPr/>
        </p:nvSpPr>
        <p:spPr>
          <a:xfrm>
            <a:off x="514350" y="1371600"/>
            <a:ext cx="1219200" cy="419100"/>
          </a:xfrm>
          <a:prstGeom prst="roundRect">
            <a:avLst>
              <a:gd name="adj" fmla="val 14000"/>
            </a:avLst>
          </a:prstGeom>
          <a:solidFill>
            <a:srgbClr val="FFFFFF"/>
          </a:solidFill>
          <a:ln w="25400">
            <a:solidFill>
              <a:srgbClr val="4A4A4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76200" rIns="76200" tIns="38100" bIns="38100"/>
          <a:lstStyle/>
          <a:p>
            <a:pPr algn="ctr"/>
            <a:r>
              <a:rPr sz="1100" b="1" i="0" lang="en-US">
                <a:solidFill>
                  <a:srgbClr val="1A1A1A"/>
                </a:solidFill>
                <a:latin typeface="Noto Sans"/>
              </a:rPr>
              <a:t>Safety</a:t>
            </a:r>
          </a:p>
          <a:p>
            <a:pPr algn="ctr"/>
            <a:r>
              <a:rPr sz="750" b="0" i="0" lang="en-US">
                <a:solidFill>
                  <a:srgbClr val="6B6B6B"/>
                </a:solidFill>
                <a:latin typeface="Noto Sans"/>
              </a:rPr>
              <a:t>gen_01</a:t>
            </a:r>
          </a:p>
        </p:txBody>
      </p:sp>
      <p:sp>
        <p:nvSpPr>
          <p:cNvPr id="34" name="Rounded Rectangle 33"/>
          <p:cNvSpPr/>
          <p:nvPr/>
        </p:nvSpPr>
        <p:spPr>
          <a:xfrm>
            <a:off x="1905000" y="1371600"/>
            <a:ext cx="1257300" cy="419100"/>
          </a:xfrm>
          <a:prstGeom prst="roundRect">
            <a:avLst>
              <a:gd name="adj" fmla="val 14000"/>
            </a:avLst>
          </a:prstGeom>
          <a:solidFill>
            <a:srgbClr val="FFFFFF"/>
          </a:solidFill>
          <a:ln w="25400">
            <a:solidFill>
              <a:srgbClr val="4A4A4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76200" rIns="76200" tIns="38100" bIns="38100"/>
          <a:lstStyle/>
          <a:p>
            <a:pPr algn="ctr"/>
            <a:r>
              <a:rPr sz="1100" b="1" i="0" lang="en-US">
                <a:solidFill>
                  <a:srgbClr val="1A1A1A"/>
                </a:solidFill>
                <a:latin typeface="Noto Sans"/>
              </a:rPr>
              <a:t>Scene</a:t>
            </a:r>
          </a:p>
          <a:p>
            <a:pPr algn="ctr"/>
            <a:r>
              <a:rPr sz="750" b="0" i="0" lang="en-US">
                <a:solidFill>
                  <a:srgbClr val="6B6B6B"/>
                </a:solidFill>
                <a:latin typeface="Noto Sans"/>
              </a:rPr>
              <a:t>gen_02</a:t>
            </a:r>
          </a:p>
        </p:txBody>
      </p:sp>
      <p:sp>
        <p:nvSpPr>
          <p:cNvPr id="35" name="Rounded Rectangle 34"/>
          <p:cNvSpPr/>
          <p:nvPr/>
        </p:nvSpPr>
        <p:spPr>
          <a:xfrm>
            <a:off x="3333750" y="1371600"/>
            <a:ext cx="1257300" cy="419100"/>
          </a:xfrm>
          <a:prstGeom prst="roundRect">
            <a:avLst>
              <a:gd name="adj" fmla="val 14000"/>
            </a:avLst>
          </a:prstGeom>
          <a:solidFill>
            <a:srgbClr val="FFFFFF"/>
          </a:solidFill>
          <a:ln w="25400">
            <a:solidFill>
              <a:srgbClr val="4A4A4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76200" rIns="76200" tIns="38100" bIns="38100"/>
          <a:lstStyle/>
          <a:p>
            <a:pPr algn="ctr"/>
            <a:r>
              <a:rPr sz="1100" b="1" i="0" lang="en-US">
                <a:solidFill>
                  <a:srgbClr val="1A1A1A"/>
                </a:solidFill>
                <a:latin typeface="Noto Sans"/>
              </a:rPr>
              <a:t>Situation</a:t>
            </a:r>
          </a:p>
          <a:p>
            <a:pPr algn="ctr"/>
            <a:r>
              <a:rPr sz="750" b="0" i="0" lang="en-US">
                <a:solidFill>
                  <a:srgbClr val="6B6B6B"/>
                </a:solidFill>
                <a:latin typeface="Noto Sans"/>
              </a:rPr>
              <a:t>gen_03</a:t>
            </a:r>
          </a:p>
        </p:txBody>
      </p:sp>
      <p:sp>
        <p:nvSpPr>
          <p:cNvPr id="36" name="Rounded Rectangle 35"/>
          <p:cNvSpPr/>
          <p:nvPr/>
        </p:nvSpPr>
        <p:spPr>
          <a:xfrm>
            <a:off x="4762500" y="1314450"/>
            <a:ext cx="1866900" cy="533400"/>
          </a:xfrm>
          <a:prstGeom prst="roundRect">
            <a:avLst>
              <a:gd name="adj" fmla="val 14000"/>
            </a:avLst>
          </a:prstGeom>
          <a:solidFill>
            <a:srgbClr val="FFFFFF"/>
          </a:solidFill>
          <a:ln w="25400">
            <a:solidFill>
              <a:srgbClr val="4A4A4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76200" rIns="76200" tIns="38100" bIns="38100"/>
          <a:lstStyle/>
          <a:p>
            <a:pPr algn="ctr"/>
            <a:r>
              <a:rPr sz="1100" b="1" i="0" lang="en-US">
                <a:solidFill>
                  <a:srgbClr val="1A1A1A"/>
                </a:solidFill>
                <a:latin typeface="Noto Sans"/>
              </a:rPr>
              <a:t>◇ Life-threatening bleeding?</a:t>
            </a:r>
          </a:p>
          <a:p>
            <a:pPr algn="ctr"/>
            <a:r>
              <a:rPr sz="750" b="0" i="0" lang="en-US">
                <a:solidFill>
                  <a:srgbClr val="6B6B6B"/>
                </a:solidFill>
                <a:latin typeface="Noto Sans"/>
              </a:rPr>
              <a:t>gen_04</a:t>
            </a:r>
          </a:p>
        </p:txBody>
      </p:sp>
      <p:sp>
        <p:nvSpPr>
          <p:cNvPr id="37" name="Rounded Rectangle 36"/>
          <p:cNvSpPr/>
          <p:nvPr/>
        </p:nvSpPr>
        <p:spPr>
          <a:xfrm>
            <a:off x="6819900" y="1352550"/>
            <a:ext cx="1409700" cy="495300"/>
          </a:xfrm>
          <a:prstGeom prst="roundRect">
            <a:avLst>
              <a:gd name="adj" fmla="val 14000"/>
            </a:avLst>
          </a:prstGeom>
          <a:solidFill>
            <a:srgbClr val="FFFFFF"/>
          </a:solidFill>
          <a:ln w="25400">
            <a:solidFill>
              <a:srgbClr val="4A4A4A"/>
            </a:solidFill>
            <a:prstDash val="dash"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76200" rIns="76200" tIns="38100" bIns="38100"/>
          <a:lstStyle/>
          <a:p>
            <a:pPr algn="ctr"/>
            <a:r>
              <a:rPr sz="1100" b="1" i="0" lang="en-US">
                <a:solidFill>
                  <a:srgbClr val="1A1A1A"/>
                </a:solidFill>
                <a:latin typeface="Noto Sans"/>
              </a:rPr>
              <a:t>⇢ Hemorrhage</a:t>
            </a:r>
          </a:p>
          <a:p>
            <a:pPr algn="ctr"/>
            <a:r>
              <a:rPr sz="750" b="0" i="0" lang="en-US">
                <a:solidFill>
                  <a:srgbClr val="6B6B6B"/>
                </a:solidFill>
                <a:latin typeface="Noto Sans"/>
              </a:rPr>
              <a:t>gen_05 · jump</a:t>
            </a:r>
          </a:p>
        </p:txBody>
      </p:sp>
      <p:sp>
        <p:nvSpPr>
          <p:cNvPr id="38" name="Rounded Rectangle 37"/>
          <p:cNvSpPr/>
          <p:nvPr/>
        </p:nvSpPr>
        <p:spPr>
          <a:xfrm>
            <a:off x="895350" y="2362200"/>
            <a:ext cx="2781300" cy="609600"/>
          </a:xfrm>
          <a:prstGeom prst="roundRect">
            <a:avLst>
              <a:gd name="adj" fmla="val 14000"/>
            </a:avLst>
          </a:prstGeom>
          <a:solidFill>
            <a:srgbClr val="FFEAEA"/>
          </a:solidFill>
          <a:ln w="31750">
            <a:solidFill>
              <a:srgbClr val="CC000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76200" rIns="76200" tIns="38100" bIns="38100"/>
          <a:lstStyle/>
          <a:p>
            <a:pPr algn="ctr"/>
            <a:r>
              <a:rPr sz="1100" b="1" i="0" lang="en-US">
                <a:solidFill>
                  <a:srgbClr val="1A1A1A"/>
                </a:solidFill>
                <a:latin typeface="Noto Sans"/>
              </a:rPr>
              <a:t>Direct pressure · compression dressing</a:t>
            </a:r>
          </a:p>
          <a:p>
            <a:pPr algn="ctr"/>
            <a:r>
              <a:rPr sz="750" b="0" i="0" lang="en-US">
                <a:solidFill>
                  <a:srgbClr val="6B6B6B"/>
                </a:solidFill>
                <a:latin typeface="Noto Sans"/>
              </a:rPr>
              <a:t>hem_01</a:t>
            </a:r>
          </a:p>
        </p:txBody>
      </p:sp>
      <p:sp>
        <p:nvSpPr>
          <p:cNvPr id="39" name="Rounded Rectangle 38"/>
          <p:cNvSpPr/>
          <p:nvPr/>
        </p:nvSpPr>
        <p:spPr>
          <a:xfrm>
            <a:off x="4038600" y="2381250"/>
            <a:ext cx="1866900" cy="571500"/>
          </a:xfrm>
          <a:prstGeom prst="roundRect">
            <a:avLst>
              <a:gd name="adj" fmla="val 14000"/>
            </a:avLst>
          </a:prstGeom>
          <a:solidFill>
            <a:srgbClr val="FFFFFF"/>
          </a:solidFill>
          <a:ln w="19050">
            <a:solidFill>
              <a:srgbClr val="E0E0E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76200" rIns="76200" tIns="38100" bIns="38100"/>
          <a:lstStyle/>
          <a:p>
            <a:pPr algn="ctr"/>
            <a:r>
              <a:rPr sz="1100" b="0" i="0" lang="en-US">
                <a:solidFill>
                  <a:srgbClr val="6B6B6B"/>
                </a:solidFill>
                <a:latin typeface="Noto Sans"/>
              </a:rPr>
              <a:t>◇ Active bleeding?</a:t>
            </a:r>
          </a:p>
          <a:p>
            <a:pPr algn="ctr"/>
            <a:r>
              <a:rPr sz="750" b="0" i="0" lang="en-US">
                <a:solidFill>
                  <a:srgbClr val="6B6B6B"/>
                </a:solidFill>
                <a:latin typeface="Noto Sans"/>
              </a:rPr>
              <a:t>hem_02</a:t>
            </a:r>
          </a:p>
        </p:txBody>
      </p:sp>
      <p:sp>
        <p:nvSpPr>
          <p:cNvPr id="40" name="Rounded Rectangle 39"/>
          <p:cNvSpPr/>
          <p:nvPr/>
        </p:nvSpPr>
        <p:spPr>
          <a:xfrm>
            <a:off x="895350" y="3505200"/>
            <a:ext cx="2781300" cy="609600"/>
          </a:xfrm>
          <a:prstGeom prst="roundRect">
            <a:avLst>
              <a:gd name="adj" fmla="val 14000"/>
            </a:avLst>
          </a:prstGeom>
          <a:solidFill>
            <a:srgbClr val="FFFFFF"/>
          </a:solidFill>
          <a:ln w="19050">
            <a:solidFill>
              <a:srgbClr val="E0E0E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76200" rIns="76200" tIns="38100" bIns="38100"/>
          <a:lstStyle/>
          <a:p>
            <a:pPr algn="ctr"/>
            <a:r>
              <a:rPr sz="1100" b="0" i="0" lang="en-US">
                <a:solidFill>
                  <a:srgbClr val="6B6B6B"/>
                </a:solidFill>
                <a:latin typeface="Noto Sans"/>
              </a:rPr>
              <a:t>Second compression bandage</a:t>
            </a:r>
          </a:p>
          <a:p>
            <a:pPr algn="ctr"/>
            <a:r>
              <a:rPr sz="750" b="0" i="0" lang="en-US">
                <a:solidFill>
                  <a:srgbClr val="6B6B6B"/>
                </a:solidFill>
                <a:latin typeface="Noto Sans"/>
              </a:rPr>
              <a:t>hem_03 · TIER 2</a:t>
            </a:r>
          </a:p>
        </p:txBody>
      </p:sp>
      <p:sp>
        <p:nvSpPr>
          <p:cNvPr id="41" name="Rounded Rectangle 40"/>
          <p:cNvSpPr/>
          <p:nvPr/>
        </p:nvSpPr>
        <p:spPr>
          <a:xfrm>
            <a:off x="4038600" y="3524250"/>
            <a:ext cx="1866900" cy="571500"/>
          </a:xfrm>
          <a:prstGeom prst="roundRect">
            <a:avLst>
              <a:gd name="adj" fmla="val 14000"/>
            </a:avLst>
          </a:prstGeom>
          <a:solidFill>
            <a:srgbClr val="FFFFFF"/>
          </a:solidFill>
          <a:ln w="19050">
            <a:solidFill>
              <a:srgbClr val="E0E0E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76200" rIns="76200" tIns="38100" bIns="38100"/>
          <a:lstStyle/>
          <a:p>
            <a:pPr algn="ctr"/>
            <a:r>
              <a:rPr sz="1100" b="0" i="0" lang="en-US">
                <a:solidFill>
                  <a:srgbClr val="6B6B6B"/>
                </a:solidFill>
                <a:latin typeface="Noto Sans"/>
              </a:rPr>
              <a:t>◇ Active bleeding?</a:t>
            </a:r>
          </a:p>
          <a:p>
            <a:pPr algn="ctr"/>
            <a:r>
              <a:rPr sz="750" b="0" i="0" lang="en-US">
                <a:solidFill>
                  <a:srgbClr val="6B6B6B"/>
                </a:solidFill>
                <a:latin typeface="Noto Sans"/>
              </a:rPr>
              <a:t>hem_04</a:t>
            </a:r>
          </a:p>
        </p:txBody>
      </p:sp>
      <p:sp>
        <p:nvSpPr>
          <p:cNvPr id="42" name="Rounded Rectangle 41"/>
          <p:cNvSpPr/>
          <p:nvPr/>
        </p:nvSpPr>
        <p:spPr>
          <a:xfrm>
            <a:off x="895350" y="4648200"/>
            <a:ext cx="2781300" cy="609600"/>
          </a:xfrm>
          <a:prstGeom prst="roundRect">
            <a:avLst>
              <a:gd name="adj" fmla="val 14000"/>
            </a:avLst>
          </a:prstGeom>
          <a:solidFill>
            <a:srgbClr val="FFFFFF"/>
          </a:solidFill>
          <a:ln w="19050">
            <a:solidFill>
              <a:srgbClr val="E0E0E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76200" rIns="76200" tIns="38100" bIns="38100"/>
          <a:lstStyle/>
          <a:p>
            <a:pPr algn="ctr"/>
            <a:r>
              <a:rPr sz="1100" b="0" i="0" lang="en-US">
                <a:solidFill>
                  <a:srgbClr val="6B6B6B"/>
                </a:solidFill>
                <a:latin typeface="Noto Sans"/>
              </a:rPr>
              <a:t>Tourniquet — one palm above wound</a:t>
            </a:r>
          </a:p>
          <a:p>
            <a:pPr algn="ctr"/>
            <a:r>
              <a:rPr sz="750" b="0" i="0" lang="en-US">
                <a:solidFill>
                  <a:srgbClr val="6B6B6B"/>
                </a:solidFill>
                <a:latin typeface="Noto Sans"/>
              </a:rPr>
              <a:t>hem_05 · terminal</a:t>
            </a:r>
          </a:p>
        </p:txBody>
      </p:sp>
      <p:sp>
        <p:nvSpPr>
          <p:cNvPr id="43" name="Rounded Rectangle 42"/>
          <p:cNvSpPr/>
          <p:nvPr/>
        </p:nvSpPr>
        <p:spPr>
          <a:xfrm>
            <a:off x="4038600" y="4667250"/>
            <a:ext cx="1866900" cy="571500"/>
          </a:xfrm>
          <a:prstGeom prst="roundRect">
            <a:avLst>
              <a:gd name="adj" fmla="val 14000"/>
            </a:avLst>
          </a:prstGeom>
          <a:solidFill>
            <a:srgbClr val="FFFFFF"/>
          </a:solidFill>
          <a:ln w="19050">
            <a:solidFill>
              <a:srgbClr val="E0E0E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76200" rIns="76200" tIns="38100" bIns="38100"/>
          <a:lstStyle/>
          <a:p>
            <a:pPr algn="ctr"/>
            <a:r>
              <a:rPr sz="1100" b="0" i="0" lang="en-US">
                <a:solidFill>
                  <a:srgbClr val="6B6B6B"/>
                </a:solidFill>
                <a:latin typeface="Noto Sans"/>
              </a:rPr>
              <a:t>◇ Active bleeding?</a:t>
            </a:r>
          </a:p>
          <a:p>
            <a:pPr algn="ctr"/>
            <a:r>
              <a:rPr sz="750" b="0" i="0" lang="en-US">
                <a:solidFill>
                  <a:srgbClr val="6B6B6B"/>
                </a:solidFill>
                <a:latin typeface="Noto Sans"/>
              </a:rPr>
              <a:t>hem_06</a:t>
            </a:r>
          </a:p>
        </p:txBody>
      </p:sp>
      <p:sp>
        <p:nvSpPr>
          <p:cNvPr id="44" name="Rounded Rectangle 43"/>
          <p:cNvSpPr/>
          <p:nvPr/>
        </p:nvSpPr>
        <p:spPr>
          <a:xfrm>
            <a:off x="6381750" y="2895600"/>
            <a:ext cx="2133600" cy="476250"/>
          </a:xfrm>
          <a:prstGeom prst="roundRect">
            <a:avLst>
              <a:gd name="adj" fmla="val 50000"/>
            </a:avLst>
          </a:prstGeom>
          <a:solidFill>
            <a:srgbClr val="FFFFFF"/>
          </a:solidFill>
          <a:ln w="19050">
            <a:solidFill>
              <a:srgbClr val="E0E0E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76200" rIns="76200" tIns="38100" bIns="38100"/>
          <a:lstStyle/>
          <a:p>
            <a:pPr algn="ctr"/>
            <a:r>
              <a:rPr sz="1100" b="0" i="0" lang="en-US">
                <a:solidFill>
                  <a:srgbClr val="6B6B6B"/>
                </a:solidFill>
                <a:latin typeface="Noto Sans"/>
              </a:rPr>
              <a:t>Transport to health center</a:t>
            </a:r>
          </a:p>
          <a:p>
            <a:pPr algn="ctr"/>
            <a:r>
              <a:rPr sz="750" b="0" i="0" lang="en-US">
                <a:solidFill>
                  <a:srgbClr val="6B6B6B"/>
                </a:solidFill>
                <a:latin typeface="Noto Sans"/>
              </a:rPr>
              <a:t>hem_08</a:t>
            </a:r>
          </a:p>
        </p:txBody>
      </p:sp>
      <p:sp>
        <p:nvSpPr>
          <p:cNvPr id="45" name="Rounded Rectangle 44"/>
          <p:cNvSpPr/>
          <p:nvPr/>
        </p:nvSpPr>
        <p:spPr>
          <a:xfrm>
            <a:off x="6381750" y="4724400"/>
            <a:ext cx="2133600" cy="476250"/>
          </a:xfrm>
          <a:prstGeom prst="roundRect">
            <a:avLst>
              <a:gd name="adj" fmla="val 50000"/>
            </a:avLst>
          </a:prstGeom>
          <a:solidFill>
            <a:srgbClr val="FFFFFF"/>
          </a:solidFill>
          <a:ln w="19050">
            <a:solidFill>
              <a:srgbClr val="E0E0E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76200" rIns="76200" tIns="38100" bIns="38100"/>
          <a:lstStyle/>
          <a:p>
            <a:pPr algn="ctr"/>
            <a:r>
              <a:rPr sz="1100" b="0" i="0" lang="en-US">
                <a:solidFill>
                  <a:srgbClr val="6B6B6B"/>
                </a:solidFill>
                <a:latin typeface="Noto Sans"/>
              </a:rPr>
              <a:t>URGENT transport</a:t>
            </a:r>
          </a:p>
          <a:p>
            <a:pPr algn="ctr"/>
            <a:r>
              <a:rPr sz="750" b="0" i="0" lang="en-US">
                <a:solidFill>
                  <a:srgbClr val="6B6B6B"/>
                </a:solidFill>
                <a:latin typeface="Noto Sans"/>
              </a:rPr>
              <a:t>hem_07</a:t>
            </a:r>
          </a:p>
        </p:txBody>
      </p:sp>
      <p:sp>
        <p:nvSpPr>
          <p:cNvPr id="46" name="Oval 45"/>
          <p:cNvSpPr/>
          <p:nvPr/>
        </p:nvSpPr>
        <p:spPr>
          <a:xfrm>
            <a:off x="514350" y="2533650"/>
            <a:ext cx="266700" cy="266700"/>
          </a:xfrm>
          <a:prstGeom prst="ellipse">
            <a:avLst/>
          </a:prstGeom>
          <a:solidFill>
            <a:srgbClr val="CC0000"/>
          </a:solidFill>
          <a:ln w="19050">
            <a:solidFill>
              <a:srgbClr val="CC000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76200" rIns="76200" tIns="38100" bIns="38100"/>
          <a:lstStyle/>
          <a:p>
            <a:pPr algn="ctr"/>
            <a:r>
              <a:rPr sz="1100" b="1" i="0" lang="en-US">
                <a:solidFill>
                  <a:srgbClr val="FFFFFF"/>
                </a:solidFill>
                <a:latin typeface="Noto Sans"/>
              </a:rPr>
              <a:t>1</a:t>
            </a:r>
          </a:p>
        </p:txBody>
      </p:sp>
      <p:sp>
        <p:nvSpPr>
          <p:cNvPr id="47" name="Oval 46"/>
          <p:cNvSpPr/>
          <p:nvPr/>
        </p:nvSpPr>
        <p:spPr>
          <a:xfrm>
            <a:off x="514350" y="3676650"/>
            <a:ext cx="266700" cy="266700"/>
          </a:xfrm>
          <a:prstGeom prst="ellipse">
            <a:avLst/>
          </a:prstGeom>
          <a:solidFill>
            <a:srgbClr val="F5F5F5"/>
          </a:solidFill>
          <a:ln w="19050">
            <a:solidFill>
              <a:srgbClr val="E0E0E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76200" rIns="76200" tIns="38100" bIns="38100"/>
          <a:lstStyle/>
          <a:p>
            <a:pPr algn="ctr"/>
            <a:r>
              <a:rPr sz="1100" b="1" i="0" lang="en-US">
                <a:solidFill>
                  <a:srgbClr val="4A4A4A"/>
                </a:solidFill>
                <a:latin typeface="Noto Sans"/>
              </a:rPr>
              <a:t>2</a:t>
            </a:r>
          </a:p>
        </p:txBody>
      </p:sp>
      <p:sp>
        <p:nvSpPr>
          <p:cNvPr id="48" name="Oval 47"/>
          <p:cNvSpPr/>
          <p:nvPr/>
        </p:nvSpPr>
        <p:spPr>
          <a:xfrm>
            <a:off x="514350" y="4819650"/>
            <a:ext cx="266700" cy="266700"/>
          </a:xfrm>
          <a:prstGeom prst="ellipse">
            <a:avLst/>
          </a:prstGeom>
          <a:solidFill>
            <a:srgbClr val="F5F5F5"/>
          </a:solidFill>
          <a:ln w="19050">
            <a:solidFill>
              <a:srgbClr val="E0E0E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76200" rIns="76200" tIns="38100" bIns="38100"/>
          <a:lstStyle/>
          <a:p>
            <a:pPr algn="ctr"/>
            <a:r>
              <a:rPr sz="1100" b="1" i="0" lang="en-US">
                <a:solidFill>
                  <a:srgbClr val="4A4A4A"/>
                </a:solidFill>
                <a:latin typeface="Noto Sans"/>
              </a:rPr>
              <a:t>3</a:t>
            </a:r>
          </a:p>
        </p:txBody>
      </p:sp>
      <p:sp>
        <p:nvSpPr>
          <p:cNvPr id="49" name="Rounded Rectangle 48"/>
          <p:cNvSpPr/>
          <p:nvPr/>
        </p:nvSpPr>
        <p:spPr>
          <a:xfrm>
            <a:off x="3467100" y="1847850"/>
            <a:ext cx="3143250" cy="228600"/>
          </a:xfrm>
          <a:prstGeom prst="roundRect">
            <a:avLst>
              <a:gd name="adj" fmla="val 40000"/>
            </a:avLst>
          </a:prstGeom>
          <a:solidFill>
            <a:srgbClr val="FFFFFF"/>
          </a:solidFill>
          <a:ln w="15875">
            <a:solidFill>
              <a:srgbClr val="4A4A4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76200" rIns="76200" tIns="38100" bIns="38100"/>
          <a:lstStyle/>
          <a:p>
            <a:pPr algn="ctr"/>
            <a:r>
              <a:rPr sz="900" b="1" i="0" lang="en-US">
                <a:solidFill>
                  <a:srgbClr val="4A4A4A"/>
                </a:solidFill>
                <a:latin typeface="Noto Sans"/>
              </a:rPr>
              <a:t>yes →  &gt;&gt; JUMP to chart 'hemorrhage' &lt;&lt;</a:t>
            </a:r>
          </a:p>
        </p:txBody>
      </p:sp>
      <p:sp>
        <p:nvSpPr>
          <p:cNvPr id="50" name="Rounded Rectangle 49"/>
          <p:cNvSpPr/>
          <p:nvPr/>
        </p:nvSpPr>
        <p:spPr>
          <a:xfrm>
            <a:off x="2895600" y="3143250"/>
            <a:ext cx="1619250" cy="228600"/>
          </a:xfrm>
          <a:prstGeom prst="roundRect">
            <a:avLst>
              <a:gd name="adj" fmla="val 40000"/>
            </a:avLst>
          </a:prstGeom>
          <a:solidFill>
            <a:srgbClr val="FFFFFF"/>
          </a:solidFill>
          <a:ln w="15875">
            <a:solidFill>
              <a:srgbClr val="E5A3A3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76200" rIns="76200" tIns="38100" bIns="38100"/>
          <a:lstStyle/>
          <a:p>
            <a:pPr algn="ctr"/>
            <a:r>
              <a:rPr sz="900" b="1" i="0" lang="en-US">
                <a:solidFill>
                  <a:srgbClr val="E5A3A3"/>
                </a:solidFill>
                <a:latin typeface="Noto Sans"/>
              </a:rPr>
              <a:t>yes — still bleeding</a:t>
            </a:r>
          </a:p>
        </p:txBody>
      </p:sp>
      <p:sp>
        <p:nvSpPr>
          <p:cNvPr id="51" name="Rounded Rectangle 50"/>
          <p:cNvSpPr/>
          <p:nvPr/>
        </p:nvSpPr>
        <p:spPr>
          <a:xfrm>
            <a:off x="2895600" y="4286250"/>
            <a:ext cx="1619250" cy="228600"/>
          </a:xfrm>
          <a:prstGeom prst="roundRect">
            <a:avLst>
              <a:gd name="adj" fmla="val 40000"/>
            </a:avLst>
          </a:prstGeom>
          <a:solidFill>
            <a:srgbClr val="FFFFFF"/>
          </a:solidFill>
          <a:ln w="15875">
            <a:solidFill>
              <a:srgbClr val="E5A3A3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76200" rIns="76200" tIns="38100" bIns="38100"/>
          <a:lstStyle/>
          <a:p>
            <a:pPr algn="ctr"/>
            <a:r>
              <a:rPr sz="900" b="1" i="0" lang="en-US">
                <a:solidFill>
                  <a:srgbClr val="E5A3A3"/>
                </a:solidFill>
                <a:latin typeface="Noto Sans"/>
              </a:rPr>
              <a:t>yes — still bleeding</a:t>
            </a:r>
          </a:p>
        </p:txBody>
      </p:sp>
      <p:sp>
        <p:nvSpPr>
          <p:cNvPr id="52" name="Rounded Rectangle 51"/>
          <p:cNvSpPr/>
          <p:nvPr/>
        </p:nvSpPr>
        <p:spPr>
          <a:xfrm>
            <a:off x="6191250" y="2247900"/>
            <a:ext cx="1428750" cy="228600"/>
          </a:xfrm>
          <a:prstGeom prst="roundRect">
            <a:avLst>
              <a:gd name="adj" fmla="val 40000"/>
            </a:avLst>
          </a:prstGeom>
          <a:solidFill>
            <a:srgbClr val="FFFFFF"/>
          </a:solidFill>
          <a:ln w="15875">
            <a:solidFill>
              <a:srgbClr val="A9C9B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76200" rIns="76200" tIns="38100" bIns="38100"/>
          <a:lstStyle/>
          <a:p>
            <a:pPr algn="ctr"/>
            <a:r>
              <a:rPr sz="900" b="1" i="0" lang="en-US">
                <a:solidFill>
                  <a:srgbClr val="A9C9BA"/>
                </a:solidFill>
                <a:latin typeface="Noto Sans"/>
              </a:rPr>
              <a:t>✓ no — controlled</a:t>
            </a:r>
          </a:p>
        </p:txBody>
      </p:sp>
      <p:sp>
        <p:nvSpPr>
          <p:cNvPr id="53" name="Rounded Rectangle 52"/>
          <p:cNvSpPr/>
          <p:nvPr/>
        </p:nvSpPr>
        <p:spPr>
          <a:xfrm>
            <a:off x="6191250" y="3962400"/>
            <a:ext cx="1428750" cy="228600"/>
          </a:xfrm>
          <a:prstGeom prst="roundRect">
            <a:avLst>
              <a:gd name="adj" fmla="val 40000"/>
            </a:avLst>
          </a:prstGeom>
          <a:solidFill>
            <a:srgbClr val="FFFFFF"/>
          </a:solidFill>
          <a:ln w="15875">
            <a:solidFill>
              <a:srgbClr val="A9C9B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76200" rIns="76200" tIns="38100" bIns="38100"/>
          <a:lstStyle/>
          <a:p>
            <a:pPr algn="ctr"/>
            <a:r>
              <a:rPr sz="900" b="1" i="0" lang="en-US">
                <a:solidFill>
                  <a:srgbClr val="A9C9BA"/>
                </a:solidFill>
                <a:latin typeface="Noto Sans"/>
              </a:rPr>
              <a:t>✓ no — controlled</a:t>
            </a:r>
          </a:p>
        </p:txBody>
      </p:sp>
      <p:sp>
        <p:nvSpPr>
          <p:cNvPr id="54" name="Rounded Rectangle 53"/>
          <p:cNvSpPr/>
          <p:nvPr/>
        </p:nvSpPr>
        <p:spPr>
          <a:xfrm>
            <a:off x="5962650" y="5181600"/>
            <a:ext cx="628650" cy="209550"/>
          </a:xfrm>
          <a:prstGeom prst="roundRect">
            <a:avLst>
              <a:gd name="adj" fmla="val 40000"/>
            </a:avLst>
          </a:prstGeom>
          <a:solidFill>
            <a:srgbClr val="FFFFFF"/>
          </a:solidFill>
          <a:ln w="15875">
            <a:solidFill>
              <a:srgbClr val="A9C9B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76200" rIns="76200" tIns="38100" bIns="38100"/>
          <a:lstStyle/>
          <a:p>
            <a:pPr algn="ctr"/>
            <a:r>
              <a:rPr sz="900" b="1" i="0" lang="en-US">
                <a:solidFill>
                  <a:srgbClr val="A9C9BA"/>
                </a:solidFill>
                <a:latin typeface="Noto Sans"/>
              </a:rPr>
              <a:t>✓ no</a:t>
            </a:r>
          </a:p>
        </p:txBody>
      </p:sp>
      <p:sp>
        <p:nvSpPr>
          <p:cNvPr id="55" name="Rounded Rectangle 54"/>
          <p:cNvSpPr/>
          <p:nvPr/>
        </p:nvSpPr>
        <p:spPr>
          <a:xfrm>
            <a:off x="2381250" y="5429250"/>
            <a:ext cx="4095750" cy="228600"/>
          </a:xfrm>
          <a:prstGeom prst="roundRect">
            <a:avLst>
              <a:gd name="adj" fmla="val 40000"/>
            </a:avLst>
          </a:prstGeom>
          <a:solidFill>
            <a:srgbClr val="FFFFFF"/>
          </a:solidFill>
          <a:ln w="15875">
            <a:solidFill>
              <a:srgbClr val="E3C29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76200" rIns="76200" tIns="38100" bIns="38100"/>
          <a:lstStyle/>
          <a:p>
            <a:pPr algn="ctr"/>
            <a:r>
              <a:rPr sz="900" b="1" i="0" lang="en-US">
                <a:solidFill>
                  <a:srgbClr val="E3C29E"/>
                </a:solidFill>
                <a:latin typeface="Noto Sans"/>
              </a:rPr>
              <a:t>⚠ yes at terminal tier → HOLD, no tier 4 (flagged divergence)</a:t>
            </a:r>
          </a:p>
        </p:txBody>
      </p:sp>
      <p:sp>
        <p:nvSpPr>
          <p:cNvPr id="56" name="Rounded Rectangle 55"/>
          <p:cNvSpPr/>
          <p:nvPr/>
        </p:nvSpPr>
        <p:spPr>
          <a:xfrm>
            <a:off x="8877300" y="1123950"/>
            <a:ext cx="2895600" cy="5257800"/>
          </a:xfrm>
          <a:prstGeom prst="roundRect">
            <a:avLst>
              <a:gd name="adj" fmla="val 5000"/>
            </a:avLst>
          </a:prstGeom>
          <a:solidFill>
            <a:srgbClr val="FFFFFF"/>
          </a:solidFill>
          <a:ln w="19050">
            <a:solidFill>
              <a:srgbClr val="E0E0E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76200" rIns="76200" tIns="38100" bIns="38100"/>
          <a:lstStyle/>
          <a:p>
            <a:pPr algn="ctr"/>
          </a:p>
        </p:txBody>
      </p:sp>
      <p:sp>
        <p:nvSpPr>
          <p:cNvPr id="57" name="TextBox 56"/>
          <p:cNvSpPr txBox="1"/>
          <p:nvPr/>
        </p:nvSpPr>
        <p:spPr>
          <a:xfrm>
            <a:off x="9048750" y="1257300"/>
            <a:ext cx="2476500" cy="1905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r>
              <a:rPr sz="1000" b="1" i="0" lang="en-US">
                <a:solidFill>
                  <a:srgbClr val="1A1A1A"/>
                </a:solidFill>
                <a:latin typeface="Noto Sans"/>
              </a:rPr>
              <a:t>ENGINE STATE</a:t>
            </a:r>
          </a:p>
        </p:txBody>
      </p:sp>
      <p:cxnSp>
        <p:nvCxnSpPr>
          <p:cNvPr id="58" name="Connector 57"/>
          <p:cNvCxnSpPr/>
          <p:nvPr/>
        </p:nvCxnSpPr>
        <p:spPr>
          <a:xfrm>
            <a:off x="9048750" y="1485900"/>
            <a:ext cx="2552700" cy="0"/>
          </a:xfrm>
          <a:prstGeom prst="line">
            <a:avLst/>
          </a:prstGeom>
          <a:ln w="12700">
            <a:solidFill>
              <a:srgbClr val="E0E0E0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59" name="TextBox 58"/>
          <p:cNvSpPr txBox="1"/>
          <p:nvPr/>
        </p:nvSpPr>
        <p:spPr>
          <a:xfrm>
            <a:off x="9048750" y="1581150"/>
            <a:ext cx="2476500" cy="1524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r>
              <a:rPr sz="800" b="1" i="0" lang="en-US">
                <a:solidFill>
                  <a:srgbClr val="6B6B6B"/>
                </a:solidFill>
                <a:latin typeface="Noto Sans"/>
              </a:rPr>
              <a:t>WORKING MEMORY</a:t>
            </a:r>
          </a:p>
        </p:txBody>
      </p:sp>
      <p:sp>
        <p:nvSpPr>
          <p:cNvPr id="60" name="Rounded Rectangle 59"/>
          <p:cNvSpPr/>
          <p:nvPr/>
        </p:nvSpPr>
        <p:spPr>
          <a:xfrm>
            <a:off x="9048750" y="1771650"/>
            <a:ext cx="1504950" cy="247650"/>
          </a:xfrm>
          <a:prstGeom prst="roundRect">
            <a:avLst>
              <a:gd name="adj" fmla="val 50000"/>
            </a:avLst>
          </a:prstGeom>
          <a:solidFill>
            <a:srgbClr val="F5F5F5"/>
          </a:solidFill>
          <a:ln w="15875">
            <a:solidFill>
              <a:srgbClr val="E0E0E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76200" rIns="76200" tIns="38100" bIns="38100"/>
          <a:lstStyle/>
          <a:p>
            <a:pPr algn="ctr"/>
            <a:r>
              <a:rPr sz="1000" b="0" i="0" lang="en-US">
                <a:solidFill>
                  <a:srgbClr val="4A4A4A"/>
                </a:solidFill>
                <a:latin typeface="Consolas"/>
              </a:rPr>
              <a:t>Position(nid=hem_01)</a:t>
            </a:r>
          </a:p>
        </p:txBody>
      </p:sp>
      <p:sp>
        <p:nvSpPr>
          <p:cNvPr id="61" name="Rounded Rectangle 60"/>
          <p:cNvSpPr/>
          <p:nvPr/>
        </p:nvSpPr>
        <p:spPr>
          <a:xfrm>
            <a:off x="9048750" y="2076450"/>
            <a:ext cx="1748790" cy="247650"/>
          </a:xfrm>
          <a:prstGeom prst="roundRect">
            <a:avLst>
              <a:gd name="adj" fmla="val 50000"/>
            </a:avLst>
          </a:prstGeom>
          <a:solidFill>
            <a:srgbClr val="F5F5F5"/>
          </a:solidFill>
          <a:ln w="15875">
            <a:solidFill>
              <a:srgbClr val="E0E0E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76200" rIns="76200" tIns="38100" bIns="38100"/>
          <a:lstStyle/>
          <a:p>
            <a:pPr algn="ctr"/>
            <a:r>
              <a:rPr sz="1000" b="0" i="0" lang="en-US">
                <a:solidFill>
                  <a:srgbClr val="4A4A4A"/>
                </a:solidFill>
                <a:latin typeface="Consolas"/>
              </a:rPr>
              <a:t>Active(chart=hemorrhage)</a:t>
            </a:r>
          </a:p>
        </p:txBody>
      </p:sp>
      <p:sp>
        <p:nvSpPr>
          <p:cNvPr id="62" name="Rounded Rectangle 61"/>
          <p:cNvSpPr/>
          <p:nvPr/>
        </p:nvSpPr>
        <p:spPr>
          <a:xfrm>
            <a:off x="9048750" y="2381250"/>
            <a:ext cx="1261110" cy="247650"/>
          </a:xfrm>
          <a:prstGeom prst="roundRect">
            <a:avLst>
              <a:gd name="adj" fmla="val 50000"/>
            </a:avLst>
          </a:prstGeom>
          <a:solidFill>
            <a:srgbClr val="FFEAEA"/>
          </a:solidFill>
          <a:ln w="15875">
            <a:solidFill>
              <a:srgbClr val="CC000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76200" rIns="76200" tIns="38100" bIns="38100"/>
          <a:lstStyle/>
          <a:p>
            <a:pPr algn="ctr"/>
            <a:r>
              <a:rPr sz="1000" b="1" i="0" lang="en-US">
                <a:solidFill>
                  <a:srgbClr val="990000"/>
                </a:solidFill>
                <a:latin typeface="Consolas"/>
              </a:rPr>
              <a:t>Bleeding(tier=1)</a:t>
            </a:r>
          </a:p>
        </p:txBody>
      </p:sp>
      <p:sp>
        <p:nvSpPr>
          <p:cNvPr id="63" name="TextBox 62"/>
          <p:cNvSpPr txBox="1"/>
          <p:nvPr/>
        </p:nvSpPr>
        <p:spPr>
          <a:xfrm>
            <a:off x="9048750" y="2743200"/>
            <a:ext cx="2476500" cy="1524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r>
              <a:rPr sz="800" b="1" i="0" lang="en-US">
                <a:solidFill>
                  <a:srgbClr val="6B6B6B"/>
                </a:solidFill>
                <a:latin typeface="Noto Sans"/>
              </a:rPr>
              <a:t>RULE FIRED</a:t>
            </a:r>
          </a:p>
        </p:txBody>
      </p:sp>
      <p:sp>
        <p:nvSpPr>
          <p:cNvPr id="64" name="TextBox 63"/>
          <p:cNvSpPr txBox="1"/>
          <p:nvPr/>
        </p:nvSpPr>
        <p:spPr>
          <a:xfrm>
            <a:off x="9048750" y="2914650"/>
            <a:ext cx="2552700" cy="2286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r>
              <a:rPr sz="1300" b="1" i="0" lang="en-US">
                <a:solidFill>
                  <a:srgbClr val="1A1A1A"/>
                </a:solidFill>
                <a:latin typeface="Consolas"/>
              </a:rPr>
              <a:t>hem_enter</a:t>
            </a:r>
            <a:r>
              <a:rPr sz="950" b="0" i="0" lang="en-US">
                <a:solidFill>
                  <a:srgbClr val="4A4A4A"/>
                </a:solidFill>
                <a:latin typeface="Noto Sans"/>
              </a:rPr>
              <a:t>   salience 50</a:t>
            </a:r>
          </a:p>
        </p:txBody>
      </p:sp>
      <p:sp>
        <p:nvSpPr>
          <p:cNvPr id="65" name="TextBox 64"/>
          <p:cNvSpPr txBox="1"/>
          <p:nvPr/>
        </p:nvSpPr>
        <p:spPr>
          <a:xfrm>
            <a:off x="9048750" y="3219450"/>
            <a:ext cx="2476500" cy="1524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r>
              <a:rPr sz="800" b="1" i="0" lang="en-US">
                <a:solidFill>
                  <a:srgbClr val="6B6B6B"/>
                </a:solidFill>
                <a:latin typeface="Noto Sans"/>
              </a:rPr>
              <a:t>Δ THIS STEP</a:t>
            </a:r>
          </a:p>
        </p:txBody>
      </p:sp>
      <p:sp>
        <p:nvSpPr>
          <p:cNvPr id="66" name="TextBox 65"/>
          <p:cNvSpPr txBox="1"/>
          <p:nvPr/>
        </p:nvSpPr>
        <p:spPr>
          <a:xfrm>
            <a:off x="9048750" y="3390900"/>
            <a:ext cx="2552700" cy="1905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r>
              <a:rPr sz="1100" b="1" i="0" lang="en-US">
                <a:solidFill>
                  <a:srgbClr val="CC0000"/>
                </a:solidFill>
                <a:latin typeface="Consolas"/>
              </a:rPr>
              <a:t>+ </a:t>
            </a:r>
            <a:r>
              <a:rPr sz="1100" b="1" i="0" lang="en-US">
                <a:solidFill>
                  <a:srgbClr val="990000"/>
                </a:solidFill>
                <a:latin typeface="Consolas"/>
              </a:rPr>
              <a:t>Bleeding(tier=1)</a:t>
            </a:r>
            <a:r>
              <a:rPr sz="850" b="0" i="0" lang="en-US">
                <a:solidFill>
                  <a:srgbClr val="6B6B6B"/>
                </a:solidFill>
                <a:latin typeface="Noto Sans"/>
              </a:rPr>
              <a:t>  declare</a:t>
            </a:r>
          </a:p>
        </p:txBody>
      </p:sp>
      <p:sp>
        <p:nvSpPr>
          <p:cNvPr id="67" name="Rounded Rectangle 66"/>
          <p:cNvSpPr/>
          <p:nvPr/>
        </p:nvSpPr>
        <p:spPr>
          <a:xfrm>
            <a:off x="9048750" y="3676650"/>
            <a:ext cx="38100" cy="419100"/>
          </a:xfrm>
          <a:prstGeom prst="roundRect">
            <a:avLst>
              <a:gd name="adj" fmla="val 30000"/>
            </a:avLst>
          </a:prstGeom>
          <a:solidFill>
            <a:srgbClr val="CC000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76200" rIns="76200" tIns="38100" bIns="38100"/>
          <a:lstStyle/>
          <a:p>
            <a:pPr algn="ctr"/>
          </a:p>
        </p:txBody>
      </p:sp>
      <p:sp>
        <p:nvSpPr>
          <p:cNvPr id="68" name="TextBox 67"/>
          <p:cNvSpPr txBox="1"/>
          <p:nvPr/>
        </p:nvSpPr>
        <p:spPr>
          <a:xfrm>
            <a:off x="9163050" y="3676650"/>
            <a:ext cx="2438400" cy="4953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>
              <a:lnSpc>
                <a:spcPct val="110000"/>
              </a:lnSpc>
            </a:pPr>
            <a:r>
              <a:rPr sz="1000" b="1" i="0" lang="en-US">
                <a:solidFill>
                  <a:srgbClr val="1A1A1A"/>
                </a:solidFill>
                <a:latin typeface="Noto Sans"/>
              </a:rPr>
              <a:t>The escalation tier now lives in working memory.</a:t>
            </a:r>
          </a:p>
        </p:txBody>
      </p:sp>
      <p:sp>
        <p:nvSpPr>
          <p:cNvPr id="69" name="TextBox 68"/>
          <p:cNvSpPr txBox="1"/>
          <p:nvPr/>
        </p:nvSpPr>
        <p:spPr>
          <a:xfrm>
            <a:off x="9048750" y="5086350"/>
            <a:ext cx="2476500" cy="1524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r>
              <a:rPr sz="800" b="1" i="0" lang="en-US">
                <a:solidFill>
                  <a:srgbClr val="6B6B6B"/>
                </a:solidFill>
                <a:latin typeface="Noto Sans"/>
              </a:rPr>
              <a:t>ENGINE OUTPUT (VERBATIM)</a:t>
            </a:r>
          </a:p>
        </p:txBody>
      </p:sp>
      <p:sp>
        <p:nvSpPr>
          <p:cNvPr id="70" name="Rounded Rectangle 69"/>
          <p:cNvSpPr/>
          <p:nvPr/>
        </p:nvSpPr>
        <p:spPr>
          <a:xfrm>
            <a:off x="9048750" y="5257800"/>
            <a:ext cx="2552700" cy="800100"/>
          </a:xfrm>
          <a:prstGeom prst="roundRect">
            <a:avLst>
              <a:gd name="adj" fmla="val 6000"/>
            </a:avLst>
          </a:prstGeom>
          <a:solidFill>
            <a:srgbClr val="F5F5F5"/>
          </a:solidFill>
          <a:ln w="15875">
            <a:solidFill>
              <a:srgbClr val="E0E0E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 wrap="square" lIns="114300" rIns="114300" tIns="76200" bIns="76200"/>
          <a:lstStyle/>
          <a:p>
            <a:pPr algn="ctr">
              <a:lnSpc>
                <a:spcPct val="115000"/>
              </a:lnSpc>
            </a:pPr>
            <a:r>
              <a:rPr sz="850" b="0" i="0" lang="en-US">
                <a:solidFill>
                  <a:srgbClr val="4A4A4A"/>
                </a:solidFill>
                <a:latin typeface="Consolas"/>
              </a:rPr>
              <a:t>&gt;&gt; entering hemorrhage escalation</a:t>
            </a:r>
          </a:p>
          <a:p>
            <a:pPr>
              <a:lnSpc>
                <a:spcPct val="115000"/>
              </a:lnSpc>
            </a:pPr>
            <a:r>
              <a:rPr sz="850" b="0" i="0" lang="en-US">
                <a:solidFill>
                  <a:srgbClr val="4A4A4A"/>
                </a:solidFill>
                <a:latin typeface="Consolas"/>
              </a:rPr>
              <a:t>(semantic tier loop) &lt;&lt;</a:t>
            </a:r>
          </a:p>
          <a:p>
            <a:pPr>
              <a:lnSpc>
                <a:spcPct val="115000"/>
              </a:lnSpc>
            </a:pPr>
            <a:r>
              <a:rPr sz="850" b="0" i="0" lang="en-US">
                <a:solidFill>
                  <a:srgbClr val="4A4A4A"/>
                </a:solidFill>
                <a:latin typeface="Consolas"/>
              </a:rPr>
              <a:t>&gt;&gt; ESCALATION TIER 1: Control of</a:t>
            </a:r>
          </a:p>
          <a:p>
            <a:pPr>
              <a:lnSpc>
                <a:spcPct val="115000"/>
              </a:lnSpc>
            </a:pPr>
            <a:r>
              <a:rPr sz="850" b="0" i="0" lang="en-US">
                <a:solidFill>
                  <a:srgbClr val="4A4A4A"/>
                </a:solidFill>
                <a:latin typeface="Consolas"/>
              </a:rPr>
              <a:t>external bleeding…</a:t>
            </a:r>
          </a:p>
        </p:txBody>
      </p:sp>
      <p:sp>
        <p:nvSpPr>
          <p:cNvPr id="71" name="TextBox 70"/>
          <p:cNvSpPr txBox="1"/>
          <p:nvPr/>
        </p:nvSpPr>
        <p:spPr>
          <a:xfrm>
            <a:off x="9048750" y="6096000"/>
            <a:ext cx="2552700" cy="2286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r>
              <a:rPr sz="750" b="0" i="0" lang="en-US">
                <a:solidFill>
                  <a:srgbClr val="6B6B6B"/>
                </a:solidFill>
                <a:latin typeface="Noto Sans"/>
              </a:rPr>
              <a:t>real session · presentation/traces/walkthrough_yes_branch_en.txt</a:t>
            </a:r>
          </a:p>
        </p:txBody>
      </p:sp>
      <p:sp>
        <p:nvSpPr>
          <p:cNvPr id="72" name="Rounded Rectangle 71"/>
          <p:cNvSpPr/>
          <p:nvPr/>
        </p:nvSpPr>
        <p:spPr>
          <a:xfrm>
            <a:off x="419100" y="6496050"/>
            <a:ext cx="4953000" cy="247650"/>
          </a:xfrm>
          <a:prstGeom prst="roundRect">
            <a:avLst>
              <a:gd name="adj" fmla="val 50000"/>
            </a:avLst>
          </a:prstGeom>
          <a:solidFill>
            <a:srgbClr val="F5F5F5"/>
          </a:solidFill>
          <a:ln w="15875">
            <a:solidFill>
              <a:srgbClr val="E0E0E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76200" rIns="76200" tIns="38100" bIns="38100"/>
          <a:lstStyle/>
          <a:p>
            <a:pPr algn="ctr"/>
            <a:r>
              <a:rPr sz="900" b="0" i="0" lang="en-US">
                <a:solidFill>
                  <a:srgbClr val="4A4A4A"/>
                </a:solidFill>
                <a:latin typeface="Noto Sans"/>
              </a:rPr>
              <a:t>SARC charts #1 + #10 · data/general_assessment.json · data/hemorrhage.json</a:t>
            </a:r>
          </a:p>
        </p:txBody>
      </p:sp>
      <p:sp>
        <p:nvSpPr>
          <p:cNvPr id="73" name="Oval 72"/>
          <p:cNvSpPr/>
          <p:nvPr/>
        </p:nvSpPr>
        <p:spPr>
          <a:xfrm>
            <a:off x="10001250" y="6572250"/>
            <a:ext cx="76200" cy="76200"/>
          </a:xfrm>
          <a:prstGeom prst="ellipse">
            <a:avLst/>
          </a:prstGeom>
          <a:solidFill>
            <a:srgbClr val="4A4A4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76200" rIns="76200" tIns="38100" bIns="38100"/>
          <a:lstStyle/>
          <a:p>
            <a:pPr algn="ctr"/>
          </a:p>
        </p:txBody>
      </p:sp>
      <p:sp>
        <p:nvSpPr>
          <p:cNvPr id="74" name="Oval 73"/>
          <p:cNvSpPr/>
          <p:nvPr/>
        </p:nvSpPr>
        <p:spPr>
          <a:xfrm>
            <a:off x="10163175" y="6572250"/>
            <a:ext cx="76200" cy="76200"/>
          </a:xfrm>
          <a:prstGeom prst="ellipse">
            <a:avLst/>
          </a:prstGeom>
          <a:solidFill>
            <a:srgbClr val="4A4A4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76200" rIns="76200" tIns="38100" bIns="38100"/>
          <a:lstStyle/>
          <a:p>
            <a:pPr algn="ctr"/>
          </a:p>
        </p:txBody>
      </p:sp>
      <p:sp>
        <p:nvSpPr>
          <p:cNvPr id="75" name="Oval 74"/>
          <p:cNvSpPr/>
          <p:nvPr/>
        </p:nvSpPr>
        <p:spPr>
          <a:xfrm>
            <a:off x="10325100" y="6572250"/>
            <a:ext cx="76200" cy="76200"/>
          </a:xfrm>
          <a:prstGeom prst="ellipse">
            <a:avLst/>
          </a:prstGeom>
          <a:solidFill>
            <a:srgbClr val="4A4A4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76200" rIns="76200" tIns="38100" bIns="38100"/>
          <a:lstStyle/>
          <a:p>
            <a:pPr algn="ctr"/>
          </a:p>
        </p:txBody>
      </p:sp>
      <p:sp>
        <p:nvSpPr>
          <p:cNvPr id="76" name="Oval 75"/>
          <p:cNvSpPr/>
          <p:nvPr/>
        </p:nvSpPr>
        <p:spPr>
          <a:xfrm>
            <a:off x="10487025" y="6572250"/>
            <a:ext cx="76200" cy="76200"/>
          </a:xfrm>
          <a:prstGeom prst="ellipse">
            <a:avLst/>
          </a:prstGeom>
          <a:solidFill>
            <a:srgbClr val="4A4A4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76200" rIns="76200" tIns="38100" bIns="38100"/>
          <a:lstStyle/>
          <a:p>
            <a:pPr algn="ctr"/>
          </a:p>
        </p:txBody>
      </p:sp>
      <p:sp>
        <p:nvSpPr>
          <p:cNvPr id="77" name="Oval 76"/>
          <p:cNvSpPr/>
          <p:nvPr/>
        </p:nvSpPr>
        <p:spPr>
          <a:xfrm>
            <a:off x="10648950" y="6572250"/>
            <a:ext cx="76200" cy="76200"/>
          </a:xfrm>
          <a:prstGeom prst="ellipse">
            <a:avLst/>
          </a:prstGeom>
          <a:solidFill>
            <a:srgbClr val="4A4A4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76200" rIns="76200" tIns="38100" bIns="38100"/>
          <a:lstStyle/>
          <a:p>
            <a:pPr algn="ctr"/>
          </a:p>
        </p:txBody>
      </p:sp>
      <p:sp>
        <p:nvSpPr>
          <p:cNvPr id="78" name="Oval 77"/>
          <p:cNvSpPr/>
          <p:nvPr/>
        </p:nvSpPr>
        <p:spPr>
          <a:xfrm>
            <a:off x="10810875" y="6572250"/>
            <a:ext cx="95250" cy="95250"/>
          </a:xfrm>
          <a:prstGeom prst="ellipse">
            <a:avLst/>
          </a:prstGeom>
          <a:solidFill>
            <a:srgbClr val="CC000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76200" rIns="76200" tIns="38100" bIns="38100"/>
          <a:lstStyle/>
          <a:p>
            <a:pPr algn="ctr"/>
          </a:p>
        </p:txBody>
      </p:sp>
      <p:sp>
        <p:nvSpPr>
          <p:cNvPr id="79" name="Oval 78"/>
          <p:cNvSpPr/>
          <p:nvPr/>
        </p:nvSpPr>
        <p:spPr>
          <a:xfrm>
            <a:off x="10972800" y="6572250"/>
            <a:ext cx="76200" cy="76200"/>
          </a:xfrm>
          <a:prstGeom prst="ellipse">
            <a:avLst/>
          </a:prstGeom>
          <a:solidFill>
            <a:srgbClr val="E0E0E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76200" rIns="76200" tIns="38100" bIns="38100"/>
          <a:lstStyle/>
          <a:p>
            <a:pPr algn="ctr"/>
          </a:p>
        </p:txBody>
      </p:sp>
      <p:sp>
        <p:nvSpPr>
          <p:cNvPr id="80" name="Oval 79"/>
          <p:cNvSpPr/>
          <p:nvPr/>
        </p:nvSpPr>
        <p:spPr>
          <a:xfrm>
            <a:off x="11134725" y="6572250"/>
            <a:ext cx="76200" cy="76200"/>
          </a:xfrm>
          <a:prstGeom prst="ellipse">
            <a:avLst/>
          </a:prstGeom>
          <a:solidFill>
            <a:srgbClr val="E0E0E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76200" rIns="76200" tIns="38100" bIns="38100"/>
          <a:lstStyle/>
          <a:p>
            <a:pPr algn="ctr"/>
          </a:p>
        </p:txBody>
      </p:sp>
      <p:sp>
        <p:nvSpPr>
          <p:cNvPr id="81" name="Oval 80"/>
          <p:cNvSpPr/>
          <p:nvPr/>
        </p:nvSpPr>
        <p:spPr>
          <a:xfrm>
            <a:off x="11296650" y="6572250"/>
            <a:ext cx="76200" cy="76200"/>
          </a:xfrm>
          <a:prstGeom prst="ellipse">
            <a:avLst/>
          </a:prstGeom>
          <a:solidFill>
            <a:srgbClr val="E0E0E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76200" rIns="76200" tIns="38100" bIns="38100"/>
          <a:lstStyle/>
          <a:p>
            <a:pPr algn="ctr"/>
          </a:p>
        </p:txBody>
      </p:sp>
      <p:sp>
        <p:nvSpPr>
          <p:cNvPr id="82" name="Oval 81"/>
          <p:cNvSpPr/>
          <p:nvPr/>
        </p:nvSpPr>
        <p:spPr>
          <a:xfrm>
            <a:off x="11458575" y="6572250"/>
            <a:ext cx="76200" cy="76200"/>
          </a:xfrm>
          <a:prstGeom prst="ellipse">
            <a:avLst/>
          </a:prstGeom>
          <a:solidFill>
            <a:srgbClr val="E0E0E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76200" rIns="76200" tIns="38100" bIns="38100"/>
          <a:lstStyle/>
          <a:p>
            <a:pPr algn="ctr"/>
          </a:p>
        </p:txBody>
      </p:sp>
      <p:sp>
        <p:nvSpPr>
          <p:cNvPr id="83" name="TextBox 82"/>
          <p:cNvSpPr txBox="1"/>
          <p:nvPr/>
        </p:nvSpPr>
        <p:spPr>
          <a:xfrm>
            <a:off x="11239500" y="6610350"/>
            <a:ext cx="762000" cy="1905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r>
              <a:rPr sz="900" b="0" i="0" lang="en-US">
                <a:solidFill>
                  <a:srgbClr val="6B6B6B"/>
                </a:solidFill>
                <a:latin typeface="Noto Sans"/>
              </a:rPr>
              <a:t>18 / 28</a:t>
            </a:r>
          </a:p>
        </p:txBody>
      </p:sp>
    </p:spTree>
  </p:cSld>
  <p:clrMapOvr>
    <a:masterClrMapping/>
  </p:clrMapOvr>
</p:sld>
</file>

<file path=ppt/slides/slide1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19100" y="285750"/>
            <a:ext cx="8572500" cy="1905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r>
              <a:rPr sz="1050" b="1" i="0" lang="en-US">
                <a:solidFill>
                  <a:srgbClr val="CC0000"/>
                </a:solidFill>
                <a:latin typeface="Noto Sans"/>
              </a:rPr>
              <a:t>FLOW WALKTHROUGH · STEP 7 OF 10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19100" y="495300"/>
            <a:ext cx="9525000" cy="43815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r>
              <a:rPr sz="2100" b="1" i="0" lang="en-US">
                <a:solidFill>
                  <a:srgbClr val="1A1A1A"/>
                </a:solidFill>
                <a:latin typeface="Noto Sans"/>
              </a:rPr>
              <a:t>Escalation: the fact remembers.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10763250" y="323850"/>
            <a:ext cx="1009650" cy="285750"/>
          </a:xfrm>
          <a:prstGeom prst="roundRect">
            <a:avLst>
              <a:gd name="adj" fmla="val 28000"/>
            </a:avLst>
          </a:prstGeom>
          <a:solidFill>
            <a:srgbClr val="CC000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76200" rIns="76200" tIns="38100" bIns="38100"/>
          <a:lstStyle/>
          <a:p>
            <a:pPr algn="ctr"/>
            <a:r>
              <a:rPr sz="1250" b="1" i="0" lang="en-US">
                <a:solidFill>
                  <a:srgbClr val="FFFFFF"/>
                </a:solidFill>
                <a:latin typeface="Noto Sans"/>
              </a:rPr>
              <a:t>ResQRules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14350" y="1123950"/>
            <a:ext cx="3810000" cy="1524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r>
              <a:rPr sz="850" b="1" i="0" lang="en-US">
                <a:solidFill>
                  <a:srgbClr val="6B6B6B"/>
                </a:solidFill>
                <a:latin typeface="Noto Sans"/>
              </a:rPr>
              <a:t>GENERAL ASSESSMENT — CHART #1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14350" y="2114550"/>
            <a:ext cx="4191000" cy="1524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r>
              <a:rPr sz="850" b="1" i="0" lang="en-US">
                <a:solidFill>
                  <a:srgbClr val="6B6B6B"/>
                </a:solidFill>
                <a:latin typeface="Noto Sans"/>
              </a:rPr>
              <a:t>CATASTROPHIC HEMORRHAGE — CHART #10</a:t>
            </a:r>
          </a:p>
        </p:txBody>
      </p:sp>
      <p:cxnSp>
        <p:nvCxnSpPr>
          <p:cNvPr id="7" name="Connector 6"/>
          <p:cNvCxnSpPr/>
          <p:nvPr/>
        </p:nvCxnSpPr>
        <p:spPr>
          <a:xfrm>
            <a:off x="1733550" y="1571625"/>
            <a:ext cx="171450" cy="0"/>
          </a:xfrm>
          <a:prstGeom prst="line">
            <a:avLst/>
          </a:prstGeom>
          <a:ln w="25400">
            <a:solidFill>
              <a:srgbClr val="4A4A4A"/>
            </a:solidFill>
            <a:tailEnd type="triangle" w="med" len="med"/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8" name="Connector 7"/>
          <p:cNvCxnSpPr/>
          <p:nvPr/>
        </p:nvCxnSpPr>
        <p:spPr>
          <a:xfrm>
            <a:off x="3162300" y="1571625"/>
            <a:ext cx="171450" cy="0"/>
          </a:xfrm>
          <a:prstGeom prst="line">
            <a:avLst/>
          </a:prstGeom>
          <a:ln w="25400">
            <a:solidFill>
              <a:srgbClr val="4A4A4A"/>
            </a:solidFill>
            <a:tailEnd type="triangle" w="med" len="med"/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9" name="Connector 8"/>
          <p:cNvCxnSpPr/>
          <p:nvPr/>
        </p:nvCxnSpPr>
        <p:spPr>
          <a:xfrm>
            <a:off x="4591050" y="1571625"/>
            <a:ext cx="133350" cy="0"/>
          </a:xfrm>
          <a:prstGeom prst="line">
            <a:avLst/>
          </a:prstGeom>
          <a:ln w="25400">
            <a:solidFill>
              <a:srgbClr val="4A4A4A"/>
            </a:solidFill>
            <a:tailEnd type="triangle" w="med" len="med"/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0" name="Connector 9"/>
          <p:cNvCxnSpPr/>
          <p:nvPr/>
        </p:nvCxnSpPr>
        <p:spPr>
          <a:xfrm>
            <a:off x="6667500" y="1571625"/>
            <a:ext cx="104775" cy="0"/>
          </a:xfrm>
          <a:prstGeom prst="line">
            <a:avLst/>
          </a:prstGeom>
          <a:ln w="25400">
            <a:solidFill>
              <a:srgbClr val="4A4A4A"/>
            </a:solidFill>
            <a:tailEnd type="triangle" w="med" len="med"/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1" name="Connector 10"/>
          <p:cNvCxnSpPr/>
          <p:nvPr/>
        </p:nvCxnSpPr>
        <p:spPr>
          <a:xfrm>
            <a:off x="7524750" y="1866900"/>
            <a:ext cx="0" cy="95250"/>
          </a:xfrm>
          <a:prstGeom prst="line">
            <a:avLst/>
          </a:prstGeom>
          <a:ln w="25400">
            <a:solidFill>
              <a:srgbClr val="4A4A4A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2" name="Connector 11"/>
          <p:cNvCxnSpPr/>
          <p:nvPr/>
        </p:nvCxnSpPr>
        <p:spPr>
          <a:xfrm flipH="1">
            <a:off x="2276475" y="1962150"/>
            <a:ext cx="5248275" cy="0"/>
          </a:xfrm>
          <a:prstGeom prst="line">
            <a:avLst/>
          </a:prstGeom>
          <a:ln w="25400">
            <a:solidFill>
              <a:srgbClr val="4A4A4A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3" name="Connector 12"/>
          <p:cNvCxnSpPr/>
          <p:nvPr/>
        </p:nvCxnSpPr>
        <p:spPr>
          <a:xfrm>
            <a:off x="2276475" y="1962150"/>
            <a:ext cx="0" cy="342900"/>
          </a:xfrm>
          <a:prstGeom prst="line">
            <a:avLst/>
          </a:prstGeom>
          <a:ln w="25400">
            <a:solidFill>
              <a:srgbClr val="4A4A4A"/>
            </a:solidFill>
            <a:tailEnd type="triangle" w="med" len="med"/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4" name="Connector 13"/>
          <p:cNvCxnSpPr/>
          <p:nvPr/>
        </p:nvCxnSpPr>
        <p:spPr>
          <a:xfrm>
            <a:off x="3676650" y="2667000"/>
            <a:ext cx="323850" cy="0"/>
          </a:xfrm>
          <a:prstGeom prst="line">
            <a:avLst/>
          </a:prstGeom>
          <a:ln w="25400">
            <a:solidFill>
              <a:srgbClr val="4A4A4A"/>
            </a:solidFill>
            <a:tailEnd type="triangle" w="med" len="med"/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5" name="Connector 14"/>
          <p:cNvCxnSpPr/>
          <p:nvPr/>
        </p:nvCxnSpPr>
        <p:spPr>
          <a:xfrm>
            <a:off x="4953000" y="2990850"/>
            <a:ext cx="0" cy="276225"/>
          </a:xfrm>
          <a:prstGeom prst="line">
            <a:avLst/>
          </a:prstGeom>
          <a:ln w="31750">
            <a:solidFill>
              <a:srgbClr val="CC0000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6" name="Connector 15"/>
          <p:cNvCxnSpPr/>
          <p:nvPr/>
        </p:nvCxnSpPr>
        <p:spPr>
          <a:xfrm flipH="1">
            <a:off x="2276475" y="3267075"/>
            <a:ext cx="2676525" cy="0"/>
          </a:xfrm>
          <a:prstGeom prst="line">
            <a:avLst/>
          </a:prstGeom>
          <a:ln w="31750">
            <a:solidFill>
              <a:srgbClr val="CC0000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7" name="Connector 16"/>
          <p:cNvCxnSpPr/>
          <p:nvPr/>
        </p:nvCxnSpPr>
        <p:spPr>
          <a:xfrm>
            <a:off x="2276475" y="3267075"/>
            <a:ext cx="0" cy="180975"/>
          </a:xfrm>
          <a:prstGeom prst="line">
            <a:avLst/>
          </a:prstGeom>
          <a:ln w="31750">
            <a:solidFill>
              <a:srgbClr val="CC0000"/>
            </a:solidFill>
            <a:tailEnd type="triangle" w="med" len="med"/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8" name="Connector 17"/>
          <p:cNvCxnSpPr/>
          <p:nvPr/>
        </p:nvCxnSpPr>
        <p:spPr>
          <a:xfrm>
            <a:off x="5905500" y="2667000"/>
            <a:ext cx="285750" cy="0"/>
          </a:xfrm>
          <a:prstGeom prst="line">
            <a:avLst/>
          </a:prstGeom>
          <a:ln w="19050">
            <a:solidFill>
              <a:srgbClr val="C7C7C7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9" name="Connector 18"/>
          <p:cNvCxnSpPr/>
          <p:nvPr/>
        </p:nvCxnSpPr>
        <p:spPr>
          <a:xfrm>
            <a:off x="6191250" y="2667000"/>
            <a:ext cx="0" cy="419100"/>
          </a:xfrm>
          <a:prstGeom prst="line">
            <a:avLst/>
          </a:prstGeom>
          <a:ln w="19050">
            <a:solidFill>
              <a:srgbClr val="C7C7C7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0" name="Connector 19"/>
          <p:cNvCxnSpPr/>
          <p:nvPr/>
        </p:nvCxnSpPr>
        <p:spPr>
          <a:xfrm>
            <a:off x="6191250" y="3086100"/>
            <a:ext cx="190500" cy="0"/>
          </a:xfrm>
          <a:prstGeom prst="line">
            <a:avLst/>
          </a:prstGeom>
          <a:ln w="19050">
            <a:solidFill>
              <a:srgbClr val="C7C7C7"/>
            </a:solidFill>
            <a:tailEnd type="triangle" w="med" len="med"/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1" name="Connector 20"/>
          <p:cNvCxnSpPr/>
          <p:nvPr/>
        </p:nvCxnSpPr>
        <p:spPr>
          <a:xfrm>
            <a:off x="3676650" y="3810000"/>
            <a:ext cx="323850" cy="0"/>
          </a:xfrm>
          <a:prstGeom prst="line">
            <a:avLst/>
          </a:prstGeom>
          <a:ln w="19050">
            <a:solidFill>
              <a:srgbClr val="C7C7C7"/>
            </a:solidFill>
            <a:tailEnd type="triangle" w="med" len="med"/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2" name="Connector 21"/>
          <p:cNvCxnSpPr/>
          <p:nvPr/>
        </p:nvCxnSpPr>
        <p:spPr>
          <a:xfrm>
            <a:off x="4953000" y="4133850"/>
            <a:ext cx="0" cy="276225"/>
          </a:xfrm>
          <a:prstGeom prst="line">
            <a:avLst/>
          </a:prstGeom>
          <a:ln w="19050">
            <a:solidFill>
              <a:srgbClr val="C7C7C7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3" name="Connector 22"/>
          <p:cNvCxnSpPr/>
          <p:nvPr/>
        </p:nvCxnSpPr>
        <p:spPr>
          <a:xfrm flipH="1">
            <a:off x="2276475" y="4410075"/>
            <a:ext cx="2676525" cy="0"/>
          </a:xfrm>
          <a:prstGeom prst="line">
            <a:avLst/>
          </a:prstGeom>
          <a:ln w="19050">
            <a:solidFill>
              <a:srgbClr val="C7C7C7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4" name="Connector 23"/>
          <p:cNvCxnSpPr/>
          <p:nvPr/>
        </p:nvCxnSpPr>
        <p:spPr>
          <a:xfrm>
            <a:off x="2276475" y="4410075"/>
            <a:ext cx="0" cy="180975"/>
          </a:xfrm>
          <a:prstGeom prst="line">
            <a:avLst/>
          </a:prstGeom>
          <a:ln w="19050">
            <a:solidFill>
              <a:srgbClr val="C7C7C7"/>
            </a:solidFill>
            <a:tailEnd type="triangle" w="med" len="med"/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5" name="Connector 24"/>
          <p:cNvCxnSpPr/>
          <p:nvPr/>
        </p:nvCxnSpPr>
        <p:spPr>
          <a:xfrm>
            <a:off x="5905500" y="3810000"/>
            <a:ext cx="285750" cy="0"/>
          </a:xfrm>
          <a:prstGeom prst="line">
            <a:avLst/>
          </a:prstGeom>
          <a:ln w="19050">
            <a:solidFill>
              <a:srgbClr val="C7C7C7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6" name="Connector 25"/>
          <p:cNvCxnSpPr/>
          <p:nvPr/>
        </p:nvCxnSpPr>
        <p:spPr>
          <a:xfrm flipV="1">
            <a:off x="6191250" y="3371850"/>
            <a:ext cx="0" cy="438150"/>
          </a:xfrm>
          <a:prstGeom prst="line">
            <a:avLst/>
          </a:prstGeom>
          <a:ln w="19050">
            <a:solidFill>
              <a:srgbClr val="C7C7C7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7" name="Connector 26"/>
          <p:cNvCxnSpPr/>
          <p:nvPr/>
        </p:nvCxnSpPr>
        <p:spPr>
          <a:xfrm>
            <a:off x="6191250" y="3371850"/>
            <a:ext cx="190500" cy="0"/>
          </a:xfrm>
          <a:prstGeom prst="line">
            <a:avLst/>
          </a:prstGeom>
          <a:ln w="19050">
            <a:solidFill>
              <a:srgbClr val="C7C7C7"/>
            </a:solidFill>
            <a:tailEnd type="triangle" w="med" len="med"/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8" name="Connector 27"/>
          <p:cNvCxnSpPr/>
          <p:nvPr/>
        </p:nvCxnSpPr>
        <p:spPr>
          <a:xfrm>
            <a:off x="3676650" y="4953000"/>
            <a:ext cx="323850" cy="0"/>
          </a:xfrm>
          <a:prstGeom prst="line">
            <a:avLst/>
          </a:prstGeom>
          <a:ln w="19050">
            <a:solidFill>
              <a:srgbClr val="C7C7C7"/>
            </a:solidFill>
            <a:tailEnd type="triangle" w="med" len="med"/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9" name="Connector 28"/>
          <p:cNvCxnSpPr/>
          <p:nvPr/>
        </p:nvCxnSpPr>
        <p:spPr>
          <a:xfrm>
            <a:off x="5905500" y="4953000"/>
            <a:ext cx="457200" cy="0"/>
          </a:xfrm>
          <a:prstGeom prst="line">
            <a:avLst/>
          </a:prstGeom>
          <a:ln w="19050">
            <a:solidFill>
              <a:srgbClr val="C7C7C7"/>
            </a:solidFill>
            <a:tailEnd type="triangle" w="med" len="med"/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0" name="Connector 29"/>
          <p:cNvCxnSpPr/>
          <p:nvPr/>
        </p:nvCxnSpPr>
        <p:spPr>
          <a:xfrm>
            <a:off x="4953000" y="5276850"/>
            <a:ext cx="0" cy="276225"/>
          </a:xfrm>
          <a:prstGeom prst="line">
            <a:avLst/>
          </a:prstGeom>
          <a:ln w="19050">
            <a:solidFill>
              <a:srgbClr val="C7C7C7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1" name="Connector 30"/>
          <p:cNvCxnSpPr/>
          <p:nvPr/>
        </p:nvCxnSpPr>
        <p:spPr>
          <a:xfrm>
            <a:off x="4953000" y="5553075"/>
            <a:ext cx="2228850" cy="0"/>
          </a:xfrm>
          <a:prstGeom prst="line">
            <a:avLst/>
          </a:prstGeom>
          <a:ln w="19050">
            <a:solidFill>
              <a:srgbClr val="C7C7C7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2" name="Connector 31"/>
          <p:cNvCxnSpPr/>
          <p:nvPr/>
        </p:nvCxnSpPr>
        <p:spPr>
          <a:xfrm flipV="1">
            <a:off x="7181850" y="5200650"/>
            <a:ext cx="0" cy="352425"/>
          </a:xfrm>
          <a:prstGeom prst="line">
            <a:avLst/>
          </a:prstGeom>
          <a:ln w="19050">
            <a:solidFill>
              <a:srgbClr val="C7C7C7"/>
            </a:solidFill>
            <a:tailEnd type="triangle" w="med" len="med"/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33" name="Rounded Rectangle 32"/>
          <p:cNvSpPr/>
          <p:nvPr/>
        </p:nvSpPr>
        <p:spPr>
          <a:xfrm>
            <a:off x="514350" y="1371600"/>
            <a:ext cx="1219200" cy="419100"/>
          </a:xfrm>
          <a:prstGeom prst="roundRect">
            <a:avLst>
              <a:gd name="adj" fmla="val 14000"/>
            </a:avLst>
          </a:prstGeom>
          <a:solidFill>
            <a:srgbClr val="FFFFFF"/>
          </a:solidFill>
          <a:ln w="25400">
            <a:solidFill>
              <a:srgbClr val="4A4A4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76200" rIns="76200" tIns="38100" bIns="38100"/>
          <a:lstStyle/>
          <a:p>
            <a:pPr algn="ctr"/>
            <a:r>
              <a:rPr sz="1100" b="1" i="0" lang="en-US">
                <a:solidFill>
                  <a:srgbClr val="1A1A1A"/>
                </a:solidFill>
                <a:latin typeface="Noto Sans"/>
              </a:rPr>
              <a:t>Safety</a:t>
            </a:r>
          </a:p>
          <a:p>
            <a:pPr algn="ctr"/>
            <a:r>
              <a:rPr sz="750" b="0" i="0" lang="en-US">
                <a:solidFill>
                  <a:srgbClr val="6B6B6B"/>
                </a:solidFill>
                <a:latin typeface="Noto Sans"/>
              </a:rPr>
              <a:t>gen_01</a:t>
            </a:r>
          </a:p>
        </p:txBody>
      </p:sp>
      <p:sp>
        <p:nvSpPr>
          <p:cNvPr id="34" name="Rounded Rectangle 33"/>
          <p:cNvSpPr/>
          <p:nvPr/>
        </p:nvSpPr>
        <p:spPr>
          <a:xfrm>
            <a:off x="1905000" y="1371600"/>
            <a:ext cx="1257300" cy="419100"/>
          </a:xfrm>
          <a:prstGeom prst="roundRect">
            <a:avLst>
              <a:gd name="adj" fmla="val 14000"/>
            </a:avLst>
          </a:prstGeom>
          <a:solidFill>
            <a:srgbClr val="FFFFFF"/>
          </a:solidFill>
          <a:ln w="25400">
            <a:solidFill>
              <a:srgbClr val="4A4A4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76200" rIns="76200" tIns="38100" bIns="38100"/>
          <a:lstStyle/>
          <a:p>
            <a:pPr algn="ctr"/>
            <a:r>
              <a:rPr sz="1100" b="1" i="0" lang="en-US">
                <a:solidFill>
                  <a:srgbClr val="1A1A1A"/>
                </a:solidFill>
                <a:latin typeface="Noto Sans"/>
              </a:rPr>
              <a:t>Scene</a:t>
            </a:r>
          </a:p>
          <a:p>
            <a:pPr algn="ctr"/>
            <a:r>
              <a:rPr sz="750" b="0" i="0" lang="en-US">
                <a:solidFill>
                  <a:srgbClr val="6B6B6B"/>
                </a:solidFill>
                <a:latin typeface="Noto Sans"/>
              </a:rPr>
              <a:t>gen_02</a:t>
            </a:r>
          </a:p>
        </p:txBody>
      </p:sp>
      <p:sp>
        <p:nvSpPr>
          <p:cNvPr id="35" name="Rounded Rectangle 34"/>
          <p:cNvSpPr/>
          <p:nvPr/>
        </p:nvSpPr>
        <p:spPr>
          <a:xfrm>
            <a:off x="3333750" y="1371600"/>
            <a:ext cx="1257300" cy="419100"/>
          </a:xfrm>
          <a:prstGeom prst="roundRect">
            <a:avLst>
              <a:gd name="adj" fmla="val 14000"/>
            </a:avLst>
          </a:prstGeom>
          <a:solidFill>
            <a:srgbClr val="FFFFFF"/>
          </a:solidFill>
          <a:ln w="25400">
            <a:solidFill>
              <a:srgbClr val="4A4A4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76200" rIns="76200" tIns="38100" bIns="38100"/>
          <a:lstStyle/>
          <a:p>
            <a:pPr algn="ctr"/>
            <a:r>
              <a:rPr sz="1100" b="1" i="0" lang="en-US">
                <a:solidFill>
                  <a:srgbClr val="1A1A1A"/>
                </a:solidFill>
                <a:latin typeface="Noto Sans"/>
              </a:rPr>
              <a:t>Situation</a:t>
            </a:r>
          </a:p>
          <a:p>
            <a:pPr algn="ctr"/>
            <a:r>
              <a:rPr sz="750" b="0" i="0" lang="en-US">
                <a:solidFill>
                  <a:srgbClr val="6B6B6B"/>
                </a:solidFill>
                <a:latin typeface="Noto Sans"/>
              </a:rPr>
              <a:t>gen_03</a:t>
            </a:r>
          </a:p>
        </p:txBody>
      </p:sp>
      <p:sp>
        <p:nvSpPr>
          <p:cNvPr id="36" name="Rounded Rectangle 35"/>
          <p:cNvSpPr/>
          <p:nvPr/>
        </p:nvSpPr>
        <p:spPr>
          <a:xfrm>
            <a:off x="4762500" y="1314450"/>
            <a:ext cx="1866900" cy="533400"/>
          </a:xfrm>
          <a:prstGeom prst="roundRect">
            <a:avLst>
              <a:gd name="adj" fmla="val 14000"/>
            </a:avLst>
          </a:prstGeom>
          <a:solidFill>
            <a:srgbClr val="FFFFFF"/>
          </a:solidFill>
          <a:ln w="25400">
            <a:solidFill>
              <a:srgbClr val="4A4A4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76200" rIns="76200" tIns="38100" bIns="38100"/>
          <a:lstStyle/>
          <a:p>
            <a:pPr algn="ctr"/>
            <a:r>
              <a:rPr sz="1100" b="1" i="0" lang="en-US">
                <a:solidFill>
                  <a:srgbClr val="1A1A1A"/>
                </a:solidFill>
                <a:latin typeface="Noto Sans"/>
              </a:rPr>
              <a:t>◇ Life-threatening bleeding?</a:t>
            </a:r>
          </a:p>
          <a:p>
            <a:pPr algn="ctr"/>
            <a:r>
              <a:rPr sz="750" b="0" i="0" lang="en-US">
                <a:solidFill>
                  <a:srgbClr val="6B6B6B"/>
                </a:solidFill>
                <a:latin typeface="Noto Sans"/>
              </a:rPr>
              <a:t>gen_04</a:t>
            </a:r>
          </a:p>
        </p:txBody>
      </p:sp>
      <p:sp>
        <p:nvSpPr>
          <p:cNvPr id="37" name="Rounded Rectangle 36"/>
          <p:cNvSpPr/>
          <p:nvPr/>
        </p:nvSpPr>
        <p:spPr>
          <a:xfrm>
            <a:off x="6819900" y="1352550"/>
            <a:ext cx="1409700" cy="495300"/>
          </a:xfrm>
          <a:prstGeom prst="roundRect">
            <a:avLst>
              <a:gd name="adj" fmla="val 14000"/>
            </a:avLst>
          </a:prstGeom>
          <a:solidFill>
            <a:srgbClr val="FFFFFF"/>
          </a:solidFill>
          <a:ln w="25400">
            <a:solidFill>
              <a:srgbClr val="4A4A4A"/>
            </a:solidFill>
            <a:prstDash val="dash"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76200" rIns="76200" tIns="38100" bIns="38100"/>
          <a:lstStyle/>
          <a:p>
            <a:pPr algn="ctr"/>
            <a:r>
              <a:rPr sz="1100" b="1" i="0" lang="en-US">
                <a:solidFill>
                  <a:srgbClr val="1A1A1A"/>
                </a:solidFill>
                <a:latin typeface="Noto Sans"/>
              </a:rPr>
              <a:t>⇢ Hemorrhage</a:t>
            </a:r>
          </a:p>
          <a:p>
            <a:pPr algn="ctr"/>
            <a:r>
              <a:rPr sz="750" b="0" i="0" lang="en-US">
                <a:solidFill>
                  <a:srgbClr val="6B6B6B"/>
                </a:solidFill>
                <a:latin typeface="Noto Sans"/>
              </a:rPr>
              <a:t>gen_05 · jump</a:t>
            </a:r>
          </a:p>
        </p:txBody>
      </p:sp>
      <p:sp>
        <p:nvSpPr>
          <p:cNvPr id="38" name="Rounded Rectangle 37"/>
          <p:cNvSpPr/>
          <p:nvPr/>
        </p:nvSpPr>
        <p:spPr>
          <a:xfrm>
            <a:off x="895350" y="2362200"/>
            <a:ext cx="2781300" cy="609600"/>
          </a:xfrm>
          <a:prstGeom prst="roundRect">
            <a:avLst>
              <a:gd name="adj" fmla="val 14000"/>
            </a:avLst>
          </a:prstGeom>
          <a:solidFill>
            <a:srgbClr val="FFFFFF"/>
          </a:solidFill>
          <a:ln w="25400">
            <a:solidFill>
              <a:srgbClr val="4A4A4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76200" rIns="76200" tIns="38100" bIns="38100"/>
          <a:lstStyle/>
          <a:p>
            <a:pPr algn="ctr"/>
            <a:r>
              <a:rPr sz="1100" b="1" i="0" lang="en-US">
                <a:solidFill>
                  <a:srgbClr val="1A1A1A"/>
                </a:solidFill>
                <a:latin typeface="Noto Sans"/>
              </a:rPr>
              <a:t>Direct pressure · compression dressing</a:t>
            </a:r>
          </a:p>
          <a:p>
            <a:pPr algn="ctr"/>
            <a:r>
              <a:rPr sz="750" b="0" i="0" lang="en-US">
                <a:solidFill>
                  <a:srgbClr val="6B6B6B"/>
                </a:solidFill>
                <a:latin typeface="Noto Sans"/>
              </a:rPr>
              <a:t>hem_01</a:t>
            </a:r>
          </a:p>
        </p:txBody>
      </p:sp>
      <p:sp>
        <p:nvSpPr>
          <p:cNvPr id="39" name="Rounded Rectangle 38"/>
          <p:cNvSpPr/>
          <p:nvPr/>
        </p:nvSpPr>
        <p:spPr>
          <a:xfrm>
            <a:off x="4038600" y="2381250"/>
            <a:ext cx="1866900" cy="571500"/>
          </a:xfrm>
          <a:prstGeom prst="roundRect">
            <a:avLst>
              <a:gd name="adj" fmla="val 14000"/>
            </a:avLst>
          </a:prstGeom>
          <a:solidFill>
            <a:srgbClr val="FFFFFF"/>
          </a:solidFill>
          <a:ln w="25400">
            <a:solidFill>
              <a:srgbClr val="4A4A4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76200" rIns="76200" tIns="38100" bIns="38100"/>
          <a:lstStyle/>
          <a:p>
            <a:pPr algn="ctr"/>
            <a:r>
              <a:rPr sz="1100" b="1" i="0" lang="en-US">
                <a:solidFill>
                  <a:srgbClr val="1A1A1A"/>
                </a:solidFill>
                <a:latin typeface="Noto Sans"/>
              </a:rPr>
              <a:t>◇ Active bleeding?</a:t>
            </a:r>
          </a:p>
          <a:p>
            <a:pPr algn="ctr"/>
            <a:r>
              <a:rPr sz="750" b="0" i="0" lang="en-US">
                <a:solidFill>
                  <a:srgbClr val="6B6B6B"/>
                </a:solidFill>
                <a:latin typeface="Noto Sans"/>
              </a:rPr>
              <a:t>hem_02</a:t>
            </a:r>
          </a:p>
        </p:txBody>
      </p:sp>
      <p:sp>
        <p:nvSpPr>
          <p:cNvPr id="40" name="Rounded Rectangle 39"/>
          <p:cNvSpPr/>
          <p:nvPr/>
        </p:nvSpPr>
        <p:spPr>
          <a:xfrm>
            <a:off x="895350" y="3505200"/>
            <a:ext cx="2781300" cy="609600"/>
          </a:xfrm>
          <a:prstGeom prst="roundRect">
            <a:avLst>
              <a:gd name="adj" fmla="val 14000"/>
            </a:avLst>
          </a:prstGeom>
          <a:solidFill>
            <a:srgbClr val="FFEAEA"/>
          </a:solidFill>
          <a:ln w="31750">
            <a:solidFill>
              <a:srgbClr val="CC000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76200" rIns="76200" tIns="38100" bIns="38100"/>
          <a:lstStyle/>
          <a:p>
            <a:pPr algn="ctr"/>
            <a:r>
              <a:rPr sz="1100" b="1" i="0" lang="en-US">
                <a:solidFill>
                  <a:srgbClr val="1A1A1A"/>
                </a:solidFill>
                <a:latin typeface="Noto Sans"/>
              </a:rPr>
              <a:t>Second compression bandage</a:t>
            </a:r>
          </a:p>
          <a:p>
            <a:pPr algn="ctr"/>
            <a:r>
              <a:rPr sz="750" b="0" i="0" lang="en-US">
                <a:solidFill>
                  <a:srgbClr val="6B6B6B"/>
                </a:solidFill>
                <a:latin typeface="Noto Sans"/>
              </a:rPr>
              <a:t>hem_03 · TIER 2</a:t>
            </a:r>
          </a:p>
        </p:txBody>
      </p:sp>
      <p:sp>
        <p:nvSpPr>
          <p:cNvPr id="41" name="Rounded Rectangle 40"/>
          <p:cNvSpPr/>
          <p:nvPr/>
        </p:nvSpPr>
        <p:spPr>
          <a:xfrm>
            <a:off x="4038600" y="3524250"/>
            <a:ext cx="1866900" cy="571500"/>
          </a:xfrm>
          <a:prstGeom prst="roundRect">
            <a:avLst>
              <a:gd name="adj" fmla="val 14000"/>
            </a:avLst>
          </a:prstGeom>
          <a:solidFill>
            <a:srgbClr val="FFFFFF"/>
          </a:solidFill>
          <a:ln w="19050">
            <a:solidFill>
              <a:srgbClr val="E0E0E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76200" rIns="76200" tIns="38100" bIns="38100"/>
          <a:lstStyle/>
          <a:p>
            <a:pPr algn="ctr"/>
            <a:r>
              <a:rPr sz="1100" b="0" i="0" lang="en-US">
                <a:solidFill>
                  <a:srgbClr val="6B6B6B"/>
                </a:solidFill>
                <a:latin typeface="Noto Sans"/>
              </a:rPr>
              <a:t>◇ Active bleeding?</a:t>
            </a:r>
          </a:p>
          <a:p>
            <a:pPr algn="ctr"/>
            <a:r>
              <a:rPr sz="750" b="0" i="0" lang="en-US">
                <a:solidFill>
                  <a:srgbClr val="6B6B6B"/>
                </a:solidFill>
                <a:latin typeface="Noto Sans"/>
              </a:rPr>
              <a:t>hem_04</a:t>
            </a:r>
          </a:p>
        </p:txBody>
      </p:sp>
      <p:sp>
        <p:nvSpPr>
          <p:cNvPr id="42" name="Rounded Rectangle 41"/>
          <p:cNvSpPr/>
          <p:nvPr/>
        </p:nvSpPr>
        <p:spPr>
          <a:xfrm>
            <a:off x="895350" y="4648200"/>
            <a:ext cx="2781300" cy="609600"/>
          </a:xfrm>
          <a:prstGeom prst="roundRect">
            <a:avLst>
              <a:gd name="adj" fmla="val 14000"/>
            </a:avLst>
          </a:prstGeom>
          <a:solidFill>
            <a:srgbClr val="FFFFFF"/>
          </a:solidFill>
          <a:ln w="19050">
            <a:solidFill>
              <a:srgbClr val="E0E0E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76200" rIns="76200" tIns="38100" bIns="38100"/>
          <a:lstStyle/>
          <a:p>
            <a:pPr algn="ctr"/>
            <a:r>
              <a:rPr sz="1100" b="0" i="0" lang="en-US">
                <a:solidFill>
                  <a:srgbClr val="6B6B6B"/>
                </a:solidFill>
                <a:latin typeface="Noto Sans"/>
              </a:rPr>
              <a:t>Tourniquet — one palm above wound</a:t>
            </a:r>
          </a:p>
          <a:p>
            <a:pPr algn="ctr"/>
            <a:r>
              <a:rPr sz="750" b="0" i="0" lang="en-US">
                <a:solidFill>
                  <a:srgbClr val="6B6B6B"/>
                </a:solidFill>
                <a:latin typeface="Noto Sans"/>
              </a:rPr>
              <a:t>hem_05 · terminal</a:t>
            </a:r>
          </a:p>
        </p:txBody>
      </p:sp>
      <p:sp>
        <p:nvSpPr>
          <p:cNvPr id="43" name="Rounded Rectangle 42"/>
          <p:cNvSpPr/>
          <p:nvPr/>
        </p:nvSpPr>
        <p:spPr>
          <a:xfrm>
            <a:off x="4038600" y="4667250"/>
            <a:ext cx="1866900" cy="571500"/>
          </a:xfrm>
          <a:prstGeom prst="roundRect">
            <a:avLst>
              <a:gd name="adj" fmla="val 14000"/>
            </a:avLst>
          </a:prstGeom>
          <a:solidFill>
            <a:srgbClr val="FFFFFF"/>
          </a:solidFill>
          <a:ln w="19050">
            <a:solidFill>
              <a:srgbClr val="E0E0E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76200" rIns="76200" tIns="38100" bIns="38100"/>
          <a:lstStyle/>
          <a:p>
            <a:pPr algn="ctr"/>
            <a:r>
              <a:rPr sz="1100" b="0" i="0" lang="en-US">
                <a:solidFill>
                  <a:srgbClr val="6B6B6B"/>
                </a:solidFill>
                <a:latin typeface="Noto Sans"/>
              </a:rPr>
              <a:t>◇ Active bleeding?</a:t>
            </a:r>
          </a:p>
          <a:p>
            <a:pPr algn="ctr"/>
            <a:r>
              <a:rPr sz="750" b="0" i="0" lang="en-US">
                <a:solidFill>
                  <a:srgbClr val="6B6B6B"/>
                </a:solidFill>
                <a:latin typeface="Noto Sans"/>
              </a:rPr>
              <a:t>hem_06</a:t>
            </a:r>
          </a:p>
        </p:txBody>
      </p:sp>
      <p:sp>
        <p:nvSpPr>
          <p:cNvPr id="44" name="Rounded Rectangle 43"/>
          <p:cNvSpPr/>
          <p:nvPr/>
        </p:nvSpPr>
        <p:spPr>
          <a:xfrm>
            <a:off x="6381750" y="2895600"/>
            <a:ext cx="2133600" cy="476250"/>
          </a:xfrm>
          <a:prstGeom prst="roundRect">
            <a:avLst>
              <a:gd name="adj" fmla="val 50000"/>
            </a:avLst>
          </a:prstGeom>
          <a:solidFill>
            <a:srgbClr val="FFFFFF"/>
          </a:solidFill>
          <a:ln w="19050">
            <a:solidFill>
              <a:srgbClr val="E0E0E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76200" rIns="76200" tIns="38100" bIns="38100"/>
          <a:lstStyle/>
          <a:p>
            <a:pPr algn="ctr"/>
            <a:r>
              <a:rPr sz="1100" b="0" i="0" lang="en-US">
                <a:solidFill>
                  <a:srgbClr val="6B6B6B"/>
                </a:solidFill>
                <a:latin typeface="Noto Sans"/>
              </a:rPr>
              <a:t>Transport to health center</a:t>
            </a:r>
          </a:p>
          <a:p>
            <a:pPr algn="ctr"/>
            <a:r>
              <a:rPr sz="750" b="0" i="0" lang="en-US">
                <a:solidFill>
                  <a:srgbClr val="6B6B6B"/>
                </a:solidFill>
                <a:latin typeface="Noto Sans"/>
              </a:rPr>
              <a:t>hem_08</a:t>
            </a:r>
          </a:p>
        </p:txBody>
      </p:sp>
      <p:sp>
        <p:nvSpPr>
          <p:cNvPr id="45" name="Rounded Rectangle 44"/>
          <p:cNvSpPr/>
          <p:nvPr/>
        </p:nvSpPr>
        <p:spPr>
          <a:xfrm>
            <a:off x="6381750" y="4724400"/>
            <a:ext cx="2133600" cy="476250"/>
          </a:xfrm>
          <a:prstGeom prst="roundRect">
            <a:avLst>
              <a:gd name="adj" fmla="val 50000"/>
            </a:avLst>
          </a:prstGeom>
          <a:solidFill>
            <a:srgbClr val="FFFFFF"/>
          </a:solidFill>
          <a:ln w="19050">
            <a:solidFill>
              <a:srgbClr val="E0E0E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76200" rIns="76200" tIns="38100" bIns="38100"/>
          <a:lstStyle/>
          <a:p>
            <a:pPr algn="ctr"/>
            <a:r>
              <a:rPr sz="1100" b="0" i="0" lang="en-US">
                <a:solidFill>
                  <a:srgbClr val="6B6B6B"/>
                </a:solidFill>
                <a:latin typeface="Noto Sans"/>
              </a:rPr>
              <a:t>URGENT transport</a:t>
            </a:r>
          </a:p>
          <a:p>
            <a:pPr algn="ctr"/>
            <a:r>
              <a:rPr sz="750" b="0" i="0" lang="en-US">
                <a:solidFill>
                  <a:srgbClr val="6B6B6B"/>
                </a:solidFill>
                <a:latin typeface="Noto Sans"/>
              </a:rPr>
              <a:t>hem_07</a:t>
            </a:r>
          </a:p>
        </p:txBody>
      </p:sp>
      <p:sp>
        <p:nvSpPr>
          <p:cNvPr id="46" name="Oval 45"/>
          <p:cNvSpPr/>
          <p:nvPr/>
        </p:nvSpPr>
        <p:spPr>
          <a:xfrm>
            <a:off x="514350" y="2533650"/>
            <a:ext cx="266700" cy="266700"/>
          </a:xfrm>
          <a:prstGeom prst="ellipse">
            <a:avLst/>
          </a:prstGeom>
          <a:solidFill>
            <a:srgbClr val="CC0000"/>
          </a:solidFill>
          <a:ln w="19050">
            <a:solidFill>
              <a:srgbClr val="CC000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76200" rIns="76200" tIns="38100" bIns="38100"/>
          <a:lstStyle/>
          <a:p>
            <a:pPr algn="ctr"/>
            <a:r>
              <a:rPr sz="1100" b="1" i="0" lang="en-US">
                <a:solidFill>
                  <a:srgbClr val="FFFFFF"/>
                </a:solidFill>
                <a:latin typeface="Noto Sans"/>
              </a:rPr>
              <a:t>1</a:t>
            </a:r>
          </a:p>
        </p:txBody>
      </p:sp>
      <p:sp>
        <p:nvSpPr>
          <p:cNvPr id="47" name="Oval 46"/>
          <p:cNvSpPr/>
          <p:nvPr/>
        </p:nvSpPr>
        <p:spPr>
          <a:xfrm>
            <a:off x="514350" y="3676650"/>
            <a:ext cx="266700" cy="266700"/>
          </a:xfrm>
          <a:prstGeom prst="ellipse">
            <a:avLst/>
          </a:prstGeom>
          <a:solidFill>
            <a:srgbClr val="CC0000"/>
          </a:solidFill>
          <a:ln w="19050">
            <a:solidFill>
              <a:srgbClr val="CC000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76200" rIns="76200" tIns="38100" bIns="38100"/>
          <a:lstStyle/>
          <a:p>
            <a:pPr algn="ctr"/>
            <a:r>
              <a:rPr sz="1100" b="1" i="0" lang="en-US">
                <a:solidFill>
                  <a:srgbClr val="FFFFFF"/>
                </a:solidFill>
                <a:latin typeface="Noto Sans"/>
              </a:rPr>
              <a:t>2</a:t>
            </a:r>
          </a:p>
        </p:txBody>
      </p:sp>
      <p:sp>
        <p:nvSpPr>
          <p:cNvPr id="48" name="Oval 47"/>
          <p:cNvSpPr/>
          <p:nvPr/>
        </p:nvSpPr>
        <p:spPr>
          <a:xfrm>
            <a:off x="514350" y="4819650"/>
            <a:ext cx="266700" cy="266700"/>
          </a:xfrm>
          <a:prstGeom prst="ellipse">
            <a:avLst/>
          </a:prstGeom>
          <a:solidFill>
            <a:srgbClr val="F5F5F5"/>
          </a:solidFill>
          <a:ln w="19050">
            <a:solidFill>
              <a:srgbClr val="E0E0E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76200" rIns="76200" tIns="38100" bIns="38100"/>
          <a:lstStyle/>
          <a:p>
            <a:pPr algn="ctr"/>
            <a:r>
              <a:rPr sz="1100" b="1" i="0" lang="en-US">
                <a:solidFill>
                  <a:srgbClr val="4A4A4A"/>
                </a:solidFill>
                <a:latin typeface="Noto Sans"/>
              </a:rPr>
              <a:t>3</a:t>
            </a:r>
          </a:p>
        </p:txBody>
      </p:sp>
      <p:sp>
        <p:nvSpPr>
          <p:cNvPr id="49" name="Rounded Rectangle 48"/>
          <p:cNvSpPr/>
          <p:nvPr/>
        </p:nvSpPr>
        <p:spPr>
          <a:xfrm>
            <a:off x="3467100" y="1847850"/>
            <a:ext cx="3143250" cy="228600"/>
          </a:xfrm>
          <a:prstGeom prst="roundRect">
            <a:avLst>
              <a:gd name="adj" fmla="val 40000"/>
            </a:avLst>
          </a:prstGeom>
          <a:solidFill>
            <a:srgbClr val="FFFFFF"/>
          </a:solidFill>
          <a:ln w="15875">
            <a:solidFill>
              <a:srgbClr val="4A4A4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76200" rIns="76200" tIns="38100" bIns="38100"/>
          <a:lstStyle/>
          <a:p>
            <a:pPr algn="ctr"/>
            <a:r>
              <a:rPr sz="900" b="1" i="0" lang="en-US">
                <a:solidFill>
                  <a:srgbClr val="4A4A4A"/>
                </a:solidFill>
                <a:latin typeface="Noto Sans"/>
              </a:rPr>
              <a:t>yes →  &gt;&gt; JUMP to chart 'hemorrhage' &lt;&lt;</a:t>
            </a:r>
          </a:p>
        </p:txBody>
      </p:sp>
      <p:sp>
        <p:nvSpPr>
          <p:cNvPr id="50" name="Rounded Rectangle 49"/>
          <p:cNvSpPr/>
          <p:nvPr/>
        </p:nvSpPr>
        <p:spPr>
          <a:xfrm>
            <a:off x="2895600" y="3143250"/>
            <a:ext cx="1619250" cy="228600"/>
          </a:xfrm>
          <a:prstGeom prst="roundRect">
            <a:avLst>
              <a:gd name="adj" fmla="val 40000"/>
            </a:avLst>
          </a:prstGeom>
          <a:solidFill>
            <a:srgbClr val="FFFFFF"/>
          </a:solidFill>
          <a:ln w="15875">
            <a:solidFill>
              <a:srgbClr val="CC000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76200" rIns="76200" tIns="38100" bIns="38100"/>
          <a:lstStyle/>
          <a:p>
            <a:pPr algn="ctr"/>
            <a:r>
              <a:rPr sz="900" b="1" i="0" lang="en-US">
                <a:solidFill>
                  <a:srgbClr val="CC0000"/>
                </a:solidFill>
                <a:latin typeface="Noto Sans"/>
              </a:rPr>
              <a:t>yes — still bleeding</a:t>
            </a:r>
          </a:p>
        </p:txBody>
      </p:sp>
      <p:sp>
        <p:nvSpPr>
          <p:cNvPr id="51" name="Rounded Rectangle 50"/>
          <p:cNvSpPr/>
          <p:nvPr/>
        </p:nvSpPr>
        <p:spPr>
          <a:xfrm>
            <a:off x="2895600" y="4286250"/>
            <a:ext cx="1619250" cy="228600"/>
          </a:xfrm>
          <a:prstGeom prst="roundRect">
            <a:avLst>
              <a:gd name="adj" fmla="val 40000"/>
            </a:avLst>
          </a:prstGeom>
          <a:solidFill>
            <a:srgbClr val="FFFFFF"/>
          </a:solidFill>
          <a:ln w="15875">
            <a:solidFill>
              <a:srgbClr val="E5A3A3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76200" rIns="76200" tIns="38100" bIns="38100"/>
          <a:lstStyle/>
          <a:p>
            <a:pPr algn="ctr"/>
            <a:r>
              <a:rPr sz="900" b="1" i="0" lang="en-US">
                <a:solidFill>
                  <a:srgbClr val="E5A3A3"/>
                </a:solidFill>
                <a:latin typeface="Noto Sans"/>
              </a:rPr>
              <a:t>yes — still bleeding</a:t>
            </a:r>
          </a:p>
        </p:txBody>
      </p:sp>
      <p:sp>
        <p:nvSpPr>
          <p:cNvPr id="52" name="Rounded Rectangle 51"/>
          <p:cNvSpPr/>
          <p:nvPr/>
        </p:nvSpPr>
        <p:spPr>
          <a:xfrm>
            <a:off x="6191250" y="2247900"/>
            <a:ext cx="1428750" cy="228600"/>
          </a:xfrm>
          <a:prstGeom prst="roundRect">
            <a:avLst>
              <a:gd name="adj" fmla="val 40000"/>
            </a:avLst>
          </a:prstGeom>
          <a:solidFill>
            <a:srgbClr val="FFFFFF"/>
          </a:solidFill>
          <a:ln w="15875">
            <a:solidFill>
              <a:srgbClr val="A9C9B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76200" rIns="76200" tIns="38100" bIns="38100"/>
          <a:lstStyle/>
          <a:p>
            <a:pPr algn="ctr"/>
            <a:r>
              <a:rPr sz="900" b="1" i="0" lang="en-US">
                <a:solidFill>
                  <a:srgbClr val="A9C9BA"/>
                </a:solidFill>
                <a:latin typeface="Noto Sans"/>
              </a:rPr>
              <a:t>✓ no — controlled</a:t>
            </a:r>
          </a:p>
        </p:txBody>
      </p:sp>
      <p:sp>
        <p:nvSpPr>
          <p:cNvPr id="53" name="Rounded Rectangle 52"/>
          <p:cNvSpPr/>
          <p:nvPr/>
        </p:nvSpPr>
        <p:spPr>
          <a:xfrm>
            <a:off x="6191250" y="3962400"/>
            <a:ext cx="1428750" cy="228600"/>
          </a:xfrm>
          <a:prstGeom prst="roundRect">
            <a:avLst>
              <a:gd name="adj" fmla="val 40000"/>
            </a:avLst>
          </a:prstGeom>
          <a:solidFill>
            <a:srgbClr val="FFFFFF"/>
          </a:solidFill>
          <a:ln w="15875">
            <a:solidFill>
              <a:srgbClr val="A9C9B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76200" rIns="76200" tIns="38100" bIns="38100"/>
          <a:lstStyle/>
          <a:p>
            <a:pPr algn="ctr"/>
            <a:r>
              <a:rPr sz="900" b="1" i="0" lang="en-US">
                <a:solidFill>
                  <a:srgbClr val="A9C9BA"/>
                </a:solidFill>
                <a:latin typeface="Noto Sans"/>
              </a:rPr>
              <a:t>✓ no — controlled</a:t>
            </a:r>
          </a:p>
        </p:txBody>
      </p:sp>
      <p:sp>
        <p:nvSpPr>
          <p:cNvPr id="54" name="Rounded Rectangle 53"/>
          <p:cNvSpPr/>
          <p:nvPr/>
        </p:nvSpPr>
        <p:spPr>
          <a:xfrm>
            <a:off x="5962650" y="5181600"/>
            <a:ext cx="628650" cy="209550"/>
          </a:xfrm>
          <a:prstGeom prst="roundRect">
            <a:avLst>
              <a:gd name="adj" fmla="val 40000"/>
            </a:avLst>
          </a:prstGeom>
          <a:solidFill>
            <a:srgbClr val="FFFFFF"/>
          </a:solidFill>
          <a:ln w="15875">
            <a:solidFill>
              <a:srgbClr val="A9C9B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76200" rIns="76200" tIns="38100" bIns="38100"/>
          <a:lstStyle/>
          <a:p>
            <a:pPr algn="ctr"/>
            <a:r>
              <a:rPr sz="900" b="1" i="0" lang="en-US">
                <a:solidFill>
                  <a:srgbClr val="A9C9BA"/>
                </a:solidFill>
                <a:latin typeface="Noto Sans"/>
              </a:rPr>
              <a:t>✓ no</a:t>
            </a:r>
          </a:p>
        </p:txBody>
      </p:sp>
      <p:sp>
        <p:nvSpPr>
          <p:cNvPr id="55" name="Rounded Rectangle 54"/>
          <p:cNvSpPr/>
          <p:nvPr/>
        </p:nvSpPr>
        <p:spPr>
          <a:xfrm>
            <a:off x="2381250" y="5429250"/>
            <a:ext cx="4095750" cy="228600"/>
          </a:xfrm>
          <a:prstGeom prst="roundRect">
            <a:avLst>
              <a:gd name="adj" fmla="val 40000"/>
            </a:avLst>
          </a:prstGeom>
          <a:solidFill>
            <a:srgbClr val="FFFFFF"/>
          </a:solidFill>
          <a:ln w="15875">
            <a:solidFill>
              <a:srgbClr val="E3C29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76200" rIns="76200" tIns="38100" bIns="38100"/>
          <a:lstStyle/>
          <a:p>
            <a:pPr algn="ctr"/>
            <a:r>
              <a:rPr sz="900" b="1" i="0" lang="en-US">
                <a:solidFill>
                  <a:srgbClr val="E3C29E"/>
                </a:solidFill>
                <a:latin typeface="Noto Sans"/>
              </a:rPr>
              <a:t>⚠ yes at terminal tier → HOLD, no tier 4 (flagged divergence)</a:t>
            </a:r>
          </a:p>
        </p:txBody>
      </p:sp>
      <p:sp>
        <p:nvSpPr>
          <p:cNvPr id="56" name="Rounded Rectangle 55"/>
          <p:cNvSpPr/>
          <p:nvPr/>
        </p:nvSpPr>
        <p:spPr>
          <a:xfrm>
            <a:off x="8877300" y="1123950"/>
            <a:ext cx="2895600" cy="5257800"/>
          </a:xfrm>
          <a:prstGeom prst="roundRect">
            <a:avLst>
              <a:gd name="adj" fmla="val 5000"/>
            </a:avLst>
          </a:prstGeom>
          <a:solidFill>
            <a:srgbClr val="FFFFFF"/>
          </a:solidFill>
          <a:ln w="19050">
            <a:solidFill>
              <a:srgbClr val="E0E0E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76200" rIns="76200" tIns="38100" bIns="38100"/>
          <a:lstStyle/>
          <a:p>
            <a:pPr algn="ctr"/>
          </a:p>
        </p:txBody>
      </p:sp>
      <p:sp>
        <p:nvSpPr>
          <p:cNvPr id="57" name="TextBox 56"/>
          <p:cNvSpPr txBox="1"/>
          <p:nvPr/>
        </p:nvSpPr>
        <p:spPr>
          <a:xfrm>
            <a:off x="9048750" y="1257300"/>
            <a:ext cx="2476500" cy="1905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r>
              <a:rPr sz="1000" b="1" i="0" lang="en-US">
                <a:solidFill>
                  <a:srgbClr val="1A1A1A"/>
                </a:solidFill>
                <a:latin typeface="Noto Sans"/>
              </a:rPr>
              <a:t>ENGINE STATE</a:t>
            </a:r>
          </a:p>
        </p:txBody>
      </p:sp>
      <p:cxnSp>
        <p:nvCxnSpPr>
          <p:cNvPr id="58" name="Connector 57"/>
          <p:cNvCxnSpPr/>
          <p:nvPr/>
        </p:nvCxnSpPr>
        <p:spPr>
          <a:xfrm>
            <a:off x="9048750" y="1485900"/>
            <a:ext cx="2552700" cy="0"/>
          </a:xfrm>
          <a:prstGeom prst="line">
            <a:avLst/>
          </a:prstGeom>
          <a:ln w="12700">
            <a:solidFill>
              <a:srgbClr val="E0E0E0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59" name="TextBox 58"/>
          <p:cNvSpPr txBox="1"/>
          <p:nvPr/>
        </p:nvSpPr>
        <p:spPr>
          <a:xfrm>
            <a:off x="9048750" y="1581150"/>
            <a:ext cx="2476500" cy="1524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r>
              <a:rPr sz="800" b="1" i="0" lang="en-US">
                <a:solidFill>
                  <a:srgbClr val="6B6B6B"/>
                </a:solidFill>
                <a:latin typeface="Noto Sans"/>
              </a:rPr>
              <a:t>WORKING MEMORY</a:t>
            </a:r>
          </a:p>
        </p:txBody>
      </p:sp>
      <p:sp>
        <p:nvSpPr>
          <p:cNvPr id="60" name="Rounded Rectangle 59"/>
          <p:cNvSpPr/>
          <p:nvPr/>
        </p:nvSpPr>
        <p:spPr>
          <a:xfrm>
            <a:off x="9048750" y="1771650"/>
            <a:ext cx="1504950" cy="247650"/>
          </a:xfrm>
          <a:prstGeom prst="roundRect">
            <a:avLst>
              <a:gd name="adj" fmla="val 50000"/>
            </a:avLst>
          </a:prstGeom>
          <a:solidFill>
            <a:srgbClr val="F5F5F5"/>
          </a:solidFill>
          <a:ln w="15875">
            <a:solidFill>
              <a:srgbClr val="E0E0E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76200" rIns="76200" tIns="38100" bIns="38100"/>
          <a:lstStyle/>
          <a:p>
            <a:pPr algn="ctr"/>
            <a:r>
              <a:rPr sz="1000" b="0" i="0" lang="en-US">
                <a:solidFill>
                  <a:srgbClr val="4A4A4A"/>
                </a:solidFill>
                <a:latin typeface="Consolas"/>
              </a:rPr>
              <a:t>Position(nid=hem_03)</a:t>
            </a:r>
          </a:p>
        </p:txBody>
      </p:sp>
      <p:sp>
        <p:nvSpPr>
          <p:cNvPr id="61" name="Rounded Rectangle 60"/>
          <p:cNvSpPr/>
          <p:nvPr/>
        </p:nvSpPr>
        <p:spPr>
          <a:xfrm>
            <a:off x="9048750" y="2076450"/>
            <a:ext cx="1748790" cy="247650"/>
          </a:xfrm>
          <a:prstGeom prst="roundRect">
            <a:avLst>
              <a:gd name="adj" fmla="val 50000"/>
            </a:avLst>
          </a:prstGeom>
          <a:solidFill>
            <a:srgbClr val="F5F5F5"/>
          </a:solidFill>
          <a:ln w="15875">
            <a:solidFill>
              <a:srgbClr val="E0E0E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76200" rIns="76200" tIns="38100" bIns="38100"/>
          <a:lstStyle/>
          <a:p>
            <a:pPr algn="ctr"/>
            <a:r>
              <a:rPr sz="1000" b="0" i="0" lang="en-US">
                <a:solidFill>
                  <a:srgbClr val="4A4A4A"/>
                </a:solidFill>
                <a:latin typeface="Consolas"/>
              </a:rPr>
              <a:t>Active(chart=hemorrhage)</a:t>
            </a:r>
          </a:p>
        </p:txBody>
      </p:sp>
      <p:sp>
        <p:nvSpPr>
          <p:cNvPr id="62" name="Rounded Rectangle 61"/>
          <p:cNvSpPr/>
          <p:nvPr/>
        </p:nvSpPr>
        <p:spPr>
          <a:xfrm>
            <a:off x="9048750" y="2381250"/>
            <a:ext cx="1261110" cy="247650"/>
          </a:xfrm>
          <a:prstGeom prst="roundRect">
            <a:avLst>
              <a:gd name="adj" fmla="val 50000"/>
            </a:avLst>
          </a:prstGeom>
          <a:solidFill>
            <a:srgbClr val="FFEAEA"/>
          </a:solidFill>
          <a:ln w="15875">
            <a:solidFill>
              <a:srgbClr val="CC000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76200" rIns="76200" tIns="38100" bIns="38100"/>
          <a:lstStyle/>
          <a:p>
            <a:pPr algn="ctr"/>
            <a:r>
              <a:rPr sz="1000" b="1" i="0" lang="en-US">
                <a:solidFill>
                  <a:srgbClr val="990000"/>
                </a:solidFill>
                <a:latin typeface="Consolas"/>
              </a:rPr>
              <a:t>Bleeding(tier=2)</a:t>
            </a:r>
          </a:p>
        </p:txBody>
      </p:sp>
      <p:sp>
        <p:nvSpPr>
          <p:cNvPr id="63" name="TextBox 62"/>
          <p:cNvSpPr txBox="1"/>
          <p:nvPr/>
        </p:nvSpPr>
        <p:spPr>
          <a:xfrm>
            <a:off x="9048750" y="2743200"/>
            <a:ext cx="2476500" cy="1524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r>
              <a:rPr sz="800" b="1" i="0" lang="en-US">
                <a:solidFill>
                  <a:srgbClr val="6B6B6B"/>
                </a:solidFill>
                <a:latin typeface="Noto Sans"/>
              </a:rPr>
              <a:t>RULE FIRED</a:t>
            </a:r>
          </a:p>
        </p:txBody>
      </p:sp>
      <p:sp>
        <p:nvSpPr>
          <p:cNvPr id="64" name="TextBox 63"/>
          <p:cNvSpPr txBox="1"/>
          <p:nvPr/>
        </p:nvSpPr>
        <p:spPr>
          <a:xfrm>
            <a:off x="9048750" y="2914650"/>
            <a:ext cx="2552700" cy="2286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r>
              <a:rPr sz="1300" b="1" i="0" lang="en-US">
                <a:solidFill>
                  <a:srgbClr val="1A1A1A"/>
                </a:solidFill>
                <a:latin typeface="Consolas"/>
              </a:rPr>
              <a:t>hem_decide</a:t>
            </a:r>
            <a:r>
              <a:rPr sz="950" b="0" i="0" lang="en-US">
                <a:solidFill>
                  <a:srgbClr val="4A4A4A"/>
                </a:solidFill>
                <a:latin typeface="Noto Sans"/>
              </a:rPr>
              <a:t>   salience 10</a:t>
            </a:r>
          </a:p>
        </p:txBody>
      </p:sp>
      <p:sp>
        <p:nvSpPr>
          <p:cNvPr id="65" name="TextBox 64"/>
          <p:cNvSpPr txBox="1"/>
          <p:nvPr/>
        </p:nvSpPr>
        <p:spPr>
          <a:xfrm>
            <a:off x="9048750" y="3219450"/>
            <a:ext cx="2476500" cy="1524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r>
              <a:rPr sz="800" b="1" i="0" lang="en-US">
                <a:solidFill>
                  <a:srgbClr val="6B6B6B"/>
                </a:solidFill>
                <a:latin typeface="Noto Sans"/>
              </a:rPr>
              <a:t>Δ THIS STEP</a:t>
            </a:r>
          </a:p>
        </p:txBody>
      </p:sp>
      <p:sp>
        <p:nvSpPr>
          <p:cNvPr id="66" name="TextBox 65"/>
          <p:cNvSpPr txBox="1"/>
          <p:nvPr/>
        </p:nvSpPr>
        <p:spPr>
          <a:xfrm>
            <a:off x="9048750" y="3390900"/>
            <a:ext cx="2552700" cy="1905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r>
              <a:rPr sz="1100" b="1" i="0" lang="en-US">
                <a:solidFill>
                  <a:srgbClr val="6B6B6B"/>
                </a:solidFill>
                <a:latin typeface="Consolas"/>
              </a:rPr>
              <a:t>− </a:t>
            </a:r>
            <a:r>
              <a:rPr sz="1100" b="0" i="0" lang="en-US" strike="sngStrike">
                <a:solidFill>
                  <a:srgbClr val="6B6B6B"/>
                </a:solidFill>
                <a:latin typeface="Consolas"/>
              </a:rPr>
              <a:t>Bleeding(tier=1)</a:t>
            </a:r>
            <a:r>
              <a:rPr sz="850" b="0" i="0" lang="en-US">
                <a:solidFill>
                  <a:srgbClr val="6B6B6B"/>
                </a:solidFill>
                <a:latin typeface="Noto Sans"/>
              </a:rPr>
              <a:t>  retract</a:t>
            </a:r>
          </a:p>
        </p:txBody>
      </p:sp>
      <p:sp>
        <p:nvSpPr>
          <p:cNvPr id="67" name="TextBox 66"/>
          <p:cNvSpPr txBox="1"/>
          <p:nvPr/>
        </p:nvSpPr>
        <p:spPr>
          <a:xfrm>
            <a:off x="9048750" y="3619500"/>
            <a:ext cx="2552700" cy="1905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r>
              <a:rPr sz="1100" b="1" i="0" lang="en-US">
                <a:solidFill>
                  <a:srgbClr val="CC0000"/>
                </a:solidFill>
                <a:latin typeface="Consolas"/>
              </a:rPr>
              <a:t>+ </a:t>
            </a:r>
            <a:r>
              <a:rPr sz="1100" b="1" i="0" lang="en-US">
                <a:solidFill>
                  <a:srgbClr val="990000"/>
                </a:solidFill>
                <a:latin typeface="Consolas"/>
              </a:rPr>
              <a:t>Bleeding(tier=2)</a:t>
            </a:r>
            <a:r>
              <a:rPr sz="850" b="0" i="0" lang="en-US">
                <a:solidFill>
                  <a:srgbClr val="6B6B6B"/>
                </a:solidFill>
                <a:latin typeface="Noto Sans"/>
              </a:rPr>
              <a:t>  declare</a:t>
            </a:r>
          </a:p>
        </p:txBody>
      </p:sp>
      <p:sp>
        <p:nvSpPr>
          <p:cNvPr id="68" name="Rounded Rectangle 67"/>
          <p:cNvSpPr/>
          <p:nvPr/>
        </p:nvSpPr>
        <p:spPr>
          <a:xfrm>
            <a:off x="9048750" y="3905250"/>
            <a:ext cx="38100" cy="419100"/>
          </a:xfrm>
          <a:prstGeom prst="roundRect">
            <a:avLst>
              <a:gd name="adj" fmla="val 30000"/>
            </a:avLst>
          </a:prstGeom>
          <a:solidFill>
            <a:srgbClr val="CC000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76200" rIns="76200" tIns="38100" bIns="38100"/>
          <a:lstStyle/>
          <a:p>
            <a:pPr algn="ctr"/>
          </a:p>
        </p:txBody>
      </p:sp>
      <p:sp>
        <p:nvSpPr>
          <p:cNvPr id="69" name="TextBox 68"/>
          <p:cNvSpPr txBox="1"/>
          <p:nvPr/>
        </p:nvSpPr>
        <p:spPr>
          <a:xfrm>
            <a:off x="9163050" y="3905250"/>
            <a:ext cx="2438400" cy="4953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>
              <a:lnSpc>
                <a:spcPct val="110000"/>
              </a:lnSpc>
            </a:pPr>
            <a:r>
              <a:rPr sz="1000" b="1" i="0" lang="en-US">
                <a:solidFill>
                  <a:srgbClr val="1A1A1A"/>
                </a:solidFill>
                <a:latin typeface="Noto Sans"/>
              </a:rPr>
              <a:t>It never re-asks tier 1 — the fact remembers.</a:t>
            </a:r>
          </a:p>
        </p:txBody>
      </p:sp>
      <p:sp>
        <p:nvSpPr>
          <p:cNvPr id="70" name="TextBox 69"/>
          <p:cNvSpPr txBox="1"/>
          <p:nvPr/>
        </p:nvSpPr>
        <p:spPr>
          <a:xfrm>
            <a:off x="9048750" y="5086350"/>
            <a:ext cx="2476500" cy="1524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r>
              <a:rPr sz="800" b="1" i="0" lang="en-US">
                <a:solidFill>
                  <a:srgbClr val="6B6B6B"/>
                </a:solidFill>
                <a:latin typeface="Noto Sans"/>
              </a:rPr>
              <a:t>ENGINE OUTPUT (VERBATIM)</a:t>
            </a:r>
          </a:p>
        </p:txBody>
      </p:sp>
      <p:sp>
        <p:nvSpPr>
          <p:cNvPr id="71" name="Rounded Rectangle 70"/>
          <p:cNvSpPr/>
          <p:nvPr/>
        </p:nvSpPr>
        <p:spPr>
          <a:xfrm>
            <a:off x="9048750" y="5257800"/>
            <a:ext cx="2552700" cy="800100"/>
          </a:xfrm>
          <a:prstGeom prst="roundRect">
            <a:avLst>
              <a:gd name="adj" fmla="val 6000"/>
            </a:avLst>
          </a:prstGeom>
          <a:solidFill>
            <a:srgbClr val="F5F5F5"/>
          </a:solidFill>
          <a:ln w="15875">
            <a:solidFill>
              <a:srgbClr val="E0E0E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 wrap="square" lIns="114300" rIns="114300" tIns="76200" bIns="76200"/>
          <a:lstStyle/>
          <a:p>
            <a:pPr algn="ctr">
              <a:lnSpc>
                <a:spcPct val="115000"/>
              </a:lnSpc>
            </a:pPr>
            <a:r>
              <a:rPr sz="850" b="0" i="0" lang="en-US">
                <a:solidFill>
                  <a:srgbClr val="4A4A4A"/>
                </a:solidFill>
                <a:latin typeface="Consolas"/>
              </a:rPr>
              <a:t>&gt;&gt; still bleeding -&gt; ADVANCE</a:t>
            </a:r>
          </a:p>
          <a:p>
            <a:pPr>
              <a:lnSpc>
                <a:spcPct val="115000"/>
              </a:lnSpc>
            </a:pPr>
            <a:r>
              <a:rPr sz="850" b="0" i="0" lang="en-US">
                <a:solidFill>
                  <a:srgbClr val="4A4A4A"/>
                </a:solidFill>
                <a:latin typeface="Consolas"/>
              </a:rPr>
              <a:t>tier 1 -&gt; 2</a:t>
            </a:r>
          </a:p>
          <a:p>
            <a:pPr>
              <a:lnSpc>
                <a:spcPct val="115000"/>
              </a:lnSpc>
            </a:pPr>
            <a:r>
              <a:rPr sz="850" b="0" i="0" lang="en-US">
                <a:solidFill>
                  <a:srgbClr val="4A4A4A"/>
                </a:solidFill>
                <a:latin typeface="Consolas"/>
              </a:rPr>
              <a:t>&gt;&gt; ESCALATION TIER 2: Second</a:t>
            </a:r>
          </a:p>
          <a:p>
            <a:pPr>
              <a:lnSpc>
                <a:spcPct val="115000"/>
              </a:lnSpc>
            </a:pPr>
            <a:r>
              <a:rPr sz="850" b="0" i="0" lang="en-US">
                <a:solidFill>
                  <a:srgbClr val="4A4A4A"/>
                </a:solidFill>
                <a:latin typeface="Consolas"/>
              </a:rPr>
              <a:t>compression bandage…</a:t>
            </a:r>
          </a:p>
        </p:txBody>
      </p:sp>
      <p:sp>
        <p:nvSpPr>
          <p:cNvPr id="72" name="TextBox 71"/>
          <p:cNvSpPr txBox="1"/>
          <p:nvPr/>
        </p:nvSpPr>
        <p:spPr>
          <a:xfrm>
            <a:off x="9048750" y="6096000"/>
            <a:ext cx="2552700" cy="2286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r>
              <a:rPr sz="750" b="0" i="0" lang="en-US">
                <a:solidFill>
                  <a:srgbClr val="6B6B6B"/>
                </a:solidFill>
                <a:latin typeface="Noto Sans"/>
              </a:rPr>
              <a:t>real session · presentation/traces/walkthrough_yes_branch_en.txt</a:t>
            </a:r>
          </a:p>
        </p:txBody>
      </p:sp>
      <p:sp>
        <p:nvSpPr>
          <p:cNvPr id="73" name="Rounded Rectangle 72"/>
          <p:cNvSpPr/>
          <p:nvPr/>
        </p:nvSpPr>
        <p:spPr>
          <a:xfrm>
            <a:off x="419100" y="6496050"/>
            <a:ext cx="4953000" cy="247650"/>
          </a:xfrm>
          <a:prstGeom prst="roundRect">
            <a:avLst>
              <a:gd name="adj" fmla="val 50000"/>
            </a:avLst>
          </a:prstGeom>
          <a:solidFill>
            <a:srgbClr val="F5F5F5"/>
          </a:solidFill>
          <a:ln w="15875">
            <a:solidFill>
              <a:srgbClr val="E0E0E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76200" rIns="76200" tIns="38100" bIns="38100"/>
          <a:lstStyle/>
          <a:p>
            <a:pPr algn="ctr"/>
            <a:r>
              <a:rPr sz="900" b="0" i="0" lang="en-US">
                <a:solidFill>
                  <a:srgbClr val="4A4A4A"/>
                </a:solidFill>
                <a:latin typeface="Noto Sans"/>
              </a:rPr>
              <a:t>SARC charts #1 + #10 · data/general_assessment.json · data/hemorrhage.json</a:t>
            </a:r>
          </a:p>
        </p:txBody>
      </p:sp>
      <p:sp>
        <p:nvSpPr>
          <p:cNvPr id="74" name="Oval 73"/>
          <p:cNvSpPr/>
          <p:nvPr/>
        </p:nvSpPr>
        <p:spPr>
          <a:xfrm>
            <a:off x="10001250" y="6572250"/>
            <a:ext cx="76200" cy="76200"/>
          </a:xfrm>
          <a:prstGeom prst="ellipse">
            <a:avLst/>
          </a:prstGeom>
          <a:solidFill>
            <a:srgbClr val="4A4A4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76200" rIns="76200" tIns="38100" bIns="38100"/>
          <a:lstStyle/>
          <a:p>
            <a:pPr algn="ctr"/>
          </a:p>
        </p:txBody>
      </p:sp>
      <p:sp>
        <p:nvSpPr>
          <p:cNvPr id="75" name="Oval 74"/>
          <p:cNvSpPr/>
          <p:nvPr/>
        </p:nvSpPr>
        <p:spPr>
          <a:xfrm>
            <a:off x="10163175" y="6572250"/>
            <a:ext cx="76200" cy="76200"/>
          </a:xfrm>
          <a:prstGeom prst="ellipse">
            <a:avLst/>
          </a:prstGeom>
          <a:solidFill>
            <a:srgbClr val="4A4A4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76200" rIns="76200" tIns="38100" bIns="38100"/>
          <a:lstStyle/>
          <a:p>
            <a:pPr algn="ctr"/>
          </a:p>
        </p:txBody>
      </p:sp>
      <p:sp>
        <p:nvSpPr>
          <p:cNvPr id="76" name="Oval 75"/>
          <p:cNvSpPr/>
          <p:nvPr/>
        </p:nvSpPr>
        <p:spPr>
          <a:xfrm>
            <a:off x="10325100" y="6572250"/>
            <a:ext cx="76200" cy="76200"/>
          </a:xfrm>
          <a:prstGeom prst="ellipse">
            <a:avLst/>
          </a:prstGeom>
          <a:solidFill>
            <a:srgbClr val="4A4A4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76200" rIns="76200" tIns="38100" bIns="38100"/>
          <a:lstStyle/>
          <a:p>
            <a:pPr algn="ctr"/>
          </a:p>
        </p:txBody>
      </p:sp>
      <p:sp>
        <p:nvSpPr>
          <p:cNvPr id="77" name="Oval 76"/>
          <p:cNvSpPr/>
          <p:nvPr/>
        </p:nvSpPr>
        <p:spPr>
          <a:xfrm>
            <a:off x="10487025" y="6572250"/>
            <a:ext cx="76200" cy="76200"/>
          </a:xfrm>
          <a:prstGeom prst="ellipse">
            <a:avLst/>
          </a:prstGeom>
          <a:solidFill>
            <a:srgbClr val="4A4A4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76200" rIns="76200" tIns="38100" bIns="38100"/>
          <a:lstStyle/>
          <a:p>
            <a:pPr algn="ctr"/>
          </a:p>
        </p:txBody>
      </p:sp>
      <p:sp>
        <p:nvSpPr>
          <p:cNvPr id="78" name="Oval 77"/>
          <p:cNvSpPr/>
          <p:nvPr/>
        </p:nvSpPr>
        <p:spPr>
          <a:xfrm>
            <a:off x="10648950" y="6572250"/>
            <a:ext cx="76200" cy="76200"/>
          </a:xfrm>
          <a:prstGeom prst="ellipse">
            <a:avLst/>
          </a:prstGeom>
          <a:solidFill>
            <a:srgbClr val="4A4A4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76200" rIns="76200" tIns="38100" bIns="38100"/>
          <a:lstStyle/>
          <a:p>
            <a:pPr algn="ctr"/>
          </a:p>
        </p:txBody>
      </p:sp>
      <p:sp>
        <p:nvSpPr>
          <p:cNvPr id="79" name="Oval 78"/>
          <p:cNvSpPr/>
          <p:nvPr/>
        </p:nvSpPr>
        <p:spPr>
          <a:xfrm>
            <a:off x="10810875" y="6572250"/>
            <a:ext cx="76200" cy="76200"/>
          </a:xfrm>
          <a:prstGeom prst="ellipse">
            <a:avLst/>
          </a:prstGeom>
          <a:solidFill>
            <a:srgbClr val="4A4A4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76200" rIns="76200" tIns="38100" bIns="38100"/>
          <a:lstStyle/>
          <a:p>
            <a:pPr algn="ctr"/>
          </a:p>
        </p:txBody>
      </p:sp>
      <p:sp>
        <p:nvSpPr>
          <p:cNvPr id="80" name="Oval 79"/>
          <p:cNvSpPr/>
          <p:nvPr/>
        </p:nvSpPr>
        <p:spPr>
          <a:xfrm>
            <a:off x="10972800" y="6572250"/>
            <a:ext cx="95250" cy="95250"/>
          </a:xfrm>
          <a:prstGeom prst="ellipse">
            <a:avLst/>
          </a:prstGeom>
          <a:solidFill>
            <a:srgbClr val="CC000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76200" rIns="76200" tIns="38100" bIns="38100"/>
          <a:lstStyle/>
          <a:p>
            <a:pPr algn="ctr"/>
          </a:p>
        </p:txBody>
      </p:sp>
      <p:sp>
        <p:nvSpPr>
          <p:cNvPr id="81" name="Oval 80"/>
          <p:cNvSpPr/>
          <p:nvPr/>
        </p:nvSpPr>
        <p:spPr>
          <a:xfrm>
            <a:off x="11134725" y="6572250"/>
            <a:ext cx="76200" cy="76200"/>
          </a:xfrm>
          <a:prstGeom prst="ellipse">
            <a:avLst/>
          </a:prstGeom>
          <a:solidFill>
            <a:srgbClr val="E0E0E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76200" rIns="76200" tIns="38100" bIns="38100"/>
          <a:lstStyle/>
          <a:p>
            <a:pPr algn="ctr"/>
          </a:p>
        </p:txBody>
      </p:sp>
      <p:sp>
        <p:nvSpPr>
          <p:cNvPr id="82" name="Oval 81"/>
          <p:cNvSpPr/>
          <p:nvPr/>
        </p:nvSpPr>
        <p:spPr>
          <a:xfrm>
            <a:off x="11296650" y="6572250"/>
            <a:ext cx="76200" cy="76200"/>
          </a:xfrm>
          <a:prstGeom prst="ellipse">
            <a:avLst/>
          </a:prstGeom>
          <a:solidFill>
            <a:srgbClr val="E0E0E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76200" rIns="76200" tIns="38100" bIns="38100"/>
          <a:lstStyle/>
          <a:p>
            <a:pPr algn="ctr"/>
          </a:p>
        </p:txBody>
      </p:sp>
      <p:sp>
        <p:nvSpPr>
          <p:cNvPr id="83" name="Oval 82"/>
          <p:cNvSpPr/>
          <p:nvPr/>
        </p:nvSpPr>
        <p:spPr>
          <a:xfrm>
            <a:off x="11458575" y="6572250"/>
            <a:ext cx="76200" cy="76200"/>
          </a:xfrm>
          <a:prstGeom prst="ellipse">
            <a:avLst/>
          </a:prstGeom>
          <a:solidFill>
            <a:srgbClr val="E0E0E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76200" rIns="76200" tIns="38100" bIns="38100"/>
          <a:lstStyle/>
          <a:p>
            <a:pPr algn="ctr"/>
          </a:p>
        </p:txBody>
      </p:sp>
      <p:sp>
        <p:nvSpPr>
          <p:cNvPr id="84" name="TextBox 83"/>
          <p:cNvSpPr txBox="1"/>
          <p:nvPr/>
        </p:nvSpPr>
        <p:spPr>
          <a:xfrm>
            <a:off x="11239500" y="6610350"/>
            <a:ext cx="762000" cy="1905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r>
              <a:rPr sz="900" b="0" i="0" lang="en-US">
                <a:solidFill>
                  <a:srgbClr val="6B6B6B"/>
                </a:solidFill>
                <a:latin typeface="Noto Sans"/>
              </a:rPr>
              <a:t>19 / 28</a:t>
            </a:r>
          </a:p>
        </p:txBody>
      </p:sp>
    </p:spTree>
  </p:cSld>
  <p:clrMapOvr>
    <a:masterClrMapping/>
  </p:clrMapOvr>
</p:sld>
</file>

<file path=ppt/slides/slide2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19100" y="285750"/>
            <a:ext cx="8572500" cy="1905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r>
              <a:rPr sz="1050" b="1" i="0" lang="en-US">
                <a:solidFill>
                  <a:srgbClr val="CC0000"/>
                </a:solidFill>
                <a:latin typeface="Noto Sans"/>
              </a:rPr>
              <a:t>FLOW WALKTHROUGH · STEP 8 OF 10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19100" y="495300"/>
            <a:ext cx="9525000" cy="43815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r>
              <a:rPr sz="2100" b="1" i="0" lang="en-US">
                <a:solidFill>
                  <a:srgbClr val="1A1A1A"/>
                </a:solidFill>
                <a:latin typeface="Noto Sans"/>
              </a:rPr>
              <a:t>Tier 3 is terminal: the engine refuses to spin.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10763250" y="323850"/>
            <a:ext cx="1009650" cy="285750"/>
          </a:xfrm>
          <a:prstGeom prst="roundRect">
            <a:avLst>
              <a:gd name="adj" fmla="val 28000"/>
            </a:avLst>
          </a:prstGeom>
          <a:solidFill>
            <a:srgbClr val="CC000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76200" rIns="76200" tIns="38100" bIns="38100"/>
          <a:lstStyle/>
          <a:p>
            <a:pPr algn="ctr"/>
            <a:r>
              <a:rPr sz="1250" b="1" i="0" lang="en-US">
                <a:solidFill>
                  <a:srgbClr val="FFFFFF"/>
                </a:solidFill>
                <a:latin typeface="Noto Sans"/>
              </a:rPr>
              <a:t>ResQRules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14350" y="1123950"/>
            <a:ext cx="3810000" cy="1524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r>
              <a:rPr sz="850" b="1" i="0" lang="en-US">
                <a:solidFill>
                  <a:srgbClr val="6B6B6B"/>
                </a:solidFill>
                <a:latin typeface="Noto Sans"/>
              </a:rPr>
              <a:t>GENERAL ASSESSMENT — CHART #1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14350" y="2114550"/>
            <a:ext cx="4191000" cy="1524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r>
              <a:rPr sz="850" b="1" i="0" lang="en-US">
                <a:solidFill>
                  <a:srgbClr val="6B6B6B"/>
                </a:solidFill>
                <a:latin typeface="Noto Sans"/>
              </a:rPr>
              <a:t>CATASTROPHIC HEMORRHAGE — CHART #10</a:t>
            </a:r>
          </a:p>
        </p:txBody>
      </p:sp>
      <p:cxnSp>
        <p:nvCxnSpPr>
          <p:cNvPr id="7" name="Connector 6"/>
          <p:cNvCxnSpPr/>
          <p:nvPr/>
        </p:nvCxnSpPr>
        <p:spPr>
          <a:xfrm>
            <a:off x="1733550" y="1571625"/>
            <a:ext cx="171450" cy="0"/>
          </a:xfrm>
          <a:prstGeom prst="line">
            <a:avLst/>
          </a:prstGeom>
          <a:ln w="25400">
            <a:solidFill>
              <a:srgbClr val="4A4A4A"/>
            </a:solidFill>
            <a:tailEnd type="triangle" w="med" len="med"/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8" name="Connector 7"/>
          <p:cNvCxnSpPr/>
          <p:nvPr/>
        </p:nvCxnSpPr>
        <p:spPr>
          <a:xfrm>
            <a:off x="3162300" y="1571625"/>
            <a:ext cx="171450" cy="0"/>
          </a:xfrm>
          <a:prstGeom prst="line">
            <a:avLst/>
          </a:prstGeom>
          <a:ln w="25400">
            <a:solidFill>
              <a:srgbClr val="4A4A4A"/>
            </a:solidFill>
            <a:tailEnd type="triangle" w="med" len="med"/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9" name="Connector 8"/>
          <p:cNvCxnSpPr/>
          <p:nvPr/>
        </p:nvCxnSpPr>
        <p:spPr>
          <a:xfrm>
            <a:off x="4591050" y="1571625"/>
            <a:ext cx="133350" cy="0"/>
          </a:xfrm>
          <a:prstGeom prst="line">
            <a:avLst/>
          </a:prstGeom>
          <a:ln w="25400">
            <a:solidFill>
              <a:srgbClr val="4A4A4A"/>
            </a:solidFill>
            <a:tailEnd type="triangle" w="med" len="med"/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0" name="Connector 9"/>
          <p:cNvCxnSpPr/>
          <p:nvPr/>
        </p:nvCxnSpPr>
        <p:spPr>
          <a:xfrm>
            <a:off x="6667500" y="1571625"/>
            <a:ext cx="104775" cy="0"/>
          </a:xfrm>
          <a:prstGeom prst="line">
            <a:avLst/>
          </a:prstGeom>
          <a:ln w="25400">
            <a:solidFill>
              <a:srgbClr val="4A4A4A"/>
            </a:solidFill>
            <a:tailEnd type="triangle" w="med" len="med"/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1" name="Connector 10"/>
          <p:cNvCxnSpPr/>
          <p:nvPr/>
        </p:nvCxnSpPr>
        <p:spPr>
          <a:xfrm>
            <a:off x="7524750" y="1866900"/>
            <a:ext cx="0" cy="95250"/>
          </a:xfrm>
          <a:prstGeom prst="line">
            <a:avLst/>
          </a:prstGeom>
          <a:ln w="25400">
            <a:solidFill>
              <a:srgbClr val="4A4A4A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2" name="Connector 11"/>
          <p:cNvCxnSpPr/>
          <p:nvPr/>
        </p:nvCxnSpPr>
        <p:spPr>
          <a:xfrm flipH="1">
            <a:off x="2276475" y="1962150"/>
            <a:ext cx="5248275" cy="0"/>
          </a:xfrm>
          <a:prstGeom prst="line">
            <a:avLst/>
          </a:prstGeom>
          <a:ln w="25400">
            <a:solidFill>
              <a:srgbClr val="4A4A4A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3" name="Connector 12"/>
          <p:cNvCxnSpPr/>
          <p:nvPr/>
        </p:nvCxnSpPr>
        <p:spPr>
          <a:xfrm>
            <a:off x="2276475" y="1962150"/>
            <a:ext cx="0" cy="342900"/>
          </a:xfrm>
          <a:prstGeom prst="line">
            <a:avLst/>
          </a:prstGeom>
          <a:ln w="25400">
            <a:solidFill>
              <a:srgbClr val="4A4A4A"/>
            </a:solidFill>
            <a:tailEnd type="triangle" w="med" len="med"/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4" name="Connector 13"/>
          <p:cNvCxnSpPr/>
          <p:nvPr/>
        </p:nvCxnSpPr>
        <p:spPr>
          <a:xfrm>
            <a:off x="3676650" y="2667000"/>
            <a:ext cx="323850" cy="0"/>
          </a:xfrm>
          <a:prstGeom prst="line">
            <a:avLst/>
          </a:prstGeom>
          <a:ln w="25400">
            <a:solidFill>
              <a:srgbClr val="4A4A4A"/>
            </a:solidFill>
            <a:tailEnd type="triangle" w="med" len="med"/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5" name="Connector 14"/>
          <p:cNvCxnSpPr/>
          <p:nvPr/>
        </p:nvCxnSpPr>
        <p:spPr>
          <a:xfrm>
            <a:off x="4953000" y="2990850"/>
            <a:ext cx="0" cy="276225"/>
          </a:xfrm>
          <a:prstGeom prst="line">
            <a:avLst/>
          </a:prstGeom>
          <a:ln w="25400">
            <a:solidFill>
              <a:srgbClr val="4A4A4A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6" name="Connector 15"/>
          <p:cNvCxnSpPr/>
          <p:nvPr/>
        </p:nvCxnSpPr>
        <p:spPr>
          <a:xfrm flipH="1">
            <a:off x="2276475" y="3267075"/>
            <a:ext cx="2676525" cy="0"/>
          </a:xfrm>
          <a:prstGeom prst="line">
            <a:avLst/>
          </a:prstGeom>
          <a:ln w="25400">
            <a:solidFill>
              <a:srgbClr val="4A4A4A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7" name="Connector 16"/>
          <p:cNvCxnSpPr/>
          <p:nvPr/>
        </p:nvCxnSpPr>
        <p:spPr>
          <a:xfrm>
            <a:off x="2276475" y="3267075"/>
            <a:ext cx="0" cy="180975"/>
          </a:xfrm>
          <a:prstGeom prst="line">
            <a:avLst/>
          </a:prstGeom>
          <a:ln w="25400">
            <a:solidFill>
              <a:srgbClr val="4A4A4A"/>
            </a:solidFill>
            <a:tailEnd type="triangle" w="med" len="med"/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8" name="Connector 17"/>
          <p:cNvCxnSpPr/>
          <p:nvPr/>
        </p:nvCxnSpPr>
        <p:spPr>
          <a:xfrm>
            <a:off x="5905500" y="2667000"/>
            <a:ext cx="285750" cy="0"/>
          </a:xfrm>
          <a:prstGeom prst="line">
            <a:avLst/>
          </a:prstGeom>
          <a:ln w="19050">
            <a:solidFill>
              <a:srgbClr val="C7C7C7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9" name="Connector 18"/>
          <p:cNvCxnSpPr/>
          <p:nvPr/>
        </p:nvCxnSpPr>
        <p:spPr>
          <a:xfrm>
            <a:off x="6191250" y="2667000"/>
            <a:ext cx="0" cy="419100"/>
          </a:xfrm>
          <a:prstGeom prst="line">
            <a:avLst/>
          </a:prstGeom>
          <a:ln w="19050">
            <a:solidFill>
              <a:srgbClr val="C7C7C7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0" name="Connector 19"/>
          <p:cNvCxnSpPr/>
          <p:nvPr/>
        </p:nvCxnSpPr>
        <p:spPr>
          <a:xfrm>
            <a:off x="6191250" y="3086100"/>
            <a:ext cx="190500" cy="0"/>
          </a:xfrm>
          <a:prstGeom prst="line">
            <a:avLst/>
          </a:prstGeom>
          <a:ln w="19050">
            <a:solidFill>
              <a:srgbClr val="C7C7C7"/>
            </a:solidFill>
            <a:tailEnd type="triangle" w="med" len="med"/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1" name="Connector 20"/>
          <p:cNvCxnSpPr/>
          <p:nvPr/>
        </p:nvCxnSpPr>
        <p:spPr>
          <a:xfrm>
            <a:off x="3676650" y="3810000"/>
            <a:ext cx="323850" cy="0"/>
          </a:xfrm>
          <a:prstGeom prst="line">
            <a:avLst/>
          </a:prstGeom>
          <a:ln w="25400">
            <a:solidFill>
              <a:srgbClr val="4A4A4A"/>
            </a:solidFill>
            <a:tailEnd type="triangle" w="med" len="med"/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2" name="Connector 21"/>
          <p:cNvCxnSpPr/>
          <p:nvPr/>
        </p:nvCxnSpPr>
        <p:spPr>
          <a:xfrm>
            <a:off x="4953000" y="4133850"/>
            <a:ext cx="0" cy="276225"/>
          </a:xfrm>
          <a:prstGeom prst="line">
            <a:avLst/>
          </a:prstGeom>
          <a:ln w="31750">
            <a:solidFill>
              <a:srgbClr val="CC0000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3" name="Connector 22"/>
          <p:cNvCxnSpPr/>
          <p:nvPr/>
        </p:nvCxnSpPr>
        <p:spPr>
          <a:xfrm flipH="1">
            <a:off x="2276475" y="4410075"/>
            <a:ext cx="2676525" cy="0"/>
          </a:xfrm>
          <a:prstGeom prst="line">
            <a:avLst/>
          </a:prstGeom>
          <a:ln w="31750">
            <a:solidFill>
              <a:srgbClr val="CC0000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4" name="Connector 23"/>
          <p:cNvCxnSpPr/>
          <p:nvPr/>
        </p:nvCxnSpPr>
        <p:spPr>
          <a:xfrm>
            <a:off x="2276475" y="4410075"/>
            <a:ext cx="0" cy="180975"/>
          </a:xfrm>
          <a:prstGeom prst="line">
            <a:avLst/>
          </a:prstGeom>
          <a:ln w="31750">
            <a:solidFill>
              <a:srgbClr val="CC0000"/>
            </a:solidFill>
            <a:tailEnd type="triangle" w="med" len="med"/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5" name="Connector 24"/>
          <p:cNvCxnSpPr/>
          <p:nvPr/>
        </p:nvCxnSpPr>
        <p:spPr>
          <a:xfrm>
            <a:off x="5905500" y="3810000"/>
            <a:ext cx="285750" cy="0"/>
          </a:xfrm>
          <a:prstGeom prst="line">
            <a:avLst/>
          </a:prstGeom>
          <a:ln w="19050">
            <a:solidFill>
              <a:srgbClr val="C7C7C7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6" name="Connector 25"/>
          <p:cNvCxnSpPr/>
          <p:nvPr/>
        </p:nvCxnSpPr>
        <p:spPr>
          <a:xfrm flipV="1">
            <a:off x="6191250" y="3371850"/>
            <a:ext cx="0" cy="438150"/>
          </a:xfrm>
          <a:prstGeom prst="line">
            <a:avLst/>
          </a:prstGeom>
          <a:ln w="19050">
            <a:solidFill>
              <a:srgbClr val="C7C7C7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7" name="Connector 26"/>
          <p:cNvCxnSpPr/>
          <p:nvPr/>
        </p:nvCxnSpPr>
        <p:spPr>
          <a:xfrm>
            <a:off x="6191250" y="3371850"/>
            <a:ext cx="190500" cy="0"/>
          </a:xfrm>
          <a:prstGeom prst="line">
            <a:avLst/>
          </a:prstGeom>
          <a:ln w="19050">
            <a:solidFill>
              <a:srgbClr val="C7C7C7"/>
            </a:solidFill>
            <a:tailEnd type="triangle" w="med" len="med"/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8" name="Connector 27"/>
          <p:cNvCxnSpPr/>
          <p:nvPr/>
        </p:nvCxnSpPr>
        <p:spPr>
          <a:xfrm>
            <a:off x="3676650" y="4953000"/>
            <a:ext cx="323850" cy="0"/>
          </a:xfrm>
          <a:prstGeom prst="line">
            <a:avLst/>
          </a:prstGeom>
          <a:ln w="19050">
            <a:solidFill>
              <a:srgbClr val="C7C7C7"/>
            </a:solidFill>
            <a:tailEnd type="triangle" w="med" len="med"/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9" name="Connector 28"/>
          <p:cNvCxnSpPr/>
          <p:nvPr/>
        </p:nvCxnSpPr>
        <p:spPr>
          <a:xfrm>
            <a:off x="5905500" y="4953000"/>
            <a:ext cx="457200" cy="0"/>
          </a:xfrm>
          <a:prstGeom prst="line">
            <a:avLst/>
          </a:prstGeom>
          <a:ln w="19050">
            <a:solidFill>
              <a:srgbClr val="C7C7C7"/>
            </a:solidFill>
            <a:tailEnd type="triangle" w="med" len="med"/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0" name="Connector 29"/>
          <p:cNvCxnSpPr/>
          <p:nvPr/>
        </p:nvCxnSpPr>
        <p:spPr>
          <a:xfrm>
            <a:off x="4953000" y="5276850"/>
            <a:ext cx="0" cy="276225"/>
          </a:xfrm>
          <a:prstGeom prst="line">
            <a:avLst/>
          </a:prstGeom>
          <a:ln w="19050">
            <a:solidFill>
              <a:srgbClr val="C7C7C7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1" name="Connector 30"/>
          <p:cNvCxnSpPr/>
          <p:nvPr/>
        </p:nvCxnSpPr>
        <p:spPr>
          <a:xfrm>
            <a:off x="4953000" y="5553075"/>
            <a:ext cx="2228850" cy="0"/>
          </a:xfrm>
          <a:prstGeom prst="line">
            <a:avLst/>
          </a:prstGeom>
          <a:ln w="19050">
            <a:solidFill>
              <a:srgbClr val="C7C7C7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2" name="Connector 31"/>
          <p:cNvCxnSpPr/>
          <p:nvPr/>
        </p:nvCxnSpPr>
        <p:spPr>
          <a:xfrm flipV="1">
            <a:off x="7181850" y="5200650"/>
            <a:ext cx="0" cy="352425"/>
          </a:xfrm>
          <a:prstGeom prst="line">
            <a:avLst/>
          </a:prstGeom>
          <a:ln w="19050">
            <a:solidFill>
              <a:srgbClr val="C7C7C7"/>
            </a:solidFill>
            <a:tailEnd type="triangle" w="med" len="med"/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33" name="Rounded Rectangle 32"/>
          <p:cNvSpPr/>
          <p:nvPr/>
        </p:nvSpPr>
        <p:spPr>
          <a:xfrm>
            <a:off x="514350" y="1371600"/>
            <a:ext cx="1219200" cy="419100"/>
          </a:xfrm>
          <a:prstGeom prst="roundRect">
            <a:avLst>
              <a:gd name="adj" fmla="val 14000"/>
            </a:avLst>
          </a:prstGeom>
          <a:solidFill>
            <a:srgbClr val="FFFFFF"/>
          </a:solidFill>
          <a:ln w="25400">
            <a:solidFill>
              <a:srgbClr val="4A4A4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76200" rIns="76200" tIns="38100" bIns="38100"/>
          <a:lstStyle/>
          <a:p>
            <a:pPr algn="ctr"/>
            <a:r>
              <a:rPr sz="1100" b="1" i="0" lang="en-US">
                <a:solidFill>
                  <a:srgbClr val="1A1A1A"/>
                </a:solidFill>
                <a:latin typeface="Noto Sans"/>
              </a:rPr>
              <a:t>Safety</a:t>
            </a:r>
          </a:p>
          <a:p>
            <a:pPr algn="ctr"/>
            <a:r>
              <a:rPr sz="750" b="0" i="0" lang="en-US">
                <a:solidFill>
                  <a:srgbClr val="6B6B6B"/>
                </a:solidFill>
                <a:latin typeface="Noto Sans"/>
              </a:rPr>
              <a:t>gen_01</a:t>
            </a:r>
          </a:p>
        </p:txBody>
      </p:sp>
      <p:sp>
        <p:nvSpPr>
          <p:cNvPr id="34" name="Rounded Rectangle 33"/>
          <p:cNvSpPr/>
          <p:nvPr/>
        </p:nvSpPr>
        <p:spPr>
          <a:xfrm>
            <a:off x="1905000" y="1371600"/>
            <a:ext cx="1257300" cy="419100"/>
          </a:xfrm>
          <a:prstGeom prst="roundRect">
            <a:avLst>
              <a:gd name="adj" fmla="val 14000"/>
            </a:avLst>
          </a:prstGeom>
          <a:solidFill>
            <a:srgbClr val="FFFFFF"/>
          </a:solidFill>
          <a:ln w="25400">
            <a:solidFill>
              <a:srgbClr val="4A4A4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76200" rIns="76200" tIns="38100" bIns="38100"/>
          <a:lstStyle/>
          <a:p>
            <a:pPr algn="ctr"/>
            <a:r>
              <a:rPr sz="1100" b="1" i="0" lang="en-US">
                <a:solidFill>
                  <a:srgbClr val="1A1A1A"/>
                </a:solidFill>
                <a:latin typeface="Noto Sans"/>
              </a:rPr>
              <a:t>Scene</a:t>
            </a:r>
          </a:p>
          <a:p>
            <a:pPr algn="ctr"/>
            <a:r>
              <a:rPr sz="750" b="0" i="0" lang="en-US">
                <a:solidFill>
                  <a:srgbClr val="6B6B6B"/>
                </a:solidFill>
                <a:latin typeface="Noto Sans"/>
              </a:rPr>
              <a:t>gen_02</a:t>
            </a:r>
          </a:p>
        </p:txBody>
      </p:sp>
      <p:sp>
        <p:nvSpPr>
          <p:cNvPr id="35" name="Rounded Rectangle 34"/>
          <p:cNvSpPr/>
          <p:nvPr/>
        </p:nvSpPr>
        <p:spPr>
          <a:xfrm>
            <a:off x="3333750" y="1371600"/>
            <a:ext cx="1257300" cy="419100"/>
          </a:xfrm>
          <a:prstGeom prst="roundRect">
            <a:avLst>
              <a:gd name="adj" fmla="val 14000"/>
            </a:avLst>
          </a:prstGeom>
          <a:solidFill>
            <a:srgbClr val="FFFFFF"/>
          </a:solidFill>
          <a:ln w="25400">
            <a:solidFill>
              <a:srgbClr val="4A4A4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76200" rIns="76200" tIns="38100" bIns="38100"/>
          <a:lstStyle/>
          <a:p>
            <a:pPr algn="ctr"/>
            <a:r>
              <a:rPr sz="1100" b="1" i="0" lang="en-US">
                <a:solidFill>
                  <a:srgbClr val="1A1A1A"/>
                </a:solidFill>
                <a:latin typeface="Noto Sans"/>
              </a:rPr>
              <a:t>Situation</a:t>
            </a:r>
          </a:p>
          <a:p>
            <a:pPr algn="ctr"/>
            <a:r>
              <a:rPr sz="750" b="0" i="0" lang="en-US">
                <a:solidFill>
                  <a:srgbClr val="6B6B6B"/>
                </a:solidFill>
                <a:latin typeface="Noto Sans"/>
              </a:rPr>
              <a:t>gen_03</a:t>
            </a:r>
          </a:p>
        </p:txBody>
      </p:sp>
      <p:sp>
        <p:nvSpPr>
          <p:cNvPr id="36" name="Rounded Rectangle 35"/>
          <p:cNvSpPr/>
          <p:nvPr/>
        </p:nvSpPr>
        <p:spPr>
          <a:xfrm>
            <a:off x="4762500" y="1314450"/>
            <a:ext cx="1866900" cy="533400"/>
          </a:xfrm>
          <a:prstGeom prst="roundRect">
            <a:avLst>
              <a:gd name="adj" fmla="val 14000"/>
            </a:avLst>
          </a:prstGeom>
          <a:solidFill>
            <a:srgbClr val="FFFFFF"/>
          </a:solidFill>
          <a:ln w="25400">
            <a:solidFill>
              <a:srgbClr val="4A4A4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76200" rIns="76200" tIns="38100" bIns="38100"/>
          <a:lstStyle/>
          <a:p>
            <a:pPr algn="ctr"/>
            <a:r>
              <a:rPr sz="1100" b="1" i="0" lang="en-US">
                <a:solidFill>
                  <a:srgbClr val="1A1A1A"/>
                </a:solidFill>
                <a:latin typeface="Noto Sans"/>
              </a:rPr>
              <a:t>◇ Life-threatening bleeding?</a:t>
            </a:r>
          </a:p>
          <a:p>
            <a:pPr algn="ctr"/>
            <a:r>
              <a:rPr sz="750" b="0" i="0" lang="en-US">
                <a:solidFill>
                  <a:srgbClr val="6B6B6B"/>
                </a:solidFill>
                <a:latin typeface="Noto Sans"/>
              </a:rPr>
              <a:t>gen_04</a:t>
            </a:r>
          </a:p>
        </p:txBody>
      </p:sp>
      <p:sp>
        <p:nvSpPr>
          <p:cNvPr id="37" name="Rounded Rectangle 36"/>
          <p:cNvSpPr/>
          <p:nvPr/>
        </p:nvSpPr>
        <p:spPr>
          <a:xfrm>
            <a:off x="6819900" y="1352550"/>
            <a:ext cx="1409700" cy="495300"/>
          </a:xfrm>
          <a:prstGeom prst="roundRect">
            <a:avLst>
              <a:gd name="adj" fmla="val 14000"/>
            </a:avLst>
          </a:prstGeom>
          <a:solidFill>
            <a:srgbClr val="FFFFFF"/>
          </a:solidFill>
          <a:ln w="25400">
            <a:solidFill>
              <a:srgbClr val="4A4A4A"/>
            </a:solidFill>
            <a:prstDash val="dash"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76200" rIns="76200" tIns="38100" bIns="38100"/>
          <a:lstStyle/>
          <a:p>
            <a:pPr algn="ctr"/>
            <a:r>
              <a:rPr sz="1100" b="1" i="0" lang="en-US">
                <a:solidFill>
                  <a:srgbClr val="1A1A1A"/>
                </a:solidFill>
                <a:latin typeface="Noto Sans"/>
              </a:rPr>
              <a:t>⇢ Hemorrhage</a:t>
            </a:r>
          </a:p>
          <a:p>
            <a:pPr algn="ctr"/>
            <a:r>
              <a:rPr sz="750" b="0" i="0" lang="en-US">
                <a:solidFill>
                  <a:srgbClr val="6B6B6B"/>
                </a:solidFill>
                <a:latin typeface="Noto Sans"/>
              </a:rPr>
              <a:t>gen_05 · jump</a:t>
            </a:r>
          </a:p>
        </p:txBody>
      </p:sp>
      <p:sp>
        <p:nvSpPr>
          <p:cNvPr id="38" name="Rounded Rectangle 37"/>
          <p:cNvSpPr/>
          <p:nvPr/>
        </p:nvSpPr>
        <p:spPr>
          <a:xfrm>
            <a:off x="895350" y="2362200"/>
            <a:ext cx="2781300" cy="609600"/>
          </a:xfrm>
          <a:prstGeom prst="roundRect">
            <a:avLst>
              <a:gd name="adj" fmla="val 14000"/>
            </a:avLst>
          </a:prstGeom>
          <a:solidFill>
            <a:srgbClr val="FFFFFF"/>
          </a:solidFill>
          <a:ln w="25400">
            <a:solidFill>
              <a:srgbClr val="4A4A4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76200" rIns="76200" tIns="38100" bIns="38100"/>
          <a:lstStyle/>
          <a:p>
            <a:pPr algn="ctr"/>
            <a:r>
              <a:rPr sz="1100" b="1" i="0" lang="en-US">
                <a:solidFill>
                  <a:srgbClr val="1A1A1A"/>
                </a:solidFill>
                <a:latin typeface="Noto Sans"/>
              </a:rPr>
              <a:t>Direct pressure · compression dressing</a:t>
            </a:r>
          </a:p>
          <a:p>
            <a:pPr algn="ctr"/>
            <a:r>
              <a:rPr sz="750" b="0" i="0" lang="en-US">
                <a:solidFill>
                  <a:srgbClr val="6B6B6B"/>
                </a:solidFill>
                <a:latin typeface="Noto Sans"/>
              </a:rPr>
              <a:t>hem_01</a:t>
            </a:r>
          </a:p>
        </p:txBody>
      </p:sp>
      <p:sp>
        <p:nvSpPr>
          <p:cNvPr id="39" name="Rounded Rectangle 38"/>
          <p:cNvSpPr/>
          <p:nvPr/>
        </p:nvSpPr>
        <p:spPr>
          <a:xfrm>
            <a:off x="4038600" y="2381250"/>
            <a:ext cx="1866900" cy="571500"/>
          </a:xfrm>
          <a:prstGeom prst="roundRect">
            <a:avLst>
              <a:gd name="adj" fmla="val 14000"/>
            </a:avLst>
          </a:prstGeom>
          <a:solidFill>
            <a:srgbClr val="FFFFFF"/>
          </a:solidFill>
          <a:ln w="25400">
            <a:solidFill>
              <a:srgbClr val="4A4A4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76200" rIns="76200" tIns="38100" bIns="38100"/>
          <a:lstStyle/>
          <a:p>
            <a:pPr algn="ctr"/>
            <a:r>
              <a:rPr sz="1100" b="1" i="0" lang="en-US">
                <a:solidFill>
                  <a:srgbClr val="1A1A1A"/>
                </a:solidFill>
                <a:latin typeface="Noto Sans"/>
              </a:rPr>
              <a:t>◇ Active bleeding?</a:t>
            </a:r>
          </a:p>
          <a:p>
            <a:pPr algn="ctr"/>
            <a:r>
              <a:rPr sz="750" b="0" i="0" lang="en-US">
                <a:solidFill>
                  <a:srgbClr val="6B6B6B"/>
                </a:solidFill>
                <a:latin typeface="Noto Sans"/>
              </a:rPr>
              <a:t>hem_02</a:t>
            </a:r>
          </a:p>
        </p:txBody>
      </p:sp>
      <p:sp>
        <p:nvSpPr>
          <p:cNvPr id="40" name="Rounded Rectangle 39"/>
          <p:cNvSpPr/>
          <p:nvPr/>
        </p:nvSpPr>
        <p:spPr>
          <a:xfrm>
            <a:off x="895350" y="3505200"/>
            <a:ext cx="2781300" cy="609600"/>
          </a:xfrm>
          <a:prstGeom prst="roundRect">
            <a:avLst>
              <a:gd name="adj" fmla="val 14000"/>
            </a:avLst>
          </a:prstGeom>
          <a:solidFill>
            <a:srgbClr val="FFFFFF"/>
          </a:solidFill>
          <a:ln w="25400">
            <a:solidFill>
              <a:srgbClr val="4A4A4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76200" rIns="76200" tIns="38100" bIns="38100"/>
          <a:lstStyle/>
          <a:p>
            <a:pPr algn="ctr"/>
            <a:r>
              <a:rPr sz="1100" b="1" i="0" lang="en-US">
                <a:solidFill>
                  <a:srgbClr val="1A1A1A"/>
                </a:solidFill>
                <a:latin typeface="Noto Sans"/>
              </a:rPr>
              <a:t>Second compression bandage</a:t>
            </a:r>
          </a:p>
          <a:p>
            <a:pPr algn="ctr"/>
            <a:r>
              <a:rPr sz="750" b="0" i="0" lang="en-US">
                <a:solidFill>
                  <a:srgbClr val="6B6B6B"/>
                </a:solidFill>
                <a:latin typeface="Noto Sans"/>
              </a:rPr>
              <a:t>hem_03 · TIER 2</a:t>
            </a:r>
          </a:p>
        </p:txBody>
      </p:sp>
      <p:sp>
        <p:nvSpPr>
          <p:cNvPr id="41" name="Rounded Rectangle 40"/>
          <p:cNvSpPr/>
          <p:nvPr/>
        </p:nvSpPr>
        <p:spPr>
          <a:xfrm>
            <a:off x="4038600" y="3524250"/>
            <a:ext cx="1866900" cy="571500"/>
          </a:xfrm>
          <a:prstGeom prst="roundRect">
            <a:avLst>
              <a:gd name="adj" fmla="val 14000"/>
            </a:avLst>
          </a:prstGeom>
          <a:solidFill>
            <a:srgbClr val="FFFFFF"/>
          </a:solidFill>
          <a:ln w="25400">
            <a:solidFill>
              <a:srgbClr val="4A4A4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76200" rIns="76200" tIns="38100" bIns="38100"/>
          <a:lstStyle/>
          <a:p>
            <a:pPr algn="ctr"/>
            <a:r>
              <a:rPr sz="1100" b="1" i="0" lang="en-US">
                <a:solidFill>
                  <a:srgbClr val="1A1A1A"/>
                </a:solidFill>
                <a:latin typeface="Noto Sans"/>
              </a:rPr>
              <a:t>◇ Active bleeding?</a:t>
            </a:r>
          </a:p>
          <a:p>
            <a:pPr algn="ctr"/>
            <a:r>
              <a:rPr sz="750" b="0" i="0" lang="en-US">
                <a:solidFill>
                  <a:srgbClr val="6B6B6B"/>
                </a:solidFill>
                <a:latin typeface="Noto Sans"/>
              </a:rPr>
              <a:t>hem_04</a:t>
            </a:r>
          </a:p>
        </p:txBody>
      </p:sp>
      <p:sp>
        <p:nvSpPr>
          <p:cNvPr id="42" name="Rounded Rectangle 41"/>
          <p:cNvSpPr/>
          <p:nvPr/>
        </p:nvSpPr>
        <p:spPr>
          <a:xfrm>
            <a:off x="895350" y="4648200"/>
            <a:ext cx="2781300" cy="609600"/>
          </a:xfrm>
          <a:prstGeom prst="roundRect">
            <a:avLst>
              <a:gd name="adj" fmla="val 14000"/>
            </a:avLst>
          </a:prstGeom>
          <a:solidFill>
            <a:srgbClr val="FFEAEA"/>
          </a:solidFill>
          <a:ln w="31750">
            <a:solidFill>
              <a:srgbClr val="CC000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76200" rIns="76200" tIns="38100" bIns="38100"/>
          <a:lstStyle/>
          <a:p>
            <a:pPr algn="ctr"/>
            <a:r>
              <a:rPr sz="1100" b="1" i="0" lang="en-US">
                <a:solidFill>
                  <a:srgbClr val="1A1A1A"/>
                </a:solidFill>
                <a:latin typeface="Noto Sans"/>
              </a:rPr>
              <a:t>Tourniquet — one palm above wound</a:t>
            </a:r>
          </a:p>
          <a:p>
            <a:pPr algn="ctr"/>
            <a:r>
              <a:rPr sz="750" b="0" i="0" lang="en-US">
                <a:solidFill>
                  <a:srgbClr val="6B6B6B"/>
                </a:solidFill>
                <a:latin typeface="Noto Sans"/>
              </a:rPr>
              <a:t>hem_05 · terminal</a:t>
            </a:r>
          </a:p>
        </p:txBody>
      </p:sp>
      <p:sp>
        <p:nvSpPr>
          <p:cNvPr id="43" name="Rounded Rectangle 42"/>
          <p:cNvSpPr/>
          <p:nvPr/>
        </p:nvSpPr>
        <p:spPr>
          <a:xfrm>
            <a:off x="4038600" y="4667250"/>
            <a:ext cx="1866900" cy="571500"/>
          </a:xfrm>
          <a:prstGeom prst="roundRect">
            <a:avLst>
              <a:gd name="adj" fmla="val 14000"/>
            </a:avLst>
          </a:prstGeom>
          <a:solidFill>
            <a:srgbClr val="FFFFFF"/>
          </a:solidFill>
          <a:ln w="19050">
            <a:solidFill>
              <a:srgbClr val="E0E0E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76200" rIns="76200" tIns="38100" bIns="38100"/>
          <a:lstStyle/>
          <a:p>
            <a:pPr algn="ctr"/>
            <a:r>
              <a:rPr sz="1100" b="0" i="0" lang="en-US">
                <a:solidFill>
                  <a:srgbClr val="6B6B6B"/>
                </a:solidFill>
                <a:latin typeface="Noto Sans"/>
              </a:rPr>
              <a:t>◇ Active bleeding?</a:t>
            </a:r>
          </a:p>
          <a:p>
            <a:pPr algn="ctr"/>
            <a:r>
              <a:rPr sz="750" b="0" i="0" lang="en-US">
                <a:solidFill>
                  <a:srgbClr val="6B6B6B"/>
                </a:solidFill>
                <a:latin typeface="Noto Sans"/>
              </a:rPr>
              <a:t>hem_06</a:t>
            </a:r>
          </a:p>
        </p:txBody>
      </p:sp>
      <p:sp>
        <p:nvSpPr>
          <p:cNvPr id="44" name="Rounded Rectangle 43"/>
          <p:cNvSpPr/>
          <p:nvPr/>
        </p:nvSpPr>
        <p:spPr>
          <a:xfrm>
            <a:off x="6381750" y="2895600"/>
            <a:ext cx="2133600" cy="476250"/>
          </a:xfrm>
          <a:prstGeom prst="roundRect">
            <a:avLst>
              <a:gd name="adj" fmla="val 50000"/>
            </a:avLst>
          </a:prstGeom>
          <a:solidFill>
            <a:srgbClr val="FFFFFF"/>
          </a:solidFill>
          <a:ln w="19050">
            <a:solidFill>
              <a:srgbClr val="E0E0E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76200" rIns="76200" tIns="38100" bIns="38100"/>
          <a:lstStyle/>
          <a:p>
            <a:pPr algn="ctr"/>
            <a:r>
              <a:rPr sz="1100" b="0" i="0" lang="en-US">
                <a:solidFill>
                  <a:srgbClr val="6B6B6B"/>
                </a:solidFill>
                <a:latin typeface="Noto Sans"/>
              </a:rPr>
              <a:t>Transport to health center</a:t>
            </a:r>
          </a:p>
          <a:p>
            <a:pPr algn="ctr"/>
            <a:r>
              <a:rPr sz="750" b="0" i="0" lang="en-US">
                <a:solidFill>
                  <a:srgbClr val="6B6B6B"/>
                </a:solidFill>
                <a:latin typeface="Noto Sans"/>
              </a:rPr>
              <a:t>hem_08</a:t>
            </a:r>
          </a:p>
        </p:txBody>
      </p:sp>
      <p:sp>
        <p:nvSpPr>
          <p:cNvPr id="45" name="Rounded Rectangle 44"/>
          <p:cNvSpPr/>
          <p:nvPr/>
        </p:nvSpPr>
        <p:spPr>
          <a:xfrm>
            <a:off x="6381750" y="4724400"/>
            <a:ext cx="2133600" cy="476250"/>
          </a:xfrm>
          <a:prstGeom prst="roundRect">
            <a:avLst>
              <a:gd name="adj" fmla="val 50000"/>
            </a:avLst>
          </a:prstGeom>
          <a:solidFill>
            <a:srgbClr val="FFFFFF"/>
          </a:solidFill>
          <a:ln w="19050">
            <a:solidFill>
              <a:srgbClr val="E0E0E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76200" rIns="76200" tIns="38100" bIns="38100"/>
          <a:lstStyle/>
          <a:p>
            <a:pPr algn="ctr"/>
            <a:r>
              <a:rPr sz="1100" b="0" i="0" lang="en-US">
                <a:solidFill>
                  <a:srgbClr val="6B6B6B"/>
                </a:solidFill>
                <a:latin typeface="Noto Sans"/>
              </a:rPr>
              <a:t>URGENT transport</a:t>
            </a:r>
          </a:p>
          <a:p>
            <a:pPr algn="ctr"/>
            <a:r>
              <a:rPr sz="750" b="0" i="0" lang="en-US">
                <a:solidFill>
                  <a:srgbClr val="6B6B6B"/>
                </a:solidFill>
                <a:latin typeface="Noto Sans"/>
              </a:rPr>
              <a:t>hem_07</a:t>
            </a:r>
          </a:p>
        </p:txBody>
      </p:sp>
      <p:sp>
        <p:nvSpPr>
          <p:cNvPr id="46" name="Oval 45"/>
          <p:cNvSpPr/>
          <p:nvPr/>
        </p:nvSpPr>
        <p:spPr>
          <a:xfrm>
            <a:off x="514350" y="2533650"/>
            <a:ext cx="266700" cy="266700"/>
          </a:xfrm>
          <a:prstGeom prst="ellipse">
            <a:avLst/>
          </a:prstGeom>
          <a:solidFill>
            <a:srgbClr val="CC0000"/>
          </a:solidFill>
          <a:ln w="19050">
            <a:solidFill>
              <a:srgbClr val="CC000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76200" rIns="76200" tIns="38100" bIns="38100"/>
          <a:lstStyle/>
          <a:p>
            <a:pPr algn="ctr"/>
            <a:r>
              <a:rPr sz="1100" b="1" i="0" lang="en-US">
                <a:solidFill>
                  <a:srgbClr val="FFFFFF"/>
                </a:solidFill>
                <a:latin typeface="Noto Sans"/>
              </a:rPr>
              <a:t>1</a:t>
            </a:r>
          </a:p>
        </p:txBody>
      </p:sp>
      <p:sp>
        <p:nvSpPr>
          <p:cNvPr id="47" name="Oval 46"/>
          <p:cNvSpPr/>
          <p:nvPr/>
        </p:nvSpPr>
        <p:spPr>
          <a:xfrm>
            <a:off x="514350" y="3676650"/>
            <a:ext cx="266700" cy="266700"/>
          </a:xfrm>
          <a:prstGeom prst="ellipse">
            <a:avLst/>
          </a:prstGeom>
          <a:solidFill>
            <a:srgbClr val="CC0000"/>
          </a:solidFill>
          <a:ln w="19050">
            <a:solidFill>
              <a:srgbClr val="CC000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76200" rIns="76200" tIns="38100" bIns="38100"/>
          <a:lstStyle/>
          <a:p>
            <a:pPr algn="ctr"/>
            <a:r>
              <a:rPr sz="1100" b="1" i="0" lang="en-US">
                <a:solidFill>
                  <a:srgbClr val="FFFFFF"/>
                </a:solidFill>
                <a:latin typeface="Noto Sans"/>
              </a:rPr>
              <a:t>2</a:t>
            </a:r>
          </a:p>
        </p:txBody>
      </p:sp>
      <p:sp>
        <p:nvSpPr>
          <p:cNvPr id="48" name="Oval 47"/>
          <p:cNvSpPr/>
          <p:nvPr/>
        </p:nvSpPr>
        <p:spPr>
          <a:xfrm>
            <a:off x="514350" y="4819650"/>
            <a:ext cx="266700" cy="266700"/>
          </a:xfrm>
          <a:prstGeom prst="ellipse">
            <a:avLst/>
          </a:prstGeom>
          <a:solidFill>
            <a:srgbClr val="CC0000"/>
          </a:solidFill>
          <a:ln w="19050">
            <a:solidFill>
              <a:srgbClr val="CC000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76200" rIns="76200" tIns="38100" bIns="38100"/>
          <a:lstStyle/>
          <a:p>
            <a:pPr algn="ctr"/>
            <a:r>
              <a:rPr sz="1100" b="1" i="0" lang="en-US">
                <a:solidFill>
                  <a:srgbClr val="FFFFFF"/>
                </a:solidFill>
                <a:latin typeface="Noto Sans"/>
              </a:rPr>
              <a:t>3</a:t>
            </a:r>
          </a:p>
        </p:txBody>
      </p:sp>
      <p:sp>
        <p:nvSpPr>
          <p:cNvPr id="49" name="Rounded Rectangle 48"/>
          <p:cNvSpPr/>
          <p:nvPr/>
        </p:nvSpPr>
        <p:spPr>
          <a:xfrm>
            <a:off x="3467100" y="1847850"/>
            <a:ext cx="3143250" cy="228600"/>
          </a:xfrm>
          <a:prstGeom prst="roundRect">
            <a:avLst>
              <a:gd name="adj" fmla="val 40000"/>
            </a:avLst>
          </a:prstGeom>
          <a:solidFill>
            <a:srgbClr val="FFFFFF"/>
          </a:solidFill>
          <a:ln w="15875">
            <a:solidFill>
              <a:srgbClr val="4A4A4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76200" rIns="76200" tIns="38100" bIns="38100"/>
          <a:lstStyle/>
          <a:p>
            <a:pPr algn="ctr"/>
            <a:r>
              <a:rPr sz="900" b="1" i="0" lang="en-US">
                <a:solidFill>
                  <a:srgbClr val="4A4A4A"/>
                </a:solidFill>
                <a:latin typeface="Noto Sans"/>
              </a:rPr>
              <a:t>yes →  &gt;&gt; JUMP to chart 'hemorrhage' &lt;&lt;</a:t>
            </a:r>
          </a:p>
        </p:txBody>
      </p:sp>
      <p:sp>
        <p:nvSpPr>
          <p:cNvPr id="50" name="Rounded Rectangle 49"/>
          <p:cNvSpPr/>
          <p:nvPr/>
        </p:nvSpPr>
        <p:spPr>
          <a:xfrm>
            <a:off x="2895600" y="3143250"/>
            <a:ext cx="1619250" cy="228600"/>
          </a:xfrm>
          <a:prstGeom prst="roundRect">
            <a:avLst>
              <a:gd name="adj" fmla="val 40000"/>
            </a:avLst>
          </a:prstGeom>
          <a:solidFill>
            <a:srgbClr val="FFFFFF"/>
          </a:solidFill>
          <a:ln w="15875">
            <a:solidFill>
              <a:srgbClr val="CC000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76200" rIns="76200" tIns="38100" bIns="38100"/>
          <a:lstStyle/>
          <a:p>
            <a:pPr algn="ctr"/>
            <a:r>
              <a:rPr sz="900" b="1" i="0" lang="en-US">
                <a:solidFill>
                  <a:srgbClr val="CC0000"/>
                </a:solidFill>
                <a:latin typeface="Noto Sans"/>
              </a:rPr>
              <a:t>yes — still bleeding</a:t>
            </a:r>
          </a:p>
        </p:txBody>
      </p:sp>
      <p:sp>
        <p:nvSpPr>
          <p:cNvPr id="51" name="Rounded Rectangle 50"/>
          <p:cNvSpPr/>
          <p:nvPr/>
        </p:nvSpPr>
        <p:spPr>
          <a:xfrm>
            <a:off x="2895600" y="4286250"/>
            <a:ext cx="1619250" cy="228600"/>
          </a:xfrm>
          <a:prstGeom prst="roundRect">
            <a:avLst>
              <a:gd name="adj" fmla="val 40000"/>
            </a:avLst>
          </a:prstGeom>
          <a:solidFill>
            <a:srgbClr val="FFFFFF"/>
          </a:solidFill>
          <a:ln w="15875">
            <a:solidFill>
              <a:srgbClr val="CC000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76200" rIns="76200" tIns="38100" bIns="38100"/>
          <a:lstStyle/>
          <a:p>
            <a:pPr algn="ctr"/>
            <a:r>
              <a:rPr sz="900" b="1" i="0" lang="en-US">
                <a:solidFill>
                  <a:srgbClr val="CC0000"/>
                </a:solidFill>
                <a:latin typeface="Noto Sans"/>
              </a:rPr>
              <a:t>yes — still bleeding</a:t>
            </a:r>
          </a:p>
        </p:txBody>
      </p:sp>
      <p:sp>
        <p:nvSpPr>
          <p:cNvPr id="52" name="Rounded Rectangle 51"/>
          <p:cNvSpPr/>
          <p:nvPr/>
        </p:nvSpPr>
        <p:spPr>
          <a:xfrm>
            <a:off x="6191250" y="2247900"/>
            <a:ext cx="1428750" cy="228600"/>
          </a:xfrm>
          <a:prstGeom prst="roundRect">
            <a:avLst>
              <a:gd name="adj" fmla="val 40000"/>
            </a:avLst>
          </a:prstGeom>
          <a:solidFill>
            <a:srgbClr val="FFFFFF"/>
          </a:solidFill>
          <a:ln w="15875">
            <a:solidFill>
              <a:srgbClr val="A9C9B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76200" rIns="76200" tIns="38100" bIns="38100"/>
          <a:lstStyle/>
          <a:p>
            <a:pPr algn="ctr"/>
            <a:r>
              <a:rPr sz="900" b="1" i="0" lang="en-US">
                <a:solidFill>
                  <a:srgbClr val="A9C9BA"/>
                </a:solidFill>
                <a:latin typeface="Noto Sans"/>
              </a:rPr>
              <a:t>✓ no — controlled</a:t>
            </a:r>
          </a:p>
        </p:txBody>
      </p:sp>
      <p:sp>
        <p:nvSpPr>
          <p:cNvPr id="53" name="Rounded Rectangle 52"/>
          <p:cNvSpPr/>
          <p:nvPr/>
        </p:nvSpPr>
        <p:spPr>
          <a:xfrm>
            <a:off x="6191250" y="3962400"/>
            <a:ext cx="1428750" cy="228600"/>
          </a:xfrm>
          <a:prstGeom prst="roundRect">
            <a:avLst>
              <a:gd name="adj" fmla="val 40000"/>
            </a:avLst>
          </a:prstGeom>
          <a:solidFill>
            <a:srgbClr val="FFFFFF"/>
          </a:solidFill>
          <a:ln w="15875">
            <a:solidFill>
              <a:srgbClr val="A9C9B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76200" rIns="76200" tIns="38100" bIns="38100"/>
          <a:lstStyle/>
          <a:p>
            <a:pPr algn="ctr"/>
            <a:r>
              <a:rPr sz="900" b="1" i="0" lang="en-US">
                <a:solidFill>
                  <a:srgbClr val="A9C9BA"/>
                </a:solidFill>
                <a:latin typeface="Noto Sans"/>
              </a:rPr>
              <a:t>✓ no — controlled</a:t>
            </a:r>
          </a:p>
        </p:txBody>
      </p:sp>
      <p:sp>
        <p:nvSpPr>
          <p:cNvPr id="54" name="Rounded Rectangle 53"/>
          <p:cNvSpPr/>
          <p:nvPr/>
        </p:nvSpPr>
        <p:spPr>
          <a:xfrm>
            <a:off x="5962650" y="5181600"/>
            <a:ext cx="628650" cy="209550"/>
          </a:xfrm>
          <a:prstGeom prst="roundRect">
            <a:avLst>
              <a:gd name="adj" fmla="val 40000"/>
            </a:avLst>
          </a:prstGeom>
          <a:solidFill>
            <a:srgbClr val="FFFFFF"/>
          </a:solidFill>
          <a:ln w="15875">
            <a:solidFill>
              <a:srgbClr val="A9C9B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76200" rIns="76200" tIns="38100" bIns="38100"/>
          <a:lstStyle/>
          <a:p>
            <a:pPr algn="ctr"/>
            <a:r>
              <a:rPr sz="900" b="1" i="0" lang="en-US">
                <a:solidFill>
                  <a:srgbClr val="A9C9BA"/>
                </a:solidFill>
                <a:latin typeface="Noto Sans"/>
              </a:rPr>
              <a:t>✓ no</a:t>
            </a:r>
          </a:p>
        </p:txBody>
      </p:sp>
      <p:sp>
        <p:nvSpPr>
          <p:cNvPr id="55" name="Rounded Rectangle 54"/>
          <p:cNvSpPr/>
          <p:nvPr/>
        </p:nvSpPr>
        <p:spPr>
          <a:xfrm>
            <a:off x="2381250" y="5429250"/>
            <a:ext cx="4095750" cy="228600"/>
          </a:xfrm>
          <a:prstGeom prst="roundRect">
            <a:avLst>
              <a:gd name="adj" fmla="val 40000"/>
            </a:avLst>
          </a:prstGeom>
          <a:solidFill>
            <a:srgbClr val="FFF3EB"/>
          </a:solidFill>
          <a:ln w="15875">
            <a:solidFill>
              <a:srgbClr val="B54A0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76200" rIns="76200" tIns="38100" bIns="38100"/>
          <a:lstStyle/>
          <a:p>
            <a:pPr algn="ctr"/>
            <a:r>
              <a:rPr sz="900" b="1" i="0" lang="en-US">
                <a:solidFill>
                  <a:srgbClr val="B54A00"/>
                </a:solidFill>
                <a:latin typeface="Noto Sans"/>
              </a:rPr>
              <a:t>⚠ yes at terminal tier → HOLD, no tier 4 (flagged divergence)</a:t>
            </a:r>
          </a:p>
        </p:txBody>
      </p:sp>
      <p:sp>
        <p:nvSpPr>
          <p:cNvPr id="56" name="Rounded Rectangle 55"/>
          <p:cNvSpPr/>
          <p:nvPr/>
        </p:nvSpPr>
        <p:spPr>
          <a:xfrm>
            <a:off x="8877300" y="1123950"/>
            <a:ext cx="2895600" cy="5257800"/>
          </a:xfrm>
          <a:prstGeom prst="roundRect">
            <a:avLst>
              <a:gd name="adj" fmla="val 5000"/>
            </a:avLst>
          </a:prstGeom>
          <a:solidFill>
            <a:srgbClr val="FFFFFF"/>
          </a:solidFill>
          <a:ln w="19050">
            <a:solidFill>
              <a:srgbClr val="E0E0E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76200" rIns="76200" tIns="38100" bIns="38100"/>
          <a:lstStyle/>
          <a:p>
            <a:pPr algn="ctr"/>
          </a:p>
        </p:txBody>
      </p:sp>
      <p:sp>
        <p:nvSpPr>
          <p:cNvPr id="57" name="TextBox 56"/>
          <p:cNvSpPr txBox="1"/>
          <p:nvPr/>
        </p:nvSpPr>
        <p:spPr>
          <a:xfrm>
            <a:off x="9048750" y="1257300"/>
            <a:ext cx="2476500" cy="1905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r>
              <a:rPr sz="1000" b="1" i="0" lang="en-US">
                <a:solidFill>
                  <a:srgbClr val="1A1A1A"/>
                </a:solidFill>
                <a:latin typeface="Noto Sans"/>
              </a:rPr>
              <a:t>ENGINE STATE</a:t>
            </a:r>
          </a:p>
        </p:txBody>
      </p:sp>
      <p:cxnSp>
        <p:nvCxnSpPr>
          <p:cNvPr id="58" name="Connector 57"/>
          <p:cNvCxnSpPr/>
          <p:nvPr/>
        </p:nvCxnSpPr>
        <p:spPr>
          <a:xfrm>
            <a:off x="9048750" y="1485900"/>
            <a:ext cx="2552700" cy="0"/>
          </a:xfrm>
          <a:prstGeom prst="line">
            <a:avLst/>
          </a:prstGeom>
          <a:ln w="12700">
            <a:solidFill>
              <a:srgbClr val="E0E0E0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59" name="TextBox 58"/>
          <p:cNvSpPr txBox="1"/>
          <p:nvPr/>
        </p:nvSpPr>
        <p:spPr>
          <a:xfrm>
            <a:off x="9048750" y="1581150"/>
            <a:ext cx="2476500" cy="1524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r>
              <a:rPr sz="800" b="1" i="0" lang="en-US">
                <a:solidFill>
                  <a:srgbClr val="6B6B6B"/>
                </a:solidFill>
                <a:latin typeface="Noto Sans"/>
              </a:rPr>
              <a:t>WORKING MEMORY</a:t>
            </a:r>
          </a:p>
        </p:txBody>
      </p:sp>
      <p:sp>
        <p:nvSpPr>
          <p:cNvPr id="60" name="Rounded Rectangle 59"/>
          <p:cNvSpPr/>
          <p:nvPr/>
        </p:nvSpPr>
        <p:spPr>
          <a:xfrm>
            <a:off x="9048750" y="1771650"/>
            <a:ext cx="1504950" cy="247650"/>
          </a:xfrm>
          <a:prstGeom prst="roundRect">
            <a:avLst>
              <a:gd name="adj" fmla="val 50000"/>
            </a:avLst>
          </a:prstGeom>
          <a:solidFill>
            <a:srgbClr val="F5F5F5"/>
          </a:solidFill>
          <a:ln w="15875">
            <a:solidFill>
              <a:srgbClr val="E0E0E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76200" rIns="76200" tIns="38100" bIns="38100"/>
          <a:lstStyle/>
          <a:p>
            <a:pPr algn="ctr"/>
            <a:r>
              <a:rPr sz="1000" b="0" i="0" lang="en-US">
                <a:solidFill>
                  <a:srgbClr val="4A4A4A"/>
                </a:solidFill>
                <a:latin typeface="Consolas"/>
              </a:rPr>
              <a:t>Position(nid=hem_05)</a:t>
            </a:r>
          </a:p>
        </p:txBody>
      </p:sp>
      <p:sp>
        <p:nvSpPr>
          <p:cNvPr id="61" name="Rounded Rectangle 60"/>
          <p:cNvSpPr/>
          <p:nvPr/>
        </p:nvSpPr>
        <p:spPr>
          <a:xfrm>
            <a:off x="9048750" y="2076450"/>
            <a:ext cx="1748790" cy="247650"/>
          </a:xfrm>
          <a:prstGeom prst="roundRect">
            <a:avLst>
              <a:gd name="adj" fmla="val 50000"/>
            </a:avLst>
          </a:prstGeom>
          <a:solidFill>
            <a:srgbClr val="F5F5F5"/>
          </a:solidFill>
          <a:ln w="15875">
            <a:solidFill>
              <a:srgbClr val="E0E0E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76200" rIns="76200" tIns="38100" bIns="38100"/>
          <a:lstStyle/>
          <a:p>
            <a:pPr algn="ctr"/>
            <a:r>
              <a:rPr sz="1000" b="0" i="0" lang="en-US">
                <a:solidFill>
                  <a:srgbClr val="4A4A4A"/>
                </a:solidFill>
                <a:latin typeface="Consolas"/>
              </a:rPr>
              <a:t>Active(chart=hemorrhage)</a:t>
            </a:r>
          </a:p>
        </p:txBody>
      </p:sp>
      <p:sp>
        <p:nvSpPr>
          <p:cNvPr id="62" name="Rounded Rectangle 61"/>
          <p:cNvSpPr/>
          <p:nvPr/>
        </p:nvSpPr>
        <p:spPr>
          <a:xfrm>
            <a:off x="9048750" y="2381250"/>
            <a:ext cx="1261110" cy="247650"/>
          </a:xfrm>
          <a:prstGeom prst="roundRect">
            <a:avLst>
              <a:gd name="adj" fmla="val 50000"/>
            </a:avLst>
          </a:prstGeom>
          <a:solidFill>
            <a:srgbClr val="FFEAEA"/>
          </a:solidFill>
          <a:ln w="15875">
            <a:solidFill>
              <a:srgbClr val="CC000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76200" rIns="76200" tIns="38100" bIns="38100"/>
          <a:lstStyle/>
          <a:p>
            <a:pPr algn="ctr"/>
            <a:r>
              <a:rPr sz="1000" b="1" i="0" lang="en-US">
                <a:solidFill>
                  <a:srgbClr val="990000"/>
                </a:solidFill>
                <a:latin typeface="Consolas"/>
              </a:rPr>
              <a:t>Bleeding(tier=3)</a:t>
            </a:r>
          </a:p>
        </p:txBody>
      </p:sp>
      <p:sp>
        <p:nvSpPr>
          <p:cNvPr id="63" name="TextBox 62"/>
          <p:cNvSpPr txBox="1"/>
          <p:nvPr/>
        </p:nvSpPr>
        <p:spPr>
          <a:xfrm>
            <a:off x="9048750" y="2743200"/>
            <a:ext cx="2476500" cy="1524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r>
              <a:rPr sz="800" b="1" i="0" lang="en-US">
                <a:solidFill>
                  <a:srgbClr val="6B6B6B"/>
                </a:solidFill>
                <a:latin typeface="Noto Sans"/>
              </a:rPr>
              <a:t>RULE FIRED</a:t>
            </a:r>
          </a:p>
        </p:txBody>
      </p:sp>
      <p:sp>
        <p:nvSpPr>
          <p:cNvPr id="64" name="TextBox 63"/>
          <p:cNvSpPr txBox="1"/>
          <p:nvPr/>
        </p:nvSpPr>
        <p:spPr>
          <a:xfrm>
            <a:off x="9048750" y="2914650"/>
            <a:ext cx="2552700" cy="2286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r>
              <a:rPr sz="1300" b="1" i="0" lang="en-US">
                <a:solidFill>
                  <a:srgbClr val="1A1A1A"/>
                </a:solidFill>
                <a:latin typeface="Consolas"/>
              </a:rPr>
              <a:t>hem_decide</a:t>
            </a:r>
            <a:r>
              <a:rPr sz="950" b="0" i="0" lang="en-US">
                <a:solidFill>
                  <a:srgbClr val="4A4A4A"/>
                </a:solidFill>
                <a:latin typeface="Noto Sans"/>
              </a:rPr>
              <a:t>   salience 10</a:t>
            </a:r>
          </a:p>
        </p:txBody>
      </p:sp>
      <p:sp>
        <p:nvSpPr>
          <p:cNvPr id="65" name="TextBox 64"/>
          <p:cNvSpPr txBox="1"/>
          <p:nvPr/>
        </p:nvSpPr>
        <p:spPr>
          <a:xfrm>
            <a:off x="9048750" y="3219450"/>
            <a:ext cx="2476500" cy="1524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r>
              <a:rPr sz="800" b="1" i="0" lang="en-US">
                <a:solidFill>
                  <a:srgbClr val="6B6B6B"/>
                </a:solidFill>
                <a:latin typeface="Noto Sans"/>
              </a:rPr>
              <a:t>Δ THIS STEP</a:t>
            </a:r>
          </a:p>
        </p:txBody>
      </p:sp>
      <p:sp>
        <p:nvSpPr>
          <p:cNvPr id="66" name="TextBox 65"/>
          <p:cNvSpPr txBox="1"/>
          <p:nvPr/>
        </p:nvSpPr>
        <p:spPr>
          <a:xfrm>
            <a:off x="9048750" y="3390900"/>
            <a:ext cx="2552700" cy="1905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r>
              <a:rPr sz="1100" b="1" i="0" lang="en-US">
                <a:solidFill>
                  <a:srgbClr val="6B6B6B"/>
                </a:solidFill>
                <a:latin typeface="Consolas"/>
              </a:rPr>
              <a:t>− </a:t>
            </a:r>
            <a:r>
              <a:rPr sz="1100" b="0" i="0" lang="en-US" strike="sngStrike">
                <a:solidFill>
                  <a:srgbClr val="6B6B6B"/>
                </a:solidFill>
                <a:latin typeface="Consolas"/>
              </a:rPr>
              <a:t>Bleeding(tier=2)</a:t>
            </a:r>
            <a:r>
              <a:rPr sz="850" b="0" i="0" lang="en-US">
                <a:solidFill>
                  <a:srgbClr val="6B6B6B"/>
                </a:solidFill>
                <a:latin typeface="Noto Sans"/>
              </a:rPr>
              <a:t>  retract</a:t>
            </a:r>
          </a:p>
        </p:txBody>
      </p:sp>
      <p:sp>
        <p:nvSpPr>
          <p:cNvPr id="67" name="TextBox 66"/>
          <p:cNvSpPr txBox="1"/>
          <p:nvPr/>
        </p:nvSpPr>
        <p:spPr>
          <a:xfrm>
            <a:off x="9048750" y="3619500"/>
            <a:ext cx="2552700" cy="1905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r>
              <a:rPr sz="1100" b="1" i="0" lang="en-US">
                <a:solidFill>
                  <a:srgbClr val="CC0000"/>
                </a:solidFill>
                <a:latin typeface="Consolas"/>
              </a:rPr>
              <a:t>+ </a:t>
            </a:r>
            <a:r>
              <a:rPr sz="1100" b="1" i="0" lang="en-US">
                <a:solidFill>
                  <a:srgbClr val="990000"/>
                </a:solidFill>
                <a:latin typeface="Consolas"/>
              </a:rPr>
              <a:t>Bleeding(tier=3)</a:t>
            </a:r>
            <a:r>
              <a:rPr sz="850" b="0" i="0" lang="en-US">
                <a:solidFill>
                  <a:srgbClr val="6B6B6B"/>
                </a:solidFill>
                <a:latin typeface="Noto Sans"/>
              </a:rPr>
              <a:t>  declare</a:t>
            </a:r>
          </a:p>
        </p:txBody>
      </p:sp>
      <p:sp>
        <p:nvSpPr>
          <p:cNvPr id="68" name="Rounded Rectangle 67"/>
          <p:cNvSpPr/>
          <p:nvPr/>
        </p:nvSpPr>
        <p:spPr>
          <a:xfrm>
            <a:off x="9048750" y="3905250"/>
            <a:ext cx="38100" cy="419100"/>
          </a:xfrm>
          <a:prstGeom prst="roundRect">
            <a:avLst>
              <a:gd name="adj" fmla="val 30000"/>
            </a:avLst>
          </a:prstGeom>
          <a:solidFill>
            <a:srgbClr val="CC000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76200" rIns="76200" tIns="38100" bIns="38100"/>
          <a:lstStyle/>
          <a:p>
            <a:pPr algn="ctr"/>
          </a:p>
        </p:txBody>
      </p:sp>
      <p:sp>
        <p:nvSpPr>
          <p:cNvPr id="69" name="TextBox 68"/>
          <p:cNvSpPr txBox="1"/>
          <p:nvPr/>
        </p:nvSpPr>
        <p:spPr>
          <a:xfrm>
            <a:off x="9163050" y="3905250"/>
            <a:ext cx="2438400" cy="4953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>
              <a:lnSpc>
                <a:spcPct val="110000"/>
              </a:lnSpc>
            </a:pPr>
            <a:r>
              <a:rPr sz="1000" b="1" i="0" lang="en-US">
                <a:solidFill>
                  <a:srgbClr val="1A1A1A"/>
                </a:solidFill>
                <a:latin typeface="Noto Sans"/>
              </a:rPr>
              <a:t>Chart draws an endless re-apply loop; we cap at terminal — a flagged divergence.</a:t>
            </a:r>
          </a:p>
        </p:txBody>
      </p:sp>
      <p:sp>
        <p:nvSpPr>
          <p:cNvPr id="70" name="TextBox 69"/>
          <p:cNvSpPr txBox="1"/>
          <p:nvPr/>
        </p:nvSpPr>
        <p:spPr>
          <a:xfrm>
            <a:off x="9048750" y="5086350"/>
            <a:ext cx="2476500" cy="1524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r>
              <a:rPr sz="800" b="1" i="0" lang="en-US">
                <a:solidFill>
                  <a:srgbClr val="6B6B6B"/>
                </a:solidFill>
                <a:latin typeface="Noto Sans"/>
              </a:rPr>
              <a:t>ENGINE OUTPUT (VERBATIM)</a:t>
            </a:r>
          </a:p>
        </p:txBody>
      </p:sp>
      <p:sp>
        <p:nvSpPr>
          <p:cNvPr id="71" name="Rounded Rectangle 70"/>
          <p:cNvSpPr/>
          <p:nvPr/>
        </p:nvSpPr>
        <p:spPr>
          <a:xfrm>
            <a:off x="9048750" y="5257800"/>
            <a:ext cx="2552700" cy="800100"/>
          </a:xfrm>
          <a:prstGeom prst="roundRect">
            <a:avLst>
              <a:gd name="adj" fmla="val 6000"/>
            </a:avLst>
          </a:prstGeom>
          <a:solidFill>
            <a:srgbClr val="F5F5F5"/>
          </a:solidFill>
          <a:ln w="15875">
            <a:solidFill>
              <a:srgbClr val="E0E0E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 wrap="square" lIns="114300" rIns="114300" tIns="76200" bIns="76200"/>
          <a:lstStyle/>
          <a:p>
            <a:pPr algn="ctr">
              <a:lnSpc>
                <a:spcPct val="115000"/>
              </a:lnSpc>
            </a:pPr>
            <a:r>
              <a:rPr sz="850" b="0" i="0" lang="en-US">
                <a:solidFill>
                  <a:srgbClr val="4A4A4A"/>
                </a:solidFill>
                <a:latin typeface="Consolas"/>
              </a:rPr>
              <a:t>&gt;&gt; still bleeding -&gt; ADVANCE</a:t>
            </a:r>
          </a:p>
          <a:p>
            <a:pPr>
              <a:lnSpc>
                <a:spcPct val="115000"/>
              </a:lnSpc>
            </a:pPr>
            <a:r>
              <a:rPr sz="850" b="0" i="0" lang="en-US">
                <a:solidFill>
                  <a:srgbClr val="4A4A4A"/>
                </a:solidFill>
                <a:latin typeface="Consolas"/>
              </a:rPr>
              <a:t>tier 2 -&gt; 3</a:t>
            </a:r>
          </a:p>
          <a:p>
            <a:pPr>
              <a:lnSpc>
                <a:spcPct val="115000"/>
              </a:lnSpc>
            </a:pPr>
            <a:r>
              <a:rPr sz="850" b="0" i="0" lang="en-US">
                <a:solidFill>
                  <a:srgbClr val="4A4A4A"/>
                </a:solidFill>
                <a:latin typeface="Consolas"/>
              </a:rPr>
              <a:t>&gt;&gt; ESCALATION TIER 3:</a:t>
            </a:r>
          </a:p>
          <a:p>
            <a:pPr>
              <a:lnSpc>
                <a:spcPct val="115000"/>
              </a:lnSpc>
            </a:pPr>
            <a:r>
              <a:rPr sz="850" b="0" i="0" lang="en-US">
                <a:solidFill>
                  <a:srgbClr val="4A4A4A"/>
                </a:solidFill>
                <a:latin typeface="Consolas"/>
              </a:rPr>
              <a:t>Installation of tourniquet…</a:t>
            </a:r>
          </a:p>
        </p:txBody>
      </p:sp>
      <p:sp>
        <p:nvSpPr>
          <p:cNvPr id="72" name="TextBox 71"/>
          <p:cNvSpPr txBox="1"/>
          <p:nvPr/>
        </p:nvSpPr>
        <p:spPr>
          <a:xfrm>
            <a:off x="9048750" y="6096000"/>
            <a:ext cx="2552700" cy="2286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r>
              <a:rPr sz="750" b="0" i="0" lang="en-US">
                <a:solidFill>
                  <a:srgbClr val="6B6B6B"/>
                </a:solidFill>
                <a:latin typeface="Noto Sans"/>
              </a:rPr>
              <a:t>real session · presentation/traces/walkthrough_yes_branch_en.txt</a:t>
            </a:r>
          </a:p>
        </p:txBody>
      </p:sp>
      <p:sp>
        <p:nvSpPr>
          <p:cNvPr id="73" name="Rounded Rectangle 72"/>
          <p:cNvSpPr/>
          <p:nvPr/>
        </p:nvSpPr>
        <p:spPr>
          <a:xfrm>
            <a:off x="419100" y="6496050"/>
            <a:ext cx="4953000" cy="247650"/>
          </a:xfrm>
          <a:prstGeom prst="roundRect">
            <a:avLst>
              <a:gd name="adj" fmla="val 50000"/>
            </a:avLst>
          </a:prstGeom>
          <a:solidFill>
            <a:srgbClr val="F5F5F5"/>
          </a:solidFill>
          <a:ln w="15875">
            <a:solidFill>
              <a:srgbClr val="E0E0E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76200" rIns="76200" tIns="38100" bIns="38100"/>
          <a:lstStyle/>
          <a:p>
            <a:pPr algn="ctr"/>
            <a:r>
              <a:rPr sz="900" b="0" i="0" lang="en-US">
                <a:solidFill>
                  <a:srgbClr val="4A4A4A"/>
                </a:solidFill>
                <a:latin typeface="Noto Sans"/>
              </a:rPr>
              <a:t>SARC charts #1 + #10 · data/general_assessment.json · data/hemorrhage.json</a:t>
            </a:r>
          </a:p>
        </p:txBody>
      </p:sp>
      <p:sp>
        <p:nvSpPr>
          <p:cNvPr id="74" name="Oval 73"/>
          <p:cNvSpPr/>
          <p:nvPr/>
        </p:nvSpPr>
        <p:spPr>
          <a:xfrm>
            <a:off x="10001250" y="6572250"/>
            <a:ext cx="76200" cy="76200"/>
          </a:xfrm>
          <a:prstGeom prst="ellipse">
            <a:avLst/>
          </a:prstGeom>
          <a:solidFill>
            <a:srgbClr val="4A4A4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76200" rIns="76200" tIns="38100" bIns="38100"/>
          <a:lstStyle/>
          <a:p>
            <a:pPr algn="ctr"/>
          </a:p>
        </p:txBody>
      </p:sp>
      <p:sp>
        <p:nvSpPr>
          <p:cNvPr id="75" name="Oval 74"/>
          <p:cNvSpPr/>
          <p:nvPr/>
        </p:nvSpPr>
        <p:spPr>
          <a:xfrm>
            <a:off x="10163175" y="6572250"/>
            <a:ext cx="76200" cy="76200"/>
          </a:xfrm>
          <a:prstGeom prst="ellipse">
            <a:avLst/>
          </a:prstGeom>
          <a:solidFill>
            <a:srgbClr val="4A4A4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76200" rIns="76200" tIns="38100" bIns="38100"/>
          <a:lstStyle/>
          <a:p>
            <a:pPr algn="ctr"/>
          </a:p>
        </p:txBody>
      </p:sp>
      <p:sp>
        <p:nvSpPr>
          <p:cNvPr id="76" name="Oval 75"/>
          <p:cNvSpPr/>
          <p:nvPr/>
        </p:nvSpPr>
        <p:spPr>
          <a:xfrm>
            <a:off x="10325100" y="6572250"/>
            <a:ext cx="76200" cy="76200"/>
          </a:xfrm>
          <a:prstGeom prst="ellipse">
            <a:avLst/>
          </a:prstGeom>
          <a:solidFill>
            <a:srgbClr val="4A4A4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76200" rIns="76200" tIns="38100" bIns="38100"/>
          <a:lstStyle/>
          <a:p>
            <a:pPr algn="ctr"/>
          </a:p>
        </p:txBody>
      </p:sp>
      <p:sp>
        <p:nvSpPr>
          <p:cNvPr id="77" name="Oval 76"/>
          <p:cNvSpPr/>
          <p:nvPr/>
        </p:nvSpPr>
        <p:spPr>
          <a:xfrm>
            <a:off x="10487025" y="6572250"/>
            <a:ext cx="76200" cy="76200"/>
          </a:xfrm>
          <a:prstGeom prst="ellipse">
            <a:avLst/>
          </a:prstGeom>
          <a:solidFill>
            <a:srgbClr val="4A4A4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76200" rIns="76200" tIns="38100" bIns="38100"/>
          <a:lstStyle/>
          <a:p>
            <a:pPr algn="ctr"/>
          </a:p>
        </p:txBody>
      </p:sp>
      <p:sp>
        <p:nvSpPr>
          <p:cNvPr id="78" name="Oval 77"/>
          <p:cNvSpPr/>
          <p:nvPr/>
        </p:nvSpPr>
        <p:spPr>
          <a:xfrm>
            <a:off x="10648950" y="6572250"/>
            <a:ext cx="76200" cy="76200"/>
          </a:xfrm>
          <a:prstGeom prst="ellipse">
            <a:avLst/>
          </a:prstGeom>
          <a:solidFill>
            <a:srgbClr val="4A4A4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76200" rIns="76200" tIns="38100" bIns="38100"/>
          <a:lstStyle/>
          <a:p>
            <a:pPr algn="ctr"/>
          </a:p>
        </p:txBody>
      </p:sp>
      <p:sp>
        <p:nvSpPr>
          <p:cNvPr id="79" name="Oval 78"/>
          <p:cNvSpPr/>
          <p:nvPr/>
        </p:nvSpPr>
        <p:spPr>
          <a:xfrm>
            <a:off x="10810875" y="6572250"/>
            <a:ext cx="76200" cy="76200"/>
          </a:xfrm>
          <a:prstGeom prst="ellipse">
            <a:avLst/>
          </a:prstGeom>
          <a:solidFill>
            <a:srgbClr val="4A4A4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76200" rIns="76200" tIns="38100" bIns="38100"/>
          <a:lstStyle/>
          <a:p>
            <a:pPr algn="ctr"/>
          </a:p>
        </p:txBody>
      </p:sp>
      <p:sp>
        <p:nvSpPr>
          <p:cNvPr id="80" name="Oval 79"/>
          <p:cNvSpPr/>
          <p:nvPr/>
        </p:nvSpPr>
        <p:spPr>
          <a:xfrm>
            <a:off x="10972800" y="6572250"/>
            <a:ext cx="76200" cy="76200"/>
          </a:xfrm>
          <a:prstGeom prst="ellipse">
            <a:avLst/>
          </a:prstGeom>
          <a:solidFill>
            <a:srgbClr val="4A4A4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76200" rIns="76200" tIns="38100" bIns="38100"/>
          <a:lstStyle/>
          <a:p>
            <a:pPr algn="ctr"/>
          </a:p>
        </p:txBody>
      </p:sp>
      <p:sp>
        <p:nvSpPr>
          <p:cNvPr id="81" name="Oval 80"/>
          <p:cNvSpPr/>
          <p:nvPr/>
        </p:nvSpPr>
        <p:spPr>
          <a:xfrm>
            <a:off x="11134725" y="6572250"/>
            <a:ext cx="95250" cy="95250"/>
          </a:xfrm>
          <a:prstGeom prst="ellipse">
            <a:avLst/>
          </a:prstGeom>
          <a:solidFill>
            <a:srgbClr val="CC000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76200" rIns="76200" tIns="38100" bIns="38100"/>
          <a:lstStyle/>
          <a:p>
            <a:pPr algn="ctr"/>
          </a:p>
        </p:txBody>
      </p:sp>
      <p:sp>
        <p:nvSpPr>
          <p:cNvPr id="82" name="Oval 81"/>
          <p:cNvSpPr/>
          <p:nvPr/>
        </p:nvSpPr>
        <p:spPr>
          <a:xfrm>
            <a:off x="11296650" y="6572250"/>
            <a:ext cx="76200" cy="76200"/>
          </a:xfrm>
          <a:prstGeom prst="ellipse">
            <a:avLst/>
          </a:prstGeom>
          <a:solidFill>
            <a:srgbClr val="E0E0E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76200" rIns="76200" tIns="38100" bIns="38100"/>
          <a:lstStyle/>
          <a:p>
            <a:pPr algn="ctr"/>
          </a:p>
        </p:txBody>
      </p:sp>
      <p:sp>
        <p:nvSpPr>
          <p:cNvPr id="83" name="Oval 82"/>
          <p:cNvSpPr/>
          <p:nvPr/>
        </p:nvSpPr>
        <p:spPr>
          <a:xfrm>
            <a:off x="11458575" y="6572250"/>
            <a:ext cx="76200" cy="76200"/>
          </a:xfrm>
          <a:prstGeom prst="ellipse">
            <a:avLst/>
          </a:prstGeom>
          <a:solidFill>
            <a:srgbClr val="E0E0E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76200" rIns="76200" tIns="38100" bIns="38100"/>
          <a:lstStyle/>
          <a:p>
            <a:pPr algn="ctr"/>
          </a:p>
        </p:txBody>
      </p:sp>
      <p:sp>
        <p:nvSpPr>
          <p:cNvPr id="84" name="TextBox 83"/>
          <p:cNvSpPr txBox="1"/>
          <p:nvPr/>
        </p:nvSpPr>
        <p:spPr>
          <a:xfrm>
            <a:off x="11239500" y="6610350"/>
            <a:ext cx="762000" cy="1905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r>
              <a:rPr sz="900" b="0" i="0" lang="en-US">
                <a:solidFill>
                  <a:srgbClr val="6B6B6B"/>
                </a:solidFill>
                <a:latin typeface="Noto Sans"/>
              </a:rPr>
              <a:t>20 / 28</a:t>
            </a:r>
          </a:p>
        </p:txBody>
      </p:sp>
    </p:spTree>
  </p:cSld>
  <p:clrMapOvr>
    <a:masterClrMapping/>
  </p:clrMapOvr>
</p:sld>
</file>

<file path=ppt/slides/slide2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19100" y="285750"/>
            <a:ext cx="8572500" cy="1905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r>
              <a:rPr sz="1050" b="1" i="0" lang="en-US">
                <a:solidFill>
                  <a:srgbClr val="CC0000"/>
                </a:solidFill>
                <a:latin typeface="Noto Sans"/>
              </a:rPr>
              <a:t>FLOW WALKTHROUGH · STEP 9 OF 10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19100" y="495300"/>
            <a:ext cx="9525000" cy="43815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r>
              <a:rPr sz="2100" b="1" i="0" lang="en-US">
                <a:solidFill>
                  <a:srgbClr val="1A1A1A"/>
                </a:solidFill>
                <a:latin typeface="Noto Sans"/>
              </a:rPr>
              <a:t>Controlled → leaf. Zero chart-specific code.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10763250" y="323850"/>
            <a:ext cx="1009650" cy="285750"/>
          </a:xfrm>
          <a:prstGeom prst="roundRect">
            <a:avLst>
              <a:gd name="adj" fmla="val 28000"/>
            </a:avLst>
          </a:prstGeom>
          <a:solidFill>
            <a:srgbClr val="CC000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76200" rIns="76200" tIns="38100" bIns="38100"/>
          <a:lstStyle/>
          <a:p>
            <a:pPr algn="ctr"/>
            <a:r>
              <a:rPr sz="1250" b="1" i="0" lang="en-US">
                <a:solidFill>
                  <a:srgbClr val="FFFFFF"/>
                </a:solidFill>
                <a:latin typeface="Noto Sans"/>
              </a:rPr>
              <a:t>ResQRules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14350" y="1123950"/>
            <a:ext cx="3810000" cy="1524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r>
              <a:rPr sz="850" b="1" i="0" lang="en-US">
                <a:solidFill>
                  <a:srgbClr val="6B6B6B"/>
                </a:solidFill>
                <a:latin typeface="Noto Sans"/>
              </a:rPr>
              <a:t>GENERAL ASSESSMENT — CHART #1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14350" y="2114550"/>
            <a:ext cx="4191000" cy="1524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r>
              <a:rPr sz="850" b="1" i="0" lang="en-US">
                <a:solidFill>
                  <a:srgbClr val="6B6B6B"/>
                </a:solidFill>
                <a:latin typeface="Noto Sans"/>
              </a:rPr>
              <a:t>CATASTROPHIC HEMORRHAGE — CHART #10</a:t>
            </a:r>
          </a:p>
        </p:txBody>
      </p:sp>
      <p:cxnSp>
        <p:nvCxnSpPr>
          <p:cNvPr id="7" name="Connector 6"/>
          <p:cNvCxnSpPr/>
          <p:nvPr/>
        </p:nvCxnSpPr>
        <p:spPr>
          <a:xfrm>
            <a:off x="1733550" y="1571625"/>
            <a:ext cx="171450" cy="0"/>
          </a:xfrm>
          <a:prstGeom prst="line">
            <a:avLst/>
          </a:prstGeom>
          <a:ln w="25400">
            <a:solidFill>
              <a:srgbClr val="4A4A4A"/>
            </a:solidFill>
            <a:tailEnd type="triangle" w="med" len="med"/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8" name="Connector 7"/>
          <p:cNvCxnSpPr/>
          <p:nvPr/>
        </p:nvCxnSpPr>
        <p:spPr>
          <a:xfrm>
            <a:off x="3162300" y="1571625"/>
            <a:ext cx="171450" cy="0"/>
          </a:xfrm>
          <a:prstGeom prst="line">
            <a:avLst/>
          </a:prstGeom>
          <a:ln w="25400">
            <a:solidFill>
              <a:srgbClr val="4A4A4A"/>
            </a:solidFill>
            <a:tailEnd type="triangle" w="med" len="med"/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9" name="Connector 8"/>
          <p:cNvCxnSpPr/>
          <p:nvPr/>
        </p:nvCxnSpPr>
        <p:spPr>
          <a:xfrm>
            <a:off x="4591050" y="1571625"/>
            <a:ext cx="133350" cy="0"/>
          </a:xfrm>
          <a:prstGeom prst="line">
            <a:avLst/>
          </a:prstGeom>
          <a:ln w="25400">
            <a:solidFill>
              <a:srgbClr val="4A4A4A"/>
            </a:solidFill>
            <a:tailEnd type="triangle" w="med" len="med"/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0" name="Connector 9"/>
          <p:cNvCxnSpPr/>
          <p:nvPr/>
        </p:nvCxnSpPr>
        <p:spPr>
          <a:xfrm>
            <a:off x="6667500" y="1571625"/>
            <a:ext cx="104775" cy="0"/>
          </a:xfrm>
          <a:prstGeom prst="line">
            <a:avLst/>
          </a:prstGeom>
          <a:ln w="25400">
            <a:solidFill>
              <a:srgbClr val="4A4A4A"/>
            </a:solidFill>
            <a:tailEnd type="triangle" w="med" len="med"/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1" name="Connector 10"/>
          <p:cNvCxnSpPr/>
          <p:nvPr/>
        </p:nvCxnSpPr>
        <p:spPr>
          <a:xfrm>
            <a:off x="7524750" y="1866900"/>
            <a:ext cx="0" cy="95250"/>
          </a:xfrm>
          <a:prstGeom prst="line">
            <a:avLst/>
          </a:prstGeom>
          <a:ln w="25400">
            <a:solidFill>
              <a:srgbClr val="4A4A4A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2" name="Connector 11"/>
          <p:cNvCxnSpPr/>
          <p:nvPr/>
        </p:nvCxnSpPr>
        <p:spPr>
          <a:xfrm flipH="1">
            <a:off x="2276475" y="1962150"/>
            <a:ext cx="5248275" cy="0"/>
          </a:xfrm>
          <a:prstGeom prst="line">
            <a:avLst/>
          </a:prstGeom>
          <a:ln w="25400">
            <a:solidFill>
              <a:srgbClr val="4A4A4A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3" name="Connector 12"/>
          <p:cNvCxnSpPr/>
          <p:nvPr/>
        </p:nvCxnSpPr>
        <p:spPr>
          <a:xfrm>
            <a:off x="2276475" y="1962150"/>
            <a:ext cx="0" cy="342900"/>
          </a:xfrm>
          <a:prstGeom prst="line">
            <a:avLst/>
          </a:prstGeom>
          <a:ln w="25400">
            <a:solidFill>
              <a:srgbClr val="4A4A4A"/>
            </a:solidFill>
            <a:tailEnd type="triangle" w="med" len="med"/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4" name="Connector 13"/>
          <p:cNvCxnSpPr/>
          <p:nvPr/>
        </p:nvCxnSpPr>
        <p:spPr>
          <a:xfrm>
            <a:off x="3676650" y="2667000"/>
            <a:ext cx="323850" cy="0"/>
          </a:xfrm>
          <a:prstGeom prst="line">
            <a:avLst/>
          </a:prstGeom>
          <a:ln w="25400">
            <a:solidFill>
              <a:srgbClr val="4A4A4A"/>
            </a:solidFill>
            <a:tailEnd type="triangle" w="med" len="med"/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5" name="Connector 14"/>
          <p:cNvCxnSpPr/>
          <p:nvPr/>
        </p:nvCxnSpPr>
        <p:spPr>
          <a:xfrm>
            <a:off x="4953000" y="2990850"/>
            <a:ext cx="0" cy="276225"/>
          </a:xfrm>
          <a:prstGeom prst="line">
            <a:avLst/>
          </a:prstGeom>
          <a:ln w="25400">
            <a:solidFill>
              <a:srgbClr val="4A4A4A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6" name="Connector 15"/>
          <p:cNvCxnSpPr/>
          <p:nvPr/>
        </p:nvCxnSpPr>
        <p:spPr>
          <a:xfrm flipH="1">
            <a:off x="2276475" y="3267075"/>
            <a:ext cx="2676525" cy="0"/>
          </a:xfrm>
          <a:prstGeom prst="line">
            <a:avLst/>
          </a:prstGeom>
          <a:ln w="25400">
            <a:solidFill>
              <a:srgbClr val="4A4A4A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7" name="Connector 16"/>
          <p:cNvCxnSpPr/>
          <p:nvPr/>
        </p:nvCxnSpPr>
        <p:spPr>
          <a:xfrm>
            <a:off x="2276475" y="3267075"/>
            <a:ext cx="0" cy="180975"/>
          </a:xfrm>
          <a:prstGeom prst="line">
            <a:avLst/>
          </a:prstGeom>
          <a:ln w="25400">
            <a:solidFill>
              <a:srgbClr val="4A4A4A"/>
            </a:solidFill>
            <a:tailEnd type="triangle" w="med" len="med"/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8" name="Connector 17"/>
          <p:cNvCxnSpPr/>
          <p:nvPr/>
        </p:nvCxnSpPr>
        <p:spPr>
          <a:xfrm>
            <a:off x="5905500" y="2667000"/>
            <a:ext cx="285750" cy="0"/>
          </a:xfrm>
          <a:prstGeom prst="line">
            <a:avLst/>
          </a:prstGeom>
          <a:ln w="19050">
            <a:solidFill>
              <a:srgbClr val="C7C7C7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9" name="Connector 18"/>
          <p:cNvCxnSpPr/>
          <p:nvPr/>
        </p:nvCxnSpPr>
        <p:spPr>
          <a:xfrm>
            <a:off x="6191250" y="2667000"/>
            <a:ext cx="0" cy="419100"/>
          </a:xfrm>
          <a:prstGeom prst="line">
            <a:avLst/>
          </a:prstGeom>
          <a:ln w="19050">
            <a:solidFill>
              <a:srgbClr val="C7C7C7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0" name="Connector 19"/>
          <p:cNvCxnSpPr/>
          <p:nvPr/>
        </p:nvCxnSpPr>
        <p:spPr>
          <a:xfrm>
            <a:off x="6191250" y="3086100"/>
            <a:ext cx="190500" cy="0"/>
          </a:xfrm>
          <a:prstGeom prst="line">
            <a:avLst/>
          </a:prstGeom>
          <a:ln w="19050">
            <a:solidFill>
              <a:srgbClr val="C7C7C7"/>
            </a:solidFill>
            <a:tailEnd type="triangle" w="med" len="med"/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1" name="Connector 20"/>
          <p:cNvCxnSpPr/>
          <p:nvPr/>
        </p:nvCxnSpPr>
        <p:spPr>
          <a:xfrm>
            <a:off x="3676650" y="3810000"/>
            <a:ext cx="323850" cy="0"/>
          </a:xfrm>
          <a:prstGeom prst="line">
            <a:avLst/>
          </a:prstGeom>
          <a:ln w="25400">
            <a:solidFill>
              <a:srgbClr val="4A4A4A"/>
            </a:solidFill>
            <a:tailEnd type="triangle" w="med" len="med"/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2" name="Connector 21"/>
          <p:cNvCxnSpPr/>
          <p:nvPr/>
        </p:nvCxnSpPr>
        <p:spPr>
          <a:xfrm>
            <a:off x="4953000" y="4133850"/>
            <a:ext cx="0" cy="276225"/>
          </a:xfrm>
          <a:prstGeom prst="line">
            <a:avLst/>
          </a:prstGeom>
          <a:ln w="25400">
            <a:solidFill>
              <a:srgbClr val="4A4A4A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3" name="Connector 22"/>
          <p:cNvCxnSpPr/>
          <p:nvPr/>
        </p:nvCxnSpPr>
        <p:spPr>
          <a:xfrm flipH="1">
            <a:off x="2276475" y="4410075"/>
            <a:ext cx="2676525" cy="0"/>
          </a:xfrm>
          <a:prstGeom prst="line">
            <a:avLst/>
          </a:prstGeom>
          <a:ln w="25400">
            <a:solidFill>
              <a:srgbClr val="4A4A4A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4" name="Connector 23"/>
          <p:cNvCxnSpPr/>
          <p:nvPr/>
        </p:nvCxnSpPr>
        <p:spPr>
          <a:xfrm>
            <a:off x="2276475" y="4410075"/>
            <a:ext cx="0" cy="180975"/>
          </a:xfrm>
          <a:prstGeom prst="line">
            <a:avLst/>
          </a:prstGeom>
          <a:ln w="25400">
            <a:solidFill>
              <a:srgbClr val="4A4A4A"/>
            </a:solidFill>
            <a:tailEnd type="triangle" w="med" len="med"/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5" name="Connector 24"/>
          <p:cNvCxnSpPr/>
          <p:nvPr/>
        </p:nvCxnSpPr>
        <p:spPr>
          <a:xfrm>
            <a:off x="5905500" y="3810000"/>
            <a:ext cx="285750" cy="0"/>
          </a:xfrm>
          <a:prstGeom prst="line">
            <a:avLst/>
          </a:prstGeom>
          <a:ln w="19050">
            <a:solidFill>
              <a:srgbClr val="C7C7C7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6" name="Connector 25"/>
          <p:cNvCxnSpPr/>
          <p:nvPr/>
        </p:nvCxnSpPr>
        <p:spPr>
          <a:xfrm flipV="1">
            <a:off x="6191250" y="3371850"/>
            <a:ext cx="0" cy="438150"/>
          </a:xfrm>
          <a:prstGeom prst="line">
            <a:avLst/>
          </a:prstGeom>
          <a:ln w="19050">
            <a:solidFill>
              <a:srgbClr val="C7C7C7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7" name="Connector 26"/>
          <p:cNvCxnSpPr/>
          <p:nvPr/>
        </p:nvCxnSpPr>
        <p:spPr>
          <a:xfrm>
            <a:off x="6191250" y="3371850"/>
            <a:ext cx="190500" cy="0"/>
          </a:xfrm>
          <a:prstGeom prst="line">
            <a:avLst/>
          </a:prstGeom>
          <a:ln w="19050">
            <a:solidFill>
              <a:srgbClr val="C7C7C7"/>
            </a:solidFill>
            <a:tailEnd type="triangle" w="med" len="med"/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8" name="Connector 27"/>
          <p:cNvCxnSpPr/>
          <p:nvPr/>
        </p:nvCxnSpPr>
        <p:spPr>
          <a:xfrm>
            <a:off x="3676650" y="4953000"/>
            <a:ext cx="323850" cy="0"/>
          </a:xfrm>
          <a:prstGeom prst="line">
            <a:avLst/>
          </a:prstGeom>
          <a:ln w="25400">
            <a:solidFill>
              <a:srgbClr val="4A4A4A"/>
            </a:solidFill>
            <a:tailEnd type="triangle" w="med" len="med"/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9" name="Connector 28"/>
          <p:cNvCxnSpPr/>
          <p:nvPr/>
        </p:nvCxnSpPr>
        <p:spPr>
          <a:xfrm>
            <a:off x="5905500" y="4953000"/>
            <a:ext cx="457200" cy="0"/>
          </a:xfrm>
          <a:prstGeom prst="line">
            <a:avLst/>
          </a:prstGeom>
          <a:ln w="31750">
            <a:solidFill>
              <a:srgbClr val="2D6A4F"/>
            </a:solidFill>
            <a:tailEnd type="triangle" w="med" len="med"/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0" name="Connector 29"/>
          <p:cNvCxnSpPr/>
          <p:nvPr/>
        </p:nvCxnSpPr>
        <p:spPr>
          <a:xfrm>
            <a:off x="4953000" y="5276850"/>
            <a:ext cx="0" cy="276225"/>
          </a:xfrm>
          <a:prstGeom prst="line">
            <a:avLst/>
          </a:prstGeom>
          <a:ln w="19050">
            <a:solidFill>
              <a:srgbClr val="C7C7C7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1" name="Connector 30"/>
          <p:cNvCxnSpPr/>
          <p:nvPr/>
        </p:nvCxnSpPr>
        <p:spPr>
          <a:xfrm>
            <a:off x="4953000" y="5553075"/>
            <a:ext cx="2228850" cy="0"/>
          </a:xfrm>
          <a:prstGeom prst="line">
            <a:avLst/>
          </a:prstGeom>
          <a:ln w="19050">
            <a:solidFill>
              <a:srgbClr val="C7C7C7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2" name="Connector 31"/>
          <p:cNvCxnSpPr/>
          <p:nvPr/>
        </p:nvCxnSpPr>
        <p:spPr>
          <a:xfrm flipV="1">
            <a:off x="7181850" y="5200650"/>
            <a:ext cx="0" cy="352425"/>
          </a:xfrm>
          <a:prstGeom prst="line">
            <a:avLst/>
          </a:prstGeom>
          <a:ln w="19050">
            <a:solidFill>
              <a:srgbClr val="C7C7C7"/>
            </a:solidFill>
            <a:tailEnd type="triangle" w="med" len="med"/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33" name="Rounded Rectangle 32"/>
          <p:cNvSpPr/>
          <p:nvPr/>
        </p:nvSpPr>
        <p:spPr>
          <a:xfrm>
            <a:off x="514350" y="1371600"/>
            <a:ext cx="1219200" cy="419100"/>
          </a:xfrm>
          <a:prstGeom prst="roundRect">
            <a:avLst>
              <a:gd name="adj" fmla="val 14000"/>
            </a:avLst>
          </a:prstGeom>
          <a:solidFill>
            <a:srgbClr val="FFFFFF"/>
          </a:solidFill>
          <a:ln w="25400">
            <a:solidFill>
              <a:srgbClr val="4A4A4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76200" rIns="76200" tIns="38100" bIns="38100"/>
          <a:lstStyle/>
          <a:p>
            <a:pPr algn="ctr"/>
            <a:r>
              <a:rPr sz="1100" b="1" i="0" lang="en-US">
                <a:solidFill>
                  <a:srgbClr val="1A1A1A"/>
                </a:solidFill>
                <a:latin typeface="Noto Sans"/>
              </a:rPr>
              <a:t>Safety</a:t>
            </a:r>
          </a:p>
          <a:p>
            <a:pPr algn="ctr"/>
            <a:r>
              <a:rPr sz="750" b="0" i="0" lang="en-US">
                <a:solidFill>
                  <a:srgbClr val="6B6B6B"/>
                </a:solidFill>
                <a:latin typeface="Noto Sans"/>
              </a:rPr>
              <a:t>gen_01</a:t>
            </a:r>
          </a:p>
        </p:txBody>
      </p:sp>
      <p:sp>
        <p:nvSpPr>
          <p:cNvPr id="34" name="Rounded Rectangle 33"/>
          <p:cNvSpPr/>
          <p:nvPr/>
        </p:nvSpPr>
        <p:spPr>
          <a:xfrm>
            <a:off x="1905000" y="1371600"/>
            <a:ext cx="1257300" cy="419100"/>
          </a:xfrm>
          <a:prstGeom prst="roundRect">
            <a:avLst>
              <a:gd name="adj" fmla="val 14000"/>
            </a:avLst>
          </a:prstGeom>
          <a:solidFill>
            <a:srgbClr val="FFFFFF"/>
          </a:solidFill>
          <a:ln w="25400">
            <a:solidFill>
              <a:srgbClr val="4A4A4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76200" rIns="76200" tIns="38100" bIns="38100"/>
          <a:lstStyle/>
          <a:p>
            <a:pPr algn="ctr"/>
            <a:r>
              <a:rPr sz="1100" b="1" i="0" lang="en-US">
                <a:solidFill>
                  <a:srgbClr val="1A1A1A"/>
                </a:solidFill>
                <a:latin typeface="Noto Sans"/>
              </a:rPr>
              <a:t>Scene</a:t>
            </a:r>
          </a:p>
          <a:p>
            <a:pPr algn="ctr"/>
            <a:r>
              <a:rPr sz="750" b="0" i="0" lang="en-US">
                <a:solidFill>
                  <a:srgbClr val="6B6B6B"/>
                </a:solidFill>
                <a:latin typeface="Noto Sans"/>
              </a:rPr>
              <a:t>gen_02</a:t>
            </a:r>
          </a:p>
        </p:txBody>
      </p:sp>
      <p:sp>
        <p:nvSpPr>
          <p:cNvPr id="35" name="Rounded Rectangle 34"/>
          <p:cNvSpPr/>
          <p:nvPr/>
        </p:nvSpPr>
        <p:spPr>
          <a:xfrm>
            <a:off x="3333750" y="1371600"/>
            <a:ext cx="1257300" cy="419100"/>
          </a:xfrm>
          <a:prstGeom prst="roundRect">
            <a:avLst>
              <a:gd name="adj" fmla="val 14000"/>
            </a:avLst>
          </a:prstGeom>
          <a:solidFill>
            <a:srgbClr val="FFFFFF"/>
          </a:solidFill>
          <a:ln w="25400">
            <a:solidFill>
              <a:srgbClr val="4A4A4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76200" rIns="76200" tIns="38100" bIns="38100"/>
          <a:lstStyle/>
          <a:p>
            <a:pPr algn="ctr"/>
            <a:r>
              <a:rPr sz="1100" b="1" i="0" lang="en-US">
                <a:solidFill>
                  <a:srgbClr val="1A1A1A"/>
                </a:solidFill>
                <a:latin typeface="Noto Sans"/>
              </a:rPr>
              <a:t>Situation</a:t>
            </a:r>
          </a:p>
          <a:p>
            <a:pPr algn="ctr"/>
            <a:r>
              <a:rPr sz="750" b="0" i="0" lang="en-US">
                <a:solidFill>
                  <a:srgbClr val="6B6B6B"/>
                </a:solidFill>
                <a:latin typeface="Noto Sans"/>
              </a:rPr>
              <a:t>gen_03</a:t>
            </a:r>
          </a:p>
        </p:txBody>
      </p:sp>
      <p:sp>
        <p:nvSpPr>
          <p:cNvPr id="36" name="Rounded Rectangle 35"/>
          <p:cNvSpPr/>
          <p:nvPr/>
        </p:nvSpPr>
        <p:spPr>
          <a:xfrm>
            <a:off x="4762500" y="1314450"/>
            <a:ext cx="1866900" cy="533400"/>
          </a:xfrm>
          <a:prstGeom prst="roundRect">
            <a:avLst>
              <a:gd name="adj" fmla="val 14000"/>
            </a:avLst>
          </a:prstGeom>
          <a:solidFill>
            <a:srgbClr val="FFFFFF"/>
          </a:solidFill>
          <a:ln w="25400">
            <a:solidFill>
              <a:srgbClr val="4A4A4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76200" rIns="76200" tIns="38100" bIns="38100"/>
          <a:lstStyle/>
          <a:p>
            <a:pPr algn="ctr"/>
            <a:r>
              <a:rPr sz="1100" b="1" i="0" lang="en-US">
                <a:solidFill>
                  <a:srgbClr val="1A1A1A"/>
                </a:solidFill>
                <a:latin typeface="Noto Sans"/>
              </a:rPr>
              <a:t>◇ Life-threatening bleeding?</a:t>
            </a:r>
          </a:p>
          <a:p>
            <a:pPr algn="ctr"/>
            <a:r>
              <a:rPr sz="750" b="0" i="0" lang="en-US">
                <a:solidFill>
                  <a:srgbClr val="6B6B6B"/>
                </a:solidFill>
                <a:latin typeface="Noto Sans"/>
              </a:rPr>
              <a:t>gen_04</a:t>
            </a:r>
          </a:p>
        </p:txBody>
      </p:sp>
      <p:sp>
        <p:nvSpPr>
          <p:cNvPr id="37" name="Rounded Rectangle 36"/>
          <p:cNvSpPr/>
          <p:nvPr/>
        </p:nvSpPr>
        <p:spPr>
          <a:xfrm>
            <a:off x="6819900" y="1352550"/>
            <a:ext cx="1409700" cy="495300"/>
          </a:xfrm>
          <a:prstGeom prst="roundRect">
            <a:avLst>
              <a:gd name="adj" fmla="val 14000"/>
            </a:avLst>
          </a:prstGeom>
          <a:solidFill>
            <a:srgbClr val="FFFFFF"/>
          </a:solidFill>
          <a:ln w="25400">
            <a:solidFill>
              <a:srgbClr val="4A4A4A"/>
            </a:solidFill>
            <a:prstDash val="dash"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76200" rIns="76200" tIns="38100" bIns="38100"/>
          <a:lstStyle/>
          <a:p>
            <a:pPr algn="ctr"/>
            <a:r>
              <a:rPr sz="1100" b="1" i="0" lang="en-US">
                <a:solidFill>
                  <a:srgbClr val="1A1A1A"/>
                </a:solidFill>
                <a:latin typeface="Noto Sans"/>
              </a:rPr>
              <a:t>⇢ Hemorrhage</a:t>
            </a:r>
          </a:p>
          <a:p>
            <a:pPr algn="ctr"/>
            <a:r>
              <a:rPr sz="750" b="0" i="0" lang="en-US">
                <a:solidFill>
                  <a:srgbClr val="6B6B6B"/>
                </a:solidFill>
                <a:latin typeface="Noto Sans"/>
              </a:rPr>
              <a:t>gen_05 · jump</a:t>
            </a:r>
          </a:p>
        </p:txBody>
      </p:sp>
      <p:sp>
        <p:nvSpPr>
          <p:cNvPr id="38" name="Rounded Rectangle 37"/>
          <p:cNvSpPr/>
          <p:nvPr/>
        </p:nvSpPr>
        <p:spPr>
          <a:xfrm>
            <a:off x="895350" y="2362200"/>
            <a:ext cx="2781300" cy="609600"/>
          </a:xfrm>
          <a:prstGeom prst="roundRect">
            <a:avLst>
              <a:gd name="adj" fmla="val 14000"/>
            </a:avLst>
          </a:prstGeom>
          <a:solidFill>
            <a:srgbClr val="FFFFFF"/>
          </a:solidFill>
          <a:ln w="25400">
            <a:solidFill>
              <a:srgbClr val="4A4A4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76200" rIns="76200" tIns="38100" bIns="38100"/>
          <a:lstStyle/>
          <a:p>
            <a:pPr algn="ctr"/>
            <a:r>
              <a:rPr sz="1100" b="1" i="0" lang="en-US">
                <a:solidFill>
                  <a:srgbClr val="1A1A1A"/>
                </a:solidFill>
                <a:latin typeface="Noto Sans"/>
              </a:rPr>
              <a:t>Direct pressure · compression dressing</a:t>
            </a:r>
          </a:p>
          <a:p>
            <a:pPr algn="ctr"/>
            <a:r>
              <a:rPr sz="750" b="0" i="0" lang="en-US">
                <a:solidFill>
                  <a:srgbClr val="6B6B6B"/>
                </a:solidFill>
                <a:latin typeface="Noto Sans"/>
              </a:rPr>
              <a:t>hem_01</a:t>
            </a:r>
          </a:p>
        </p:txBody>
      </p:sp>
      <p:sp>
        <p:nvSpPr>
          <p:cNvPr id="39" name="Rounded Rectangle 38"/>
          <p:cNvSpPr/>
          <p:nvPr/>
        </p:nvSpPr>
        <p:spPr>
          <a:xfrm>
            <a:off x="4038600" y="2381250"/>
            <a:ext cx="1866900" cy="571500"/>
          </a:xfrm>
          <a:prstGeom prst="roundRect">
            <a:avLst>
              <a:gd name="adj" fmla="val 14000"/>
            </a:avLst>
          </a:prstGeom>
          <a:solidFill>
            <a:srgbClr val="FFFFFF"/>
          </a:solidFill>
          <a:ln w="25400">
            <a:solidFill>
              <a:srgbClr val="4A4A4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76200" rIns="76200" tIns="38100" bIns="38100"/>
          <a:lstStyle/>
          <a:p>
            <a:pPr algn="ctr"/>
            <a:r>
              <a:rPr sz="1100" b="1" i="0" lang="en-US">
                <a:solidFill>
                  <a:srgbClr val="1A1A1A"/>
                </a:solidFill>
                <a:latin typeface="Noto Sans"/>
              </a:rPr>
              <a:t>◇ Active bleeding?</a:t>
            </a:r>
          </a:p>
          <a:p>
            <a:pPr algn="ctr"/>
            <a:r>
              <a:rPr sz="750" b="0" i="0" lang="en-US">
                <a:solidFill>
                  <a:srgbClr val="6B6B6B"/>
                </a:solidFill>
                <a:latin typeface="Noto Sans"/>
              </a:rPr>
              <a:t>hem_02</a:t>
            </a:r>
          </a:p>
        </p:txBody>
      </p:sp>
      <p:sp>
        <p:nvSpPr>
          <p:cNvPr id="40" name="Rounded Rectangle 39"/>
          <p:cNvSpPr/>
          <p:nvPr/>
        </p:nvSpPr>
        <p:spPr>
          <a:xfrm>
            <a:off x="895350" y="3505200"/>
            <a:ext cx="2781300" cy="609600"/>
          </a:xfrm>
          <a:prstGeom prst="roundRect">
            <a:avLst>
              <a:gd name="adj" fmla="val 14000"/>
            </a:avLst>
          </a:prstGeom>
          <a:solidFill>
            <a:srgbClr val="FFFFFF"/>
          </a:solidFill>
          <a:ln w="25400">
            <a:solidFill>
              <a:srgbClr val="4A4A4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76200" rIns="76200" tIns="38100" bIns="38100"/>
          <a:lstStyle/>
          <a:p>
            <a:pPr algn="ctr"/>
            <a:r>
              <a:rPr sz="1100" b="1" i="0" lang="en-US">
                <a:solidFill>
                  <a:srgbClr val="1A1A1A"/>
                </a:solidFill>
                <a:latin typeface="Noto Sans"/>
              </a:rPr>
              <a:t>Second compression bandage</a:t>
            </a:r>
          </a:p>
          <a:p>
            <a:pPr algn="ctr"/>
            <a:r>
              <a:rPr sz="750" b="0" i="0" lang="en-US">
                <a:solidFill>
                  <a:srgbClr val="6B6B6B"/>
                </a:solidFill>
                <a:latin typeface="Noto Sans"/>
              </a:rPr>
              <a:t>hem_03 · TIER 2</a:t>
            </a:r>
          </a:p>
        </p:txBody>
      </p:sp>
      <p:sp>
        <p:nvSpPr>
          <p:cNvPr id="41" name="Rounded Rectangle 40"/>
          <p:cNvSpPr/>
          <p:nvPr/>
        </p:nvSpPr>
        <p:spPr>
          <a:xfrm>
            <a:off x="4038600" y="3524250"/>
            <a:ext cx="1866900" cy="571500"/>
          </a:xfrm>
          <a:prstGeom prst="roundRect">
            <a:avLst>
              <a:gd name="adj" fmla="val 14000"/>
            </a:avLst>
          </a:prstGeom>
          <a:solidFill>
            <a:srgbClr val="FFFFFF"/>
          </a:solidFill>
          <a:ln w="25400">
            <a:solidFill>
              <a:srgbClr val="4A4A4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76200" rIns="76200" tIns="38100" bIns="38100"/>
          <a:lstStyle/>
          <a:p>
            <a:pPr algn="ctr"/>
            <a:r>
              <a:rPr sz="1100" b="1" i="0" lang="en-US">
                <a:solidFill>
                  <a:srgbClr val="1A1A1A"/>
                </a:solidFill>
                <a:latin typeface="Noto Sans"/>
              </a:rPr>
              <a:t>◇ Active bleeding?</a:t>
            </a:r>
          </a:p>
          <a:p>
            <a:pPr algn="ctr"/>
            <a:r>
              <a:rPr sz="750" b="0" i="0" lang="en-US">
                <a:solidFill>
                  <a:srgbClr val="6B6B6B"/>
                </a:solidFill>
                <a:latin typeface="Noto Sans"/>
              </a:rPr>
              <a:t>hem_04</a:t>
            </a:r>
          </a:p>
        </p:txBody>
      </p:sp>
      <p:sp>
        <p:nvSpPr>
          <p:cNvPr id="42" name="Rounded Rectangle 41"/>
          <p:cNvSpPr/>
          <p:nvPr/>
        </p:nvSpPr>
        <p:spPr>
          <a:xfrm>
            <a:off x="895350" y="4648200"/>
            <a:ext cx="2781300" cy="609600"/>
          </a:xfrm>
          <a:prstGeom prst="roundRect">
            <a:avLst>
              <a:gd name="adj" fmla="val 14000"/>
            </a:avLst>
          </a:prstGeom>
          <a:solidFill>
            <a:srgbClr val="FFFFFF"/>
          </a:solidFill>
          <a:ln w="25400">
            <a:solidFill>
              <a:srgbClr val="4A4A4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76200" rIns="76200" tIns="38100" bIns="38100"/>
          <a:lstStyle/>
          <a:p>
            <a:pPr algn="ctr"/>
            <a:r>
              <a:rPr sz="1100" b="1" i="0" lang="en-US">
                <a:solidFill>
                  <a:srgbClr val="1A1A1A"/>
                </a:solidFill>
                <a:latin typeface="Noto Sans"/>
              </a:rPr>
              <a:t>Tourniquet — one palm above wound</a:t>
            </a:r>
          </a:p>
          <a:p>
            <a:pPr algn="ctr"/>
            <a:r>
              <a:rPr sz="750" b="0" i="0" lang="en-US">
                <a:solidFill>
                  <a:srgbClr val="6B6B6B"/>
                </a:solidFill>
                <a:latin typeface="Noto Sans"/>
              </a:rPr>
              <a:t>hem_05 · terminal</a:t>
            </a:r>
          </a:p>
        </p:txBody>
      </p:sp>
      <p:sp>
        <p:nvSpPr>
          <p:cNvPr id="43" name="Rounded Rectangle 42"/>
          <p:cNvSpPr/>
          <p:nvPr/>
        </p:nvSpPr>
        <p:spPr>
          <a:xfrm>
            <a:off x="4038600" y="4667250"/>
            <a:ext cx="1866900" cy="571500"/>
          </a:xfrm>
          <a:prstGeom prst="roundRect">
            <a:avLst>
              <a:gd name="adj" fmla="val 14000"/>
            </a:avLst>
          </a:prstGeom>
          <a:solidFill>
            <a:srgbClr val="FFFFFF"/>
          </a:solidFill>
          <a:ln w="25400">
            <a:solidFill>
              <a:srgbClr val="4A4A4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76200" rIns="76200" tIns="38100" bIns="38100"/>
          <a:lstStyle/>
          <a:p>
            <a:pPr algn="ctr"/>
            <a:r>
              <a:rPr sz="1100" b="1" i="0" lang="en-US">
                <a:solidFill>
                  <a:srgbClr val="1A1A1A"/>
                </a:solidFill>
                <a:latin typeface="Noto Sans"/>
              </a:rPr>
              <a:t>◇ Active bleeding?</a:t>
            </a:r>
          </a:p>
          <a:p>
            <a:pPr algn="ctr"/>
            <a:r>
              <a:rPr sz="750" b="0" i="0" lang="en-US">
                <a:solidFill>
                  <a:srgbClr val="6B6B6B"/>
                </a:solidFill>
                <a:latin typeface="Noto Sans"/>
              </a:rPr>
              <a:t>hem_06</a:t>
            </a:r>
          </a:p>
        </p:txBody>
      </p:sp>
      <p:sp>
        <p:nvSpPr>
          <p:cNvPr id="44" name="Rounded Rectangle 43"/>
          <p:cNvSpPr/>
          <p:nvPr/>
        </p:nvSpPr>
        <p:spPr>
          <a:xfrm>
            <a:off x="6381750" y="2895600"/>
            <a:ext cx="2133600" cy="476250"/>
          </a:xfrm>
          <a:prstGeom prst="roundRect">
            <a:avLst>
              <a:gd name="adj" fmla="val 50000"/>
            </a:avLst>
          </a:prstGeom>
          <a:solidFill>
            <a:srgbClr val="FFFFFF"/>
          </a:solidFill>
          <a:ln w="19050">
            <a:solidFill>
              <a:srgbClr val="E0E0E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76200" rIns="76200" tIns="38100" bIns="38100"/>
          <a:lstStyle/>
          <a:p>
            <a:pPr algn="ctr"/>
            <a:r>
              <a:rPr sz="1100" b="0" i="0" lang="en-US">
                <a:solidFill>
                  <a:srgbClr val="6B6B6B"/>
                </a:solidFill>
                <a:latin typeface="Noto Sans"/>
              </a:rPr>
              <a:t>Transport to health center</a:t>
            </a:r>
          </a:p>
          <a:p>
            <a:pPr algn="ctr"/>
            <a:r>
              <a:rPr sz="750" b="0" i="0" lang="en-US">
                <a:solidFill>
                  <a:srgbClr val="6B6B6B"/>
                </a:solidFill>
                <a:latin typeface="Noto Sans"/>
              </a:rPr>
              <a:t>hem_08</a:t>
            </a:r>
          </a:p>
        </p:txBody>
      </p:sp>
      <p:sp>
        <p:nvSpPr>
          <p:cNvPr id="45" name="Rounded Rectangle 44"/>
          <p:cNvSpPr/>
          <p:nvPr/>
        </p:nvSpPr>
        <p:spPr>
          <a:xfrm>
            <a:off x="6381750" y="4724400"/>
            <a:ext cx="2133600" cy="476250"/>
          </a:xfrm>
          <a:prstGeom prst="roundRect">
            <a:avLst>
              <a:gd name="adj" fmla="val 50000"/>
            </a:avLst>
          </a:prstGeom>
          <a:solidFill>
            <a:srgbClr val="F0FAF5"/>
          </a:solidFill>
          <a:ln w="31750">
            <a:solidFill>
              <a:srgbClr val="2D6A4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76200" rIns="76200" tIns="38100" bIns="38100"/>
          <a:lstStyle/>
          <a:p>
            <a:pPr algn="ctr"/>
            <a:r>
              <a:rPr sz="1100" b="1" i="0" lang="en-US">
                <a:solidFill>
                  <a:srgbClr val="1A1A1A"/>
                </a:solidFill>
                <a:latin typeface="Noto Sans"/>
              </a:rPr>
              <a:t>URGENT transport</a:t>
            </a:r>
          </a:p>
          <a:p>
            <a:pPr algn="ctr"/>
            <a:r>
              <a:rPr sz="750" b="0" i="0" lang="en-US">
                <a:solidFill>
                  <a:srgbClr val="6B6B6B"/>
                </a:solidFill>
                <a:latin typeface="Noto Sans"/>
              </a:rPr>
              <a:t>hem_07</a:t>
            </a:r>
          </a:p>
        </p:txBody>
      </p:sp>
      <p:sp>
        <p:nvSpPr>
          <p:cNvPr id="46" name="Oval 45"/>
          <p:cNvSpPr/>
          <p:nvPr/>
        </p:nvSpPr>
        <p:spPr>
          <a:xfrm>
            <a:off x="514350" y="2533650"/>
            <a:ext cx="266700" cy="266700"/>
          </a:xfrm>
          <a:prstGeom prst="ellipse">
            <a:avLst/>
          </a:prstGeom>
          <a:solidFill>
            <a:srgbClr val="CC0000"/>
          </a:solidFill>
          <a:ln w="19050">
            <a:solidFill>
              <a:srgbClr val="CC000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76200" rIns="76200" tIns="38100" bIns="38100"/>
          <a:lstStyle/>
          <a:p>
            <a:pPr algn="ctr"/>
            <a:r>
              <a:rPr sz="1100" b="1" i="0" lang="en-US">
                <a:solidFill>
                  <a:srgbClr val="FFFFFF"/>
                </a:solidFill>
                <a:latin typeface="Noto Sans"/>
              </a:rPr>
              <a:t>1</a:t>
            </a:r>
          </a:p>
        </p:txBody>
      </p:sp>
      <p:sp>
        <p:nvSpPr>
          <p:cNvPr id="47" name="Oval 46"/>
          <p:cNvSpPr/>
          <p:nvPr/>
        </p:nvSpPr>
        <p:spPr>
          <a:xfrm>
            <a:off x="514350" y="3676650"/>
            <a:ext cx="266700" cy="266700"/>
          </a:xfrm>
          <a:prstGeom prst="ellipse">
            <a:avLst/>
          </a:prstGeom>
          <a:solidFill>
            <a:srgbClr val="CC0000"/>
          </a:solidFill>
          <a:ln w="19050">
            <a:solidFill>
              <a:srgbClr val="CC000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76200" rIns="76200" tIns="38100" bIns="38100"/>
          <a:lstStyle/>
          <a:p>
            <a:pPr algn="ctr"/>
            <a:r>
              <a:rPr sz="1100" b="1" i="0" lang="en-US">
                <a:solidFill>
                  <a:srgbClr val="FFFFFF"/>
                </a:solidFill>
                <a:latin typeface="Noto Sans"/>
              </a:rPr>
              <a:t>2</a:t>
            </a:r>
          </a:p>
        </p:txBody>
      </p:sp>
      <p:sp>
        <p:nvSpPr>
          <p:cNvPr id="48" name="Oval 47"/>
          <p:cNvSpPr/>
          <p:nvPr/>
        </p:nvSpPr>
        <p:spPr>
          <a:xfrm>
            <a:off x="514350" y="4819650"/>
            <a:ext cx="266700" cy="266700"/>
          </a:xfrm>
          <a:prstGeom prst="ellipse">
            <a:avLst/>
          </a:prstGeom>
          <a:solidFill>
            <a:srgbClr val="CC0000"/>
          </a:solidFill>
          <a:ln w="19050">
            <a:solidFill>
              <a:srgbClr val="CC000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76200" rIns="76200" tIns="38100" bIns="38100"/>
          <a:lstStyle/>
          <a:p>
            <a:pPr algn="ctr"/>
            <a:r>
              <a:rPr sz="1100" b="1" i="0" lang="en-US">
                <a:solidFill>
                  <a:srgbClr val="FFFFFF"/>
                </a:solidFill>
                <a:latin typeface="Noto Sans"/>
              </a:rPr>
              <a:t>3</a:t>
            </a:r>
          </a:p>
        </p:txBody>
      </p:sp>
      <p:sp>
        <p:nvSpPr>
          <p:cNvPr id="49" name="Rounded Rectangle 48"/>
          <p:cNvSpPr/>
          <p:nvPr/>
        </p:nvSpPr>
        <p:spPr>
          <a:xfrm>
            <a:off x="3467100" y="1847850"/>
            <a:ext cx="3143250" cy="228600"/>
          </a:xfrm>
          <a:prstGeom prst="roundRect">
            <a:avLst>
              <a:gd name="adj" fmla="val 40000"/>
            </a:avLst>
          </a:prstGeom>
          <a:solidFill>
            <a:srgbClr val="FFFFFF"/>
          </a:solidFill>
          <a:ln w="15875">
            <a:solidFill>
              <a:srgbClr val="4A4A4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76200" rIns="76200" tIns="38100" bIns="38100"/>
          <a:lstStyle/>
          <a:p>
            <a:pPr algn="ctr"/>
            <a:r>
              <a:rPr sz="900" b="1" i="0" lang="en-US">
                <a:solidFill>
                  <a:srgbClr val="4A4A4A"/>
                </a:solidFill>
                <a:latin typeface="Noto Sans"/>
              </a:rPr>
              <a:t>yes →  &gt;&gt; JUMP to chart 'hemorrhage' &lt;&lt;</a:t>
            </a:r>
          </a:p>
        </p:txBody>
      </p:sp>
      <p:sp>
        <p:nvSpPr>
          <p:cNvPr id="50" name="Rounded Rectangle 49"/>
          <p:cNvSpPr/>
          <p:nvPr/>
        </p:nvSpPr>
        <p:spPr>
          <a:xfrm>
            <a:off x="2895600" y="3143250"/>
            <a:ext cx="1619250" cy="228600"/>
          </a:xfrm>
          <a:prstGeom prst="roundRect">
            <a:avLst>
              <a:gd name="adj" fmla="val 40000"/>
            </a:avLst>
          </a:prstGeom>
          <a:solidFill>
            <a:srgbClr val="FFFFFF"/>
          </a:solidFill>
          <a:ln w="15875">
            <a:solidFill>
              <a:srgbClr val="CC000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76200" rIns="76200" tIns="38100" bIns="38100"/>
          <a:lstStyle/>
          <a:p>
            <a:pPr algn="ctr"/>
            <a:r>
              <a:rPr sz="900" b="1" i="0" lang="en-US">
                <a:solidFill>
                  <a:srgbClr val="CC0000"/>
                </a:solidFill>
                <a:latin typeface="Noto Sans"/>
              </a:rPr>
              <a:t>yes — still bleeding</a:t>
            </a:r>
          </a:p>
        </p:txBody>
      </p:sp>
      <p:sp>
        <p:nvSpPr>
          <p:cNvPr id="51" name="Rounded Rectangle 50"/>
          <p:cNvSpPr/>
          <p:nvPr/>
        </p:nvSpPr>
        <p:spPr>
          <a:xfrm>
            <a:off x="2895600" y="4286250"/>
            <a:ext cx="1619250" cy="228600"/>
          </a:xfrm>
          <a:prstGeom prst="roundRect">
            <a:avLst>
              <a:gd name="adj" fmla="val 40000"/>
            </a:avLst>
          </a:prstGeom>
          <a:solidFill>
            <a:srgbClr val="FFFFFF"/>
          </a:solidFill>
          <a:ln w="15875">
            <a:solidFill>
              <a:srgbClr val="CC000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76200" rIns="76200" tIns="38100" bIns="38100"/>
          <a:lstStyle/>
          <a:p>
            <a:pPr algn="ctr"/>
            <a:r>
              <a:rPr sz="900" b="1" i="0" lang="en-US">
                <a:solidFill>
                  <a:srgbClr val="CC0000"/>
                </a:solidFill>
                <a:latin typeface="Noto Sans"/>
              </a:rPr>
              <a:t>yes — still bleeding</a:t>
            </a:r>
          </a:p>
        </p:txBody>
      </p:sp>
      <p:sp>
        <p:nvSpPr>
          <p:cNvPr id="52" name="Rounded Rectangle 51"/>
          <p:cNvSpPr/>
          <p:nvPr/>
        </p:nvSpPr>
        <p:spPr>
          <a:xfrm>
            <a:off x="6191250" y="2247900"/>
            <a:ext cx="1428750" cy="228600"/>
          </a:xfrm>
          <a:prstGeom prst="roundRect">
            <a:avLst>
              <a:gd name="adj" fmla="val 40000"/>
            </a:avLst>
          </a:prstGeom>
          <a:solidFill>
            <a:srgbClr val="FFFFFF"/>
          </a:solidFill>
          <a:ln w="15875">
            <a:solidFill>
              <a:srgbClr val="A9C9B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76200" rIns="76200" tIns="38100" bIns="38100"/>
          <a:lstStyle/>
          <a:p>
            <a:pPr algn="ctr"/>
            <a:r>
              <a:rPr sz="900" b="1" i="0" lang="en-US">
                <a:solidFill>
                  <a:srgbClr val="A9C9BA"/>
                </a:solidFill>
                <a:latin typeface="Noto Sans"/>
              </a:rPr>
              <a:t>✓ no — controlled</a:t>
            </a:r>
          </a:p>
        </p:txBody>
      </p:sp>
      <p:sp>
        <p:nvSpPr>
          <p:cNvPr id="53" name="Rounded Rectangle 52"/>
          <p:cNvSpPr/>
          <p:nvPr/>
        </p:nvSpPr>
        <p:spPr>
          <a:xfrm>
            <a:off x="6191250" y="3962400"/>
            <a:ext cx="1428750" cy="228600"/>
          </a:xfrm>
          <a:prstGeom prst="roundRect">
            <a:avLst>
              <a:gd name="adj" fmla="val 40000"/>
            </a:avLst>
          </a:prstGeom>
          <a:solidFill>
            <a:srgbClr val="FFFFFF"/>
          </a:solidFill>
          <a:ln w="15875">
            <a:solidFill>
              <a:srgbClr val="A9C9B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76200" rIns="76200" tIns="38100" bIns="38100"/>
          <a:lstStyle/>
          <a:p>
            <a:pPr algn="ctr"/>
            <a:r>
              <a:rPr sz="900" b="1" i="0" lang="en-US">
                <a:solidFill>
                  <a:srgbClr val="A9C9BA"/>
                </a:solidFill>
                <a:latin typeface="Noto Sans"/>
              </a:rPr>
              <a:t>✓ no — controlled</a:t>
            </a:r>
          </a:p>
        </p:txBody>
      </p:sp>
      <p:sp>
        <p:nvSpPr>
          <p:cNvPr id="54" name="Rounded Rectangle 53"/>
          <p:cNvSpPr/>
          <p:nvPr/>
        </p:nvSpPr>
        <p:spPr>
          <a:xfrm>
            <a:off x="5962650" y="5181600"/>
            <a:ext cx="628650" cy="209550"/>
          </a:xfrm>
          <a:prstGeom prst="roundRect">
            <a:avLst>
              <a:gd name="adj" fmla="val 40000"/>
            </a:avLst>
          </a:prstGeom>
          <a:solidFill>
            <a:srgbClr val="FFFFFF"/>
          </a:solidFill>
          <a:ln w="15875">
            <a:solidFill>
              <a:srgbClr val="2D6A4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76200" rIns="76200" tIns="38100" bIns="38100"/>
          <a:lstStyle/>
          <a:p>
            <a:pPr algn="ctr"/>
            <a:r>
              <a:rPr sz="900" b="1" i="0" lang="en-US">
                <a:solidFill>
                  <a:srgbClr val="2D6A4F"/>
                </a:solidFill>
                <a:latin typeface="Noto Sans"/>
              </a:rPr>
              <a:t>✓ no</a:t>
            </a:r>
          </a:p>
        </p:txBody>
      </p:sp>
      <p:sp>
        <p:nvSpPr>
          <p:cNvPr id="55" name="Rounded Rectangle 54"/>
          <p:cNvSpPr/>
          <p:nvPr/>
        </p:nvSpPr>
        <p:spPr>
          <a:xfrm>
            <a:off x="2381250" y="5429250"/>
            <a:ext cx="4095750" cy="228600"/>
          </a:xfrm>
          <a:prstGeom prst="roundRect">
            <a:avLst>
              <a:gd name="adj" fmla="val 40000"/>
            </a:avLst>
          </a:prstGeom>
          <a:solidFill>
            <a:srgbClr val="FFFFFF"/>
          </a:solidFill>
          <a:ln w="15875">
            <a:solidFill>
              <a:srgbClr val="E3C29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76200" rIns="76200" tIns="38100" bIns="38100"/>
          <a:lstStyle/>
          <a:p>
            <a:pPr algn="ctr"/>
            <a:r>
              <a:rPr sz="900" b="1" i="0" lang="en-US">
                <a:solidFill>
                  <a:srgbClr val="E3C29E"/>
                </a:solidFill>
                <a:latin typeface="Noto Sans"/>
              </a:rPr>
              <a:t>⚠ yes at terminal tier → HOLD, no tier 4 (flagged divergence)</a:t>
            </a:r>
          </a:p>
        </p:txBody>
      </p:sp>
      <p:sp>
        <p:nvSpPr>
          <p:cNvPr id="56" name="Rounded Rectangle 55"/>
          <p:cNvSpPr/>
          <p:nvPr/>
        </p:nvSpPr>
        <p:spPr>
          <a:xfrm>
            <a:off x="8877300" y="1123950"/>
            <a:ext cx="2895600" cy="5257800"/>
          </a:xfrm>
          <a:prstGeom prst="roundRect">
            <a:avLst>
              <a:gd name="adj" fmla="val 5000"/>
            </a:avLst>
          </a:prstGeom>
          <a:solidFill>
            <a:srgbClr val="FFFFFF"/>
          </a:solidFill>
          <a:ln w="19050">
            <a:solidFill>
              <a:srgbClr val="E0E0E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76200" rIns="76200" tIns="38100" bIns="38100"/>
          <a:lstStyle/>
          <a:p>
            <a:pPr algn="ctr"/>
          </a:p>
        </p:txBody>
      </p:sp>
      <p:sp>
        <p:nvSpPr>
          <p:cNvPr id="57" name="TextBox 56"/>
          <p:cNvSpPr txBox="1"/>
          <p:nvPr/>
        </p:nvSpPr>
        <p:spPr>
          <a:xfrm>
            <a:off x="9048750" y="1257300"/>
            <a:ext cx="2476500" cy="1905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r>
              <a:rPr sz="1000" b="1" i="0" lang="en-US">
                <a:solidFill>
                  <a:srgbClr val="1A1A1A"/>
                </a:solidFill>
                <a:latin typeface="Noto Sans"/>
              </a:rPr>
              <a:t>ENGINE STATE</a:t>
            </a:r>
          </a:p>
        </p:txBody>
      </p:sp>
      <p:cxnSp>
        <p:nvCxnSpPr>
          <p:cNvPr id="58" name="Connector 57"/>
          <p:cNvCxnSpPr/>
          <p:nvPr/>
        </p:nvCxnSpPr>
        <p:spPr>
          <a:xfrm>
            <a:off x="9048750" y="1485900"/>
            <a:ext cx="2552700" cy="0"/>
          </a:xfrm>
          <a:prstGeom prst="line">
            <a:avLst/>
          </a:prstGeom>
          <a:ln w="12700">
            <a:solidFill>
              <a:srgbClr val="E0E0E0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59" name="TextBox 58"/>
          <p:cNvSpPr txBox="1"/>
          <p:nvPr/>
        </p:nvSpPr>
        <p:spPr>
          <a:xfrm>
            <a:off x="9048750" y="1581150"/>
            <a:ext cx="2476500" cy="1524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r>
              <a:rPr sz="800" b="1" i="0" lang="en-US">
                <a:solidFill>
                  <a:srgbClr val="6B6B6B"/>
                </a:solidFill>
                <a:latin typeface="Noto Sans"/>
              </a:rPr>
              <a:t>WORKING MEMORY</a:t>
            </a:r>
          </a:p>
        </p:txBody>
      </p:sp>
      <p:sp>
        <p:nvSpPr>
          <p:cNvPr id="60" name="Rounded Rectangle 59"/>
          <p:cNvSpPr/>
          <p:nvPr/>
        </p:nvSpPr>
        <p:spPr>
          <a:xfrm>
            <a:off x="9048750" y="1771650"/>
            <a:ext cx="1504950" cy="247650"/>
          </a:xfrm>
          <a:prstGeom prst="roundRect">
            <a:avLst>
              <a:gd name="adj" fmla="val 50000"/>
            </a:avLst>
          </a:prstGeom>
          <a:solidFill>
            <a:srgbClr val="FFEAEA"/>
          </a:solidFill>
          <a:ln w="15875">
            <a:solidFill>
              <a:srgbClr val="CC000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76200" rIns="76200" tIns="38100" bIns="38100"/>
          <a:lstStyle/>
          <a:p>
            <a:pPr algn="ctr"/>
            <a:r>
              <a:rPr sz="1000" b="1" i="0" lang="en-US">
                <a:solidFill>
                  <a:srgbClr val="990000"/>
                </a:solidFill>
                <a:latin typeface="Consolas"/>
              </a:rPr>
              <a:t>Position(nid=hem_07)</a:t>
            </a:r>
          </a:p>
        </p:txBody>
      </p:sp>
      <p:sp>
        <p:nvSpPr>
          <p:cNvPr id="61" name="Rounded Rectangle 60"/>
          <p:cNvSpPr/>
          <p:nvPr/>
        </p:nvSpPr>
        <p:spPr>
          <a:xfrm>
            <a:off x="9048750" y="2076450"/>
            <a:ext cx="1748790" cy="247650"/>
          </a:xfrm>
          <a:prstGeom prst="roundRect">
            <a:avLst>
              <a:gd name="adj" fmla="val 50000"/>
            </a:avLst>
          </a:prstGeom>
          <a:solidFill>
            <a:srgbClr val="F5F5F5"/>
          </a:solidFill>
          <a:ln w="15875">
            <a:solidFill>
              <a:srgbClr val="E0E0E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76200" rIns="76200" tIns="38100" bIns="38100"/>
          <a:lstStyle/>
          <a:p>
            <a:pPr algn="ctr"/>
            <a:r>
              <a:rPr sz="1000" b="0" i="0" lang="en-US">
                <a:solidFill>
                  <a:srgbClr val="4A4A4A"/>
                </a:solidFill>
                <a:latin typeface="Consolas"/>
              </a:rPr>
              <a:t>Active(chart=hemorrhage)</a:t>
            </a:r>
          </a:p>
        </p:txBody>
      </p:sp>
      <p:sp>
        <p:nvSpPr>
          <p:cNvPr id="62" name="TextBox 61"/>
          <p:cNvSpPr txBox="1"/>
          <p:nvPr/>
        </p:nvSpPr>
        <p:spPr>
          <a:xfrm>
            <a:off x="9048750" y="2438400"/>
            <a:ext cx="2476500" cy="1524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r>
              <a:rPr sz="800" b="1" i="0" lang="en-US">
                <a:solidFill>
                  <a:srgbClr val="6B6B6B"/>
                </a:solidFill>
                <a:latin typeface="Noto Sans"/>
              </a:rPr>
              <a:t>RULE FIRED</a:t>
            </a:r>
          </a:p>
        </p:txBody>
      </p:sp>
      <p:sp>
        <p:nvSpPr>
          <p:cNvPr id="63" name="TextBox 62"/>
          <p:cNvSpPr txBox="1"/>
          <p:nvPr/>
        </p:nvSpPr>
        <p:spPr>
          <a:xfrm>
            <a:off x="9048750" y="2609850"/>
            <a:ext cx="2552700" cy="2286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r>
              <a:rPr sz="1300" b="1" i="0" lang="en-US">
                <a:solidFill>
                  <a:srgbClr val="1A1A1A"/>
                </a:solidFill>
                <a:latin typeface="Consolas"/>
              </a:rPr>
              <a:t>hem_decide → walk</a:t>
            </a:r>
            <a:r>
              <a:rPr sz="950" b="0" i="0" lang="en-US">
                <a:solidFill>
                  <a:srgbClr val="4A4A4A"/>
                </a:solidFill>
                <a:latin typeface="Noto Sans"/>
              </a:rPr>
              <a:t>   exit, then leaf</a:t>
            </a:r>
          </a:p>
        </p:txBody>
      </p:sp>
      <p:sp>
        <p:nvSpPr>
          <p:cNvPr id="64" name="TextBox 63"/>
          <p:cNvSpPr txBox="1"/>
          <p:nvPr/>
        </p:nvSpPr>
        <p:spPr>
          <a:xfrm>
            <a:off x="9048750" y="2914650"/>
            <a:ext cx="2476500" cy="1524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r>
              <a:rPr sz="800" b="1" i="0" lang="en-US">
                <a:solidFill>
                  <a:srgbClr val="6B6B6B"/>
                </a:solidFill>
                <a:latin typeface="Noto Sans"/>
              </a:rPr>
              <a:t>Δ THIS STEP</a:t>
            </a:r>
          </a:p>
        </p:txBody>
      </p:sp>
      <p:sp>
        <p:nvSpPr>
          <p:cNvPr id="65" name="TextBox 64"/>
          <p:cNvSpPr txBox="1"/>
          <p:nvPr/>
        </p:nvSpPr>
        <p:spPr>
          <a:xfrm>
            <a:off x="9048750" y="3086100"/>
            <a:ext cx="2552700" cy="1905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r>
              <a:rPr sz="1100" b="1" i="0" lang="en-US">
                <a:solidFill>
                  <a:srgbClr val="6B6B6B"/>
                </a:solidFill>
                <a:latin typeface="Consolas"/>
              </a:rPr>
              <a:t>− </a:t>
            </a:r>
            <a:r>
              <a:rPr sz="1100" b="0" i="0" lang="en-US" strike="sngStrike">
                <a:solidFill>
                  <a:srgbClr val="6B6B6B"/>
                </a:solidFill>
                <a:latin typeface="Consolas"/>
              </a:rPr>
              <a:t>Bleeding(tier=3)</a:t>
            </a:r>
            <a:r>
              <a:rPr sz="850" b="0" i="0" lang="en-US">
                <a:solidFill>
                  <a:srgbClr val="6B6B6B"/>
                </a:solidFill>
                <a:latin typeface="Noto Sans"/>
              </a:rPr>
              <a:t>  retract</a:t>
            </a:r>
          </a:p>
        </p:txBody>
      </p:sp>
      <p:sp>
        <p:nvSpPr>
          <p:cNvPr id="66" name="TextBox 65"/>
          <p:cNvSpPr txBox="1"/>
          <p:nvPr/>
        </p:nvSpPr>
        <p:spPr>
          <a:xfrm>
            <a:off x="9048750" y="3314700"/>
            <a:ext cx="2552700" cy="1905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r>
              <a:rPr sz="1100" b="1" i="0" lang="en-US">
                <a:solidFill>
                  <a:srgbClr val="6B6B6B"/>
                </a:solidFill>
                <a:latin typeface="Consolas"/>
              </a:rPr>
              <a:t>− </a:t>
            </a:r>
            <a:r>
              <a:rPr sz="1100" b="0" i="0" lang="en-US" strike="sngStrike">
                <a:solidFill>
                  <a:srgbClr val="6B6B6B"/>
                </a:solidFill>
                <a:latin typeface="Consolas"/>
              </a:rPr>
              <a:t>StillBleeding(no)</a:t>
            </a:r>
            <a:r>
              <a:rPr sz="850" b="0" i="0" lang="en-US">
                <a:solidFill>
                  <a:srgbClr val="6B6B6B"/>
                </a:solidFill>
                <a:latin typeface="Noto Sans"/>
              </a:rPr>
              <a:t>  retract</a:t>
            </a:r>
          </a:p>
        </p:txBody>
      </p:sp>
      <p:sp>
        <p:nvSpPr>
          <p:cNvPr id="67" name="TextBox 66"/>
          <p:cNvSpPr txBox="1"/>
          <p:nvPr/>
        </p:nvSpPr>
        <p:spPr>
          <a:xfrm>
            <a:off x="9048750" y="5086350"/>
            <a:ext cx="2476500" cy="1524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r>
              <a:rPr sz="800" b="1" i="0" lang="en-US">
                <a:solidFill>
                  <a:srgbClr val="6B6B6B"/>
                </a:solidFill>
                <a:latin typeface="Noto Sans"/>
              </a:rPr>
              <a:t>ENGINE OUTPUT (VERBATIM)</a:t>
            </a:r>
          </a:p>
        </p:txBody>
      </p:sp>
      <p:sp>
        <p:nvSpPr>
          <p:cNvPr id="68" name="Rounded Rectangle 67"/>
          <p:cNvSpPr/>
          <p:nvPr/>
        </p:nvSpPr>
        <p:spPr>
          <a:xfrm>
            <a:off x="9048750" y="5257800"/>
            <a:ext cx="2552700" cy="800100"/>
          </a:xfrm>
          <a:prstGeom prst="roundRect">
            <a:avLst>
              <a:gd name="adj" fmla="val 6000"/>
            </a:avLst>
          </a:prstGeom>
          <a:solidFill>
            <a:srgbClr val="F5F5F5"/>
          </a:solidFill>
          <a:ln w="15875">
            <a:solidFill>
              <a:srgbClr val="E0E0E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 wrap="square" lIns="114300" rIns="114300" tIns="76200" bIns="76200"/>
          <a:lstStyle/>
          <a:p>
            <a:pPr algn="ctr">
              <a:lnSpc>
                <a:spcPct val="115000"/>
              </a:lnSpc>
            </a:pPr>
            <a:r>
              <a:rPr sz="850" b="0" i="0" lang="en-US">
                <a:solidFill>
                  <a:srgbClr val="4A4A4A"/>
                </a:solidFill>
                <a:latin typeface="Consolas"/>
              </a:rPr>
              <a:t>&gt;&gt; bleeding controlled at tier 3</a:t>
            </a:r>
          </a:p>
          <a:p>
            <a:pPr>
              <a:lnSpc>
                <a:spcPct val="115000"/>
              </a:lnSpc>
            </a:pPr>
            <a:r>
              <a:rPr sz="850" b="0" i="0" lang="en-US">
                <a:solidFill>
                  <a:srgbClr val="4A4A4A"/>
                </a:solidFill>
                <a:latin typeface="Consolas"/>
              </a:rPr>
              <a:t>-&gt; exit to hem_07</a:t>
            </a:r>
          </a:p>
          <a:p>
            <a:pPr>
              <a:lnSpc>
                <a:spcPct val="115000"/>
              </a:lnSpc>
            </a:pPr>
            <a:r>
              <a:rPr sz="850" b="0" i="0" lang="en-US">
                <a:solidFill>
                  <a:srgbClr val="4A4A4A"/>
                </a:solidFill>
                <a:latin typeface="Consolas"/>
              </a:rPr>
              <a:t>[hem_07] Urgent and safe</a:t>
            </a:r>
          </a:p>
          <a:p>
            <a:pPr>
              <a:lnSpc>
                <a:spcPct val="115000"/>
              </a:lnSpc>
            </a:pPr>
            <a:r>
              <a:rPr sz="850" b="0" i="0" lang="en-US">
                <a:solidFill>
                  <a:srgbClr val="4A4A4A"/>
                </a:solidFill>
                <a:latin typeface="Consolas"/>
              </a:rPr>
              <a:t>transport…  === END (leaf) ===</a:t>
            </a:r>
          </a:p>
        </p:txBody>
      </p:sp>
      <p:sp>
        <p:nvSpPr>
          <p:cNvPr id="69" name="TextBox 68"/>
          <p:cNvSpPr txBox="1"/>
          <p:nvPr/>
        </p:nvSpPr>
        <p:spPr>
          <a:xfrm>
            <a:off x="9048750" y="6096000"/>
            <a:ext cx="2552700" cy="2286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r>
              <a:rPr sz="750" b="0" i="0" lang="en-US">
                <a:solidFill>
                  <a:srgbClr val="6B6B6B"/>
                </a:solidFill>
                <a:latin typeface="Noto Sans"/>
              </a:rPr>
              <a:t>real session · presentation/traces/walkthrough_yes_branch_en.txt</a:t>
            </a:r>
          </a:p>
        </p:txBody>
      </p:sp>
      <p:sp>
        <p:nvSpPr>
          <p:cNvPr id="70" name="Rounded Rectangle 69"/>
          <p:cNvSpPr/>
          <p:nvPr/>
        </p:nvSpPr>
        <p:spPr>
          <a:xfrm>
            <a:off x="419100" y="6496050"/>
            <a:ext cx="4953000" cy="247650"/>
          </a:xfrm>
          <a:prstGeom prst="roundRect">
            <a:avLst>
              <a:gd name="adj" fmla="val 50000"/>
            </a:avLst>
          </a:prstGeom>
          <a:solidFill>
            <a:srgbClr val="F5F5F5"/>
          </a:solidFill>
          <a:ln w="15875">
            <a:solidFill>
              <a:srgbClr val="E0E0E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76200" rIns="76200" tIns="38100" bIns="38100"/>
          <a:lstStyle/>
          <a:p>
            <a:pPr algn="ctr"/>
            <a:r>
              <a:rPr sz="900" b="0" i="0" lang="en-US">
                <a:solidFill>
                  <a:srgbClr val="4A4A4A"/>
                </a:solidFill>
                <a:latin typeface="Noto Sans"/>
              </a:rPr>
              <a:t>SARC charts #1 + #10 · data/general_assessment.json · data/hemorrhage.json</a:t>
            </a:r>
          </a:p>
        </p:txBody>
      </p:sp>
      <p:sp>
        <p:nvSpPr>
          <p:cNvPr id="71" name="Oval 70"/>
          <p:cNvSpPr/>
          <p:nvPr/>
        </p:nvSpPr>
        <p:spPr>
          <a:xfrm>
            <a:off x="10001250" y="6572250"/>
            <a:ext cx="76200" cy="76200"/>
          </a:xfrm>
          <a:prstGeom prst="ellipse">
            <a:avLst/>
          </a:prstGeom>
          <a:solidFill>
            <a:srgbClr val="4A4A4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76200" rIns="76200" tIns="38100" bIns="38100"/>
          <a:lstStyle/>
          <a:p>
            <a:pPr algn="ctr"/>
          </a:p>
        </p:txBody>
      </p:sp>
      <p:sp>
        <p:nvSpPr>
          <p:cNvPr id="72" name="Oval 71"/>
          <p:cNvSpPr/>
          <p:nvPr/>
        </p:nvSpPr>
        <p:spPr>
          <a:xfrm>
            <a:off x="10163175" y="6572250"/>
            <a:ext cx="76200" cy="76200"/>
          </a:xfrm>
          <a:prstGeom prst="ellipse">
            <a:avLst/>
          </a:prstGeom>
          <a:solidFill>
            <a:srgbClr val="4A4A4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76200" rIns="76200" tIns="38100" bIns="38100"/>
          <a:lstStyle/>
          <a:p>
            <a:pPr algn="ctr"/>
          </a:p>
        </p:txBody>
      </p:sp>
      <p:sp>
        <p:nvSpPr>
          <p:cNvPr id="73" name="Oval 72"/>
          <p:cNvSpPr/>
          <p:nvPr/>
        </p:nvSpPr>
        <p:spPr>
          <a:xfrm>
            <a:off x="10325100" y="6572250"/>
            <a:ext cx="76200" cy="76200"/>
          </a:xfrm>
          <a:prstGeom prst="ellipse">
            <a:avLst/>
          </a:prstGeom>
          <a:solidFill>
            <a:srgbClr val="4A4A4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76200" rIns="76200" tIns="38100" bIns="38100"/>
          <a:lstStyle/>
          <a:p>
            <a:pPr algn="ctr"/>
          </a:p>
        </p:txBody>
      </p:sp>
      <p:sp>
        <p:nvSpPr>
          <p:cNvPr id="74" name="Oval 73"/>
          <p:cNvSpPr/>
          <p:nvPr/>
        </p:nvSpPr>
        <p:spPr>
          <a:xfrm>
            <a:off x="10487025" y="6572250"/>
            <a:ext cx="76200" cy="76200"/>
          </a:xfrm>
          <a:prstGeom prst="ellipse">
            <a:avLst/>
          </a:prstGeom>
          <a:solidFill>
            <a:srgbClr val="4A4A4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76200" rIns="76200" tIns="38100" bIns="38100"/>
          <a:lstStyle/>
          <a:p>
            <a:pPr algn="ctr"/>
          </a:p>
        </p:txBody>
      </p:sp>
      <p:sp>
        <p:nvSpPr>
          <p:cNvPr id="75" name="Oval 74"/>
          <p:cNvSpPr/>
          <p:nvPr/>
        </p:nvSpPr>
        <p:spPr>
          <a:xfrm>
            <a:off x="10648950" y="6572250"/>
            <a:ext cx="76200" cy="76200"/>
          </a:xfrm>
          <a:prstGeom prst="ellipse">
            <a:avLst/>
          </a:prstGeom>
          <a:solidFill>
            <a:srgbClr val="4A4A4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76200" rIns="76200" tIns="38100" bIns="38100"/>
          <a:lstStyle/>
          <a:p>
            <a:pPr algn="ctr"/>
          </a:p>
        </p:txBody>
      </p:sp>
      <p:sp>
        <p:nvSpPr>
          <p:cNvPr id="76" name="Oval 75"/>
          <p:cNvSpPr/>
          <p:nvPr/>
        </p:nvSpPr>
        <p:spPr>
          <a:xfrm>
            <a:off x="10810875" y="6572250"/>
            <a:ext cx="76200" cy="76200"/>
          </a:xfrm>
          <a:prstGeom prst="ellipse">
            <a:avLst/>
          </a:prstGeom>
          <a:solidFill>
            <a:srgbClr val="4A4A4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76200" rIns="76200" tIns="38100" bIns="38100"/>
          <a:lstStyle/>
          <a:p>
            <a:pPr algn="ctr"/>
          </a:p>
        </p:txBody>
      </p:sp>
      <p:sp>
        <p:nvSpPr>
          <p:cNvPr id="77" name="Oval 76"/>
          <p:cNvSpPr/>
          <p:nvPr/>
        </p:nvSpPr>
        <p:spPr>
          <a:xfrm>
            <a:off x="10972800" y="6572250"/>
            <a:ext cx="76200" cy="76200"/>
          </a:xfrm>
          <a:prstGeom prst="ellipse">
            <a:avLst/>
          </a:prstGeom>
          <a:solidFill>
            <a:srgbClr val="4A4A4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76200" rIns="76200" tIns="38100" bIns="38100"/>
          <a:lstStyle/>
          <a:p>
            <a:pPr algn="ctr"/>
          </a:p>
        </p:txBody>
      </p:sp>
      <p:sp>
        <p:nvSpPr>
          <p:cNvPr id="78" name="Oval 77"/>
          <p:cNvSpPr/>
          <p:nvPr/>
        </p:nvSpPr>
        <p:spPr>
          <a:xfrm>
            <a:off x="11134725" y="6572250"/>
            <a:ext cx="76200" cy="76200"/>
          </a:xfrm>
          <a:prstGeom prst="ellipse">
            <a:avLst/>
          </a:prstGeom>
          <a:solidFill>
            <a:srgbClr val="4A4A4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76200" rIns="76200" tIns="38100" bIns="38100"/>
          <a:lstStyle/>
          <a:p>
            <a:pPr algn="ctr"/>
          </a:p>
        </p:txBody>
      </p:sp>
      <p:sp>
        <p:nvSpPr>
          <p:cNvPr id="79" name="Oval 78"/>
          <p:cNvSpPr/>
          <p:nvPr/>
        </p:nvSpPr>
        <p:spPr>
          <a:xfrm>
            <a:off x="11296650" y="6572250"/>
            <a:ext cx="95250" cy="95250"/>
          </a:xfrm>
          <a:prstGeom prst="ellipse">
            <a:avLst/>
          </a:prstGeom>
          <a:solidFill>
            <a:srgbClr val="CC000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76200" rIns="76200" tIns="38100" bIns="38100"/>
          <a:lstStyle/>
          <a:p>
            <a:pPr algn="ctr"/>
          </a:p>
        </p:txBody>
      </p:sp>
      <p:sp>
        <p:nvSpPr>
          <p:cNvPr id="80" name="Oval 79"/>
          <p:cNvSpPr/>
          <p:nvPr/>
        </p:nvSpPr>
        <p:spPr>
          <a:xfrm>
            <a:off x="11458575" y="6572250"/>
            <a:ext cx="76200" cy="76200"/>
          </a:xfrm>
          <a:prstGeom prst="ellipse">
            <a:avLst/>
          </a:prstGeom>
          <a:solidFill>
            <a:srgbClr val="E0E0E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76200" rIns="76200" tIns="38100" bIns="38100"/>
          <a:lstStyle/>
          <a:p>
            <a:pPr algn="ctr"/>
          </a:p>
        </p:txBody>
      </p:sp>
      <p:sp>
        <p:nvSpPr>
          <p:cNvPr id="81" name="TextBox 80"/>
          <p:cNvSpPr txBox="1"/>
          <p:nvPr/>
        </p:nvSpPr>
        <p:spPr>
          <a:xfrm>
            <a:off x="11239500" y="6610350"/>
            <a:ext cx="762000" cy="1905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r>
              <a:rPr sz="900" b="0" i="0" lang="en-US">
                <a:solidFill>
                  <a:srgbClr val="6B6B6B"/>
                </a:solidFill>
                <a:latin typeface="Noto Sans"/>
              </a:rPr>
              <a:t>21 / 28</a:t>
            </a:r>
          </a:p>
        </p:txBody>
      </p:sp>
    </p:spTree>
  </p:cSld>
  <p:clrMapOvr>
    <a:masterClrMapping/>
  </p:clrMapOvr>
</p:sld>
</file>

<file path=ppt/slides/slide2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19100" y="285750"/>
            <a:ext cx="8572500" cy="1905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r>
              <a:rPr sz="1050" b="1" i="0" lang="en-US">
                <a:solidFill>
                  <a:srgbClr val="CC0000"/>
                </a:solidFill>
                <a:latin typeface="Noto Sans"/>
              </a:rPr>
              <a:t>FLOW WALKTHROUGH · STEP 10 OF 10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19100" y="495300"/>
            <a:ext cx="9525000" cy="43815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r>
              <a:rPr sz="2100" b="1" i="0" lang="en-US">
                <a:solidFill>
                  <a:srgbClr val="1A1A1A"/>
                </a:solidFill>
                <a:latin typeface="Noto Sans"/>
              </a:rPr>
              <a:t>The road not taken — the NO branch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10763250" y="323850"/>
            <a:ext cx="1009650" cy="285750"/>
          </a:xfrm>
          <a:prstGeom prst="roundRect">
            <a:avLst>
              <a:gd name="adj" fmla="val 28000"/>
            </a:avLst>
          </a:prstGeom>
          <a:solidFill>
            <a:srgbClr val="CC000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76200" rIns="76200" tIns="38100" bIns="38100"/>
          <a:lstStyle/>
          <a:p>
            <a:pPr algn="ctr"/>
            <a:r>
              <a:rPr sz="1250" b="1" i="0" lang="en-US">
                <a:solidFill>
                  <a:srgbClr val="FFFFFF"/>
                </a:solidFill>
                <a:latin typeface="Noto Sans"/>
              </a:rPr>
              <a:t>ResQRules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419100" y="1714500"/>
            <a:ext cx="1600200" cy="800100"/>
          </a:xfrm>
          <a:prstGeom prst="roundRect">
            <a:avLst>
              <a:gd name="adj" fmla="val 12000"/>
            </a:avLst>
          </a:prstGeom>
          <a:solidFill>
            <a:srgbClr val="FFFFFF"/>
          </a:solidFill>
          <a:ln w="25400">
            <a:solidFill>
              <a:srgbClr val="4A4A4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76200" rIns="76200" tIns="38100" bIns="38100"/>
          <a:lstStyle/>
          <a:p>
            <a:pPr algn="ctr"/>
            <a:r>
              <a:rPr sz="1050" b="1" i="0" lang="en-US">
                <a:solidFill>
                  <a:srgbClr val="1A1A1A"/>
                </a:solidFill>
                <a:latin typeface="Noto Sans"/>
              </a:rPr>
              <a:t>◇ Life-threatening bleeding?</a:t>
            </a:r>
          </a:p>
          <a:p>
            <a:pPr algn="ctr"/>
            <a:r>
              <a:rPr sz="800" b="0" i="0" lang="en-US">
                <a:solidFill>
                  <a:srgbClr val="6B6B6B"/>
                </a:solidFill>
                <a:latin typeface="Noto Sans"/>
              </a:rPr>
              <a:t>gen_04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2057400" y="1981200"/>
            <a:ext cx="190500" cy="2286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r>
              <a:rPr sz="1300" b="1" i="0" lang="en-US">
                <a:solidFill>
                  <a:srgbClr val="6B6B6B"/>
                </a:solidFill>
                <a:latin typeface="Noto Sans"/>
              </a:rPr>
              <a:t>→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2286000" y="1981200"/>
            <a:ext cx="704850" cy="266700"/>
          </a:xfrm>
          <a:prstGeom prst="roundRect">
            <a:avLst>
              <a:gd name="adj" fmla="val 50000"/>
            </a:avLst>
          </a:prstGeom>
          <a:solidFill>
            <a:srgbClr val="FFFFFF"/>
          </a:solidFill>
          <a:ln w="15875">
            <a:solidFill>
              <a:srgbClr val="2D6A4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76200" rIns="76200" tIns="38100" bIns="38100"/>
          <a:lstStyle/>
          <a:p>
            <a:pPr algn="ctr"/>
            <a:r>
              <a:rPr sz="1000" b="1" i="0" lang="en-US">
                <a:solidFill>
                  <a:srgbClr val="2D6A4F"/>
                </a:solidFill>
                <a:latin typeface="Noto Sans"/>
              </a:rPr>
              <a:t>✓ no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3143250" y="1714500"/>
            <a:ext cx="1600200" cy="800100"/>
          </a:xfrm>
          <a:prstGeom prst="roundRect">
            <a:avLst>
              <a:gd name="adj" fmla="val 12000"/>
            </a:avLst>
          </a:prstGeom>
          <a:solidFill>
            <a:srgbClr val="FFFFFF"/>
          </a:solidFill>
          <a:ln w="25400">
            <a:solidFill>
              <a:srgbClr val="4A4A4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76200" rIns="76200" tIns="38100" bIns="38100"/>
          <a:lstStyle/>
          <a:p>
            <a:pPr algn="ctr"/>
            <a:r>
              <a:rPr sz="1050" b="1" i="0" lang="en-US">
                <a:solidFill>
                  <a:srgbClr val="1A1A1A"/>
                </a:solidFill>
                <a:latin typeface="Noto Sans"/>
              </a:rPr>
              <a:t>Primary Assessment — AVPU + ABCDE</a:t>
            </a:r>
          </a:p>
          <a:p>
            <a:pPr algn="ctr"/>
            <a:r>
              <a:rPr sz="800" b="0" i="0" lang="en-US">
                <a:solidFill>
                  <a:srgbClr val="6B6B6B"/>
                </a:solidFill>
                <a:latin typeface="Noto Sans"/>
              </a:rPr>
              <a:t>gen_06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4781550" y="1981200"/>
            <a:ext cx="190500" cy="2286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r>
              <a:rPr sz="1300" b="1" i="0" lang="en-US">
                <a:solidFill>
                  <a:srgbClr val="6B6B6B"/>
                </a:solidFill>
                <a:latin typeface="Noto Sans"/>
              </a:rPr>
              <a:t>→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5010150" y="1714500"/>
            <a:ext cx="1600200" cy="800100"/>
          </a:xfrm>
          <a:prstGeom prst="roundRect">
            <a:avLst>
              <a:gd name="adj" fmla="val 12000"/>
            </a:avLst>
          </a:prstGeom>
          <a:solidFill>
            <a:srgbClr val="FFFFFF"/>
          </a:solidFill>
          <a:ln w="25400">
            <a:solidFill>
              <a:srgbClr val="4A4A4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76200" rIns="76200" tIns="38100" bIns="38100"/>
          <a:lstStyle/>
          <a:p>
            <a:pPr algn="ctr"/>
            <a:r>
              <a:rPr sz="1050" b="1" i="0" lang="en-US">
                <a:solidFill>
                  <a:srgbClr val="1A1A1A"/>
                </a:solidFill>
                <a:latin typeface="Noto Sans"/>
              </a:rPr>
              <a:t>Stable or unstable?</a:t>
            </a:r>
          </a:p>
          <a:p>
            <a:pPr algn="ctr"/>
            <a:r>
              <a:rPr sz="800" b="0" i="0" lang="en-US">
                <a:solidFill>
                  <a:srgbClr val="6B6B6B"/>
                </a:solidFill>
                <a:latin typeface="Noto Sans"/>
              </a:rPr>
              <a:t>gen_07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6648450" y="1981200"/>
            <a:ext cx="190500" cy="2286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r>
              <a:rPr sz="1300" b="1" i="0" lang="en-US">
                <a:solidFill>
                  <a:srgbClr val="6B6B6B"/>
                </a:solidFill>
                <a:latin typeface="Noto Sans"/>
              </a:rPr>
              <a:t>→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6877050" y="1714500"/>
            <a:ext cx="1600200" cy="800100"/>
          </a:xfrm>
          <a:prstGeom prst="roundRect">
            <a:avLst>
              <a:gd name="adj" fmla="val 12000"/>
            </a:avLst>
          </a:prstGeom>
          <a:solidFill>
            <a:srgbClr val="FFFFFF"/>
          </a:solidFill>
          <a:ln w="25400">
            <a:solidFill>
              <a:srgbClr val="4A4A4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76200" rIns="76200" tIns="38100" bIns="38100"/>
          <a:lstStyle/>
          <a:p>
            <a:pPr algn="ctr"/>
            <a:r>
              <a:rPr sz="1050" b="1" i="0" lang="en-US">
                <a:solidFill>
                  <a:srgbClr val="1A1A1A"/>
                </a:solidFill>
                <a:latin typeface="Noto Sans"/>
              </a:rPr>
              <a:t>Unstable: immediate action, BLS</a:t>
            </a:r>
          </a:p>
          <a:p>
            <a:pPr algn="ctr"/>
            <a:r>
              <a:rPr sz="800" b="0" i="0" lang="en-US">
                <a:solidFill>
                  <a:srgbClr val="6B6B6B"/>
                </a:solidFill>
                <a:latin typeface="Noto Sans"/>
              </a:rPr>
              <a:t>gen_09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8515350" y="1981200"/>
            <a:ext cx="190500" cy="2286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r>
              <a:rPr sz="1300" b="1" i="0" lang="en-US">
                <a:solidFill>
                  <a:srgbClr val="6B6B6B"/>
                </a:solidFill>
                <a:latin typeface="Noto Sans"/>
              </a:rPr>
              <a:t>→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8743950" y="1714500"/>
            <a:ext cx="1600200" cy="800100"/>
          </a:xfrm>
          <a:prstGeom prst="roundRect">
            <a:avLst>
              <a:gd name="adj" fmla="val 12000"/>
            </a:avLst>
          </a:prstGeom>
          <a:solidFill>
            <a:srgbClr val="FFFFFF"/>
          </a:solidFill>
          <a:ln w="25400">
            <a:solidFill>
              <a:srgbClr val="4A4A4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76200" rIns="76200" tIns="38100" bIns="38100"/>
          <a:lstStyle/>
          <a:p>
            <a:pPr algn="ctr"/>
            <a:r>
              <a:rPr sz="1050" b="1" i="0" lang="en-US">
                <a:solidFill>
                  <a:srgbClr val="1A1A1A"/>
                </a:solidFill>
                <a:latin typeface="Noto Sans"/>
              </a:rPr>
              <a:t>Secondary Assessment — SAMPLER · OPQRST</a:t>
            </a:r>
          </a:p>
          <a:p>
            <a:pPr algn="ctr"/>
            <a:r>
              <a:rPr sz="800" b="0" i="0" lang="en-US">
                <a:solidFill>
                  <a:srgbClr val="6B6B6B"/>
                </a:solidFill>
                <a:latin typeface="Noto Sans"/>
              </a:rPr>
              <a:t>gen_10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10382250" y="1981200"/>
            <a:ext cx="190500" cy="2286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r>
              <a:rPr sz="1300" b="1" i="0" lang="en-US">
                <a:solidFill>
                  <a:srgbClr val="6B6B6B"/>
                </a:solidFill>
                <a:latin typeface="Noto Sans"/>
              </a:rPr>
              <a:t>→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10610850" y="1714500"/>
            <a:ext cx="1809750" cy="800100"/>
          </a:xfrm>
          <a:prstGeom prst="roundRect">
            <a:avLst>
              <a:gd name="adj" fmla="val 50000"/>
            </a:avLst>
          </a:prstGeom>
          <a:solidFill>
            <a:srgbClr val="F0FAF5"/>
          </a:solidFill>
          <a:ln w="25400">
            <a:solidFill>
              <a:srgbClr val="2D6A4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76200" rIns="76200" tIns="38100" bIns="38100"/>
          <a:lstStyle/>
          <a:p>
            <a:pPr algn="ctr"/>
            <a:r>
              <a:rPr sz="1050" b="1" i="0" lang="en-US">
                <a:solidFill>
                  <a:srgbClr val="1A1A1A"/>
                </a:solidFill>
                <a:latin typeface="Noto Sans"/>
              </a:rPr>
              <a:t>Continuous Assessment &amp; Orientation</a:t>
            </a:r>
          </a:p>
          <a:p>
            <a:pPr algn="ctr"/>
            <a:r>
              <a:rPr sz="800" b="0" i="0" lang="en-US">
                <a:solidFill>
                  <a:srgbClr val="6B6B6B"/>
                </a:solidFill>
                <a:latin typeface="Noto Sans"/>
              </a:rPr>
              <a:t>gen_11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419100" y="3143250"/>
            <a:ext cx="6096000" cy="1219200"/>
          </a:xfrm>
          <a:prstGeom prst="roundRect">
            <a:avLst>
              <a:gd name="adj" fmla="val 6000"/>
            </a:avLst>
          </a:prstGeom>
          <a:solidFill>
            <a:srgbClr val="F5F5F5"/>
          </a:solidFill>
          <a:ln w="15875">
            <a:solidFill>
              <a:srgbClr val="E0E0E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 wrap="square" lIns="114300" rIns="114300" tIns="76200" bIns="76200"/>
          <a:lstStyle/>
          <a:p>
            <a:pPr algn="ctr">
              <a:lnSpc>
                <a:spcPct val="115000"/>
              </a:lnSpc>
            </a:pPr>
            <a:r>
              <a:rPr sz="950" b="0" i="0" lang="en-US">
                <a:solidFill>
                  <a:srgbClr val="4A4A4A"/>
                </a:solidFill>
                <a:latin typeface="Consolas"/>
              </a:rPr>
              <a:t>[gen_06] Primary Assessment — Look-Listen-Feel-Do. AVPU… ABCDE…</a:t>
            </a:r>
          </a:p>
          <a:p>
            <a:pPr>
              <a:lnSpc>
                <a:spcPct val="115000"/>
              </a:lnSpc>
            </a:pPr>
            <a:r>
              <a:rPr sz="950" b="0" i="0" lang="en-US">
                <a:solidFill>
                  <a:srgbClr val="4A4A4A"/>
                </a:solidFill>
                <a:latin typeface="Consolas"/>
              </a:rPr>
              <a:t>[gen_07] Intervention Strategy — stable or unstable?</a:t>
            </a:r>
          </a:p>
          <a:p>
            <a:pPr>
              <a:lnSpc>
                <a:spcPct val="115000"/>
              </a:lnSpc>
            </a:pPr>
            <a:r>
              <a:rPr sz="950" b="0" i="0" lang="en-US">
                <a:solidFill>
                  <a:srgbClr val="4A4A4A"/>
                </a:solidFill>
                <a:latin typeface="Consolas"/>
              </a:rPr>
              <a:t>[gen_10] Secondary Assessment — SAMPLER… OPQRST… GCS… PERRLA…</a:t>
            </a:r>
          </a:p>
          <a:p>
            <a:pPr>
              <a:lnSpc>
                <a:spcPct val="115000"/>
              </a:lnSpc>
            </a:pPr>
            <a:r>
              <a:rPr sz="950" b="0" i="0" lang="en-US">
                <a:solidFill>
                  <a:srgbClr val="4A4A4A"/>
                </a:solidFill>
                <a:latin typeface="Consolas"/>
              </a:rPr>
              <a:t>[gen_11] Continuous Assessment &amp; Orientation…</a:t>
            </a:r>
          </a:p>
          <a:p>
            <a:pPr>
              <a:lnSpc>
                <a:spcPct val="115000"/>
              </a:lnSpc>
            </a:pPr>
            <a:r>
              <a:rPr sz="950" b="1" i="0" lang="en-US">
                <a:solidFill>
                  <a:srgbClr val="1A1A1A"/>
                </a:solidFill>
                <a:latin typeface="Consolas"/>
              </a:rPr>
              <a:t>=== END (action / leaf) ===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419100" y="4400550"/>
            <a:ext cx="4762500" cy="17145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r>
              <a:rPr sz="850" b="0" i="0" lang="en-US">
                <a:solidFill>
                  <a:srgbClr val="6B6B6B"/>
                </a:solidFill>
                <a:latin typeface="Noto Sans"/>
              </a:rPr>
              <a:t>real session · presentation/traces/walkthrough_no_branch_en.txt</a:t>
            </a:r>
          </a:p>
        </p:txBody>
      </p:sp>
      <p:sp>
        <p:nvSpPr>
          <p:cNvPr id="19" name="Rounded Rectangle 18"/>
          <p:cNvSpPr/>
          <p:nvPr/>
        </p:nvSpPr>
        <p:spPr>
          <a:xfrm>
            <a:off x="6858000" y="3238500"/>
            <a:ext cx="4762500" cy="342900"/>
          </a:xfrm>
          <a:prstGeom prst="roundRect">
            <a:avLst>
              <a:gd name="adj" fmla="val 50000"/>
            </a:avLst>
          </a:prstGeom>
          <a:solidFill>
            <a:srgbClr val="FFFFFF"/>
          </a:solidFill>
          <a:ln w="15875">
            <a:solidFill>
              <a:srgbClr val="E0E0E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76200" rIns="76200" tIns="38100" bIns="38100"/>
          <a:lstStyle/>
          <a:p>
            <a:pPr algn="ctr"/>
            <a:r>
              <a:rPr sz="1150" b="0" i="0" lang="en-US">
                <a:solidFill>
                  <a:srgbClr val="4A4A4A"/>
                </a:solidFill>
                <a:latin typeface="Noto Sans"/>
              </a:rPr>
              <a:t>No new fact types here — this is the plain walk at salience 0.</a:t>
            </a:r>
          </a:p>
        </p:txBody>
      </p:sp>
      <p:sp>
        <p:nvSpPr>
          <p:cNvPr id="20" name="Rounded Rectangle 19">
            <a:hlinkClick action="ppaction://hlinksldjump" r:id="rId2"/>
          </p:cNvPr>
          <p:cNvSpPr/>
          <p:nvPr/>
        </p:nvSpPr>
        <p:spPr>
          <a:xfrm>
            <a:off x="6858000" y="3714750"/>
            <a:ext cx="4762500" cy="342900"/>
          </a:xfrm>
          <a:prstGeom prst="roundRect">
            <a:avLst>
              <a:gd name="adj" fmla="val 50000"/>
            </a:avLst>
          </a:prstGeom>
          <a:solidFill>
            <a:srgbClr val="FFEAEA"/>
          </a:solidFill>
          <a:ln w="15875">
            <a:solidFill>
              <a:srgbClr val="CC000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76200" rIns="76200" tIns="38100" bIns="38100"/>
          <a:lstStyle/>
          <a:p>
            <a:pPr algn="ctr"/>
            <a:r>
              <a:rPr sz="1150" b="1" i="0" lang="en-US">
                <a:solidFill>
                  <a:srgbClr val="990000"/>
                </a:solidFill>
                <a:latin typeface="Noto Sans"/>
              </a:rPr>
              <a:t>▶ …and the YES branch is where the inference lives — watch it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11239500" y="6610350"/>
            <a:ext cx="762000" cy="1905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r>
              <a:rPr sz="900" b="0" i="0" lang="en-US">
                <a:solidFill>
                  <a:srgbClr val="6B6B6B"/>
                </a:solidFill>
                <a:latin typeface="Noto Sans"/>
              </a:rPr>
              <a:t>22 / 28</a:t>
            </a:r>
          </a:p>
        </p:txBody>
      </p:sp>
    </p:spTree>
  </p:cSld>
  <p:clrMapOvr>
    <a:masterClrMapping/>
  </p:clrMapOvr>
</p:sld>
</file>

<file path=ppt/slides/slide2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19100" y="285750"/>
            <a:ext cx="8572500" cy="1905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r>
              <a:rPr sz="1050" b="1" i="0" lang="en-US">
                <a:solidFill>
                  <a:srgbClr val="CC0000"/>
                </a:solidFill>
                <a:latin typeface="Noto Sans"/>
              </a:rPr>
              <a:t>INTEGRATION — THE API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19100" y="495300"/>
            <a:ext cx="9525000" cy="43815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r>
              <a:rPr sz="2500" b="1" i="0" lang="en-US">
                <a:solidFill>
                  <a:srgbClr val="1A1A1A"/>
                </a:solidFill>
                <a:latin typeface="Noto Sans"/>
              </a:rPr>
              <a:t>The API contract is a consequence of the architecture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10763250" y="323850"/>
            <a:ext cx="1009650" cy="285750"/>
          </a:xfrm>
          <a:prstGeom prst="roundRect">
            <a:avLst>
              <a:gd name="adj" fmla="val 28000"/>
            </a:avLst>
          </a:prstGeom>
          <a:solidFill>
            <a:srgbClr val="CC000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76200" rIns="76200" tIns="38100" bIns="38100"/>
          <a:lstStyle/>
          <a:p>
            <a:pPr algn="ctr"/>
            <a:r>
              <a:rPr sz="1250" b="1" i="0" lang="en-US">
                <a:solidFill>
                  <a:srgbClr val="FFFFFF"/>
                </a:solidFill>
                <a:latin typeface="Noto Sans"/>
              </a:rPr>
              <a:t>ResQRules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419100" y="1619250"/>
            <a:ext cx="5905500" cy="2857500"/>
          </a:xfrm>
          <a:prstGeom prst="roundRect">
            <a:avLst>
              <a:gd name="adj" fmla="val 6000"/>
            </a:avLst>
          </a:prstGeom>
          <a:solidFill>
            <a:srgbClr val="F5F5F5"/>
          </a:solidFill>
          <a:ln w="15875">
            <a:solidFill>
              <a:srgbClr val="E0E0E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 wrap="square" lIns="114300" rIns="114300" tIns="76200" bIns="76200"/>
          <a:lstStyle/>
          <a:p>
            <a:pPr algn="ctr">
              <a:lnSpc>
                <a:spcPct val="115000"/>
              </a:lnSpc>
            </a:pPr>
            <a:r>
              <a:rPr sz="1000" b="0" i="0" lang="en-US">
                <a:solidFill>
                  <a:srgbClr val="6B6B6B"/>
                </a:solidFill>
                <a:latin typeface="Consolas"/>
              </a:rPr>
              <a:t>POST /sessions/{id}/step      ← real response (abridged)</a:t>
            </a:r>
          </a:p>
          <a:p>
            <a:pPr>
              <a:lnSpc>
                <a:spcPct val="115000"/>
              </a:lnSpc>
            </a:pPr>
            <a:r>
              <a:rPr sz="1000" b="0" i="0" lang="en-US">
                <a:solidFill>
                  <a:srgbClr val="1A1A1A"/>
                </a:solidFill>
                <a:latin typeface="Consolas"/>
              </a:rPr>
              <a:t>{</a:t>
            </a:r>
          </a:p>
          <a:p>
            <a:pPr>
              <a:lnSpc>
                <a:spcPct val="115000"/>
              </a:lnSpc>
            </a:pPr>
            <a:r>
              <a:rPr sz="1000" b="0" i="0" lang="en-US">
                <a:solidFill>
                  <a:srgbClr val="1A1A1A"/>
                </a:solidFill>
                <a:latin typeface="Consolas"/>
              </a:rPr>
              <a:t>  "screen": {</a:t>
            </a:r>
          </a:p>
          <a:p>
            <a:pPr>
              <a:lnSpc>
                <a:spcPct val="115000"/>
              </a:lnSpc>
            </a:pPr>
            <a:r>
              <a:rPr sz="1000" b="1" i="0" lang="en-US">
                <a:solidFill>
                  <a:srgbClr val="990000"/>
                </a:solidFill>
                <a:latin typeface="Consolas"/>
              </a:rPr>
              <a:t>    "type": "question",</a:t>
            </a:r>
            <a:r>
              <a:rPr sz="1000" b="0" i="0" lang="en-US">
                <a:solidFill>
                  <a:srgbClr val="6B6B6B"/>
                </a:solidFill>
                <a:latin typeface="Consolas"/>
              </a:rPr>
              <a:t>        ← the whole contract</a:t>
            </a:r>
          </a:p>
          <a:p>
            <a:pPr>
              <a:lnSpc>
                <a:spcPct val="115000"/>
              </a:lnSpc>
            </a:pPr>
            <a:r>
              <a:rPr sz="1000" b="0" i="0" lang="en-US">
                <a:solidFill>
                  <a:srgbClr val="1A1A1A"/>
                </a:solidFill>
                <a:latin typeface="Consolas"/>
              </a:rPr>
              <a:t>    "node_id": "chk_01",</a:t>
            </a:r>
          </a:p>
          <a:p>
            <a:pPr>
              <a:lnSpc>
                <a:spcPct val="115000"/>
              </a:lnSpc>
            </a:pPr>
            <a:r>
              <a:rPr sz="1000" b="0" i="0" lang="en-US">
                <a:solidFill>
                  <a:srgbClr val="1A1A1A"/>
                </a:solidFill>
                <a:latin typeface="Consolas"/>
              </a:rPr>
              <a:t>    "chart_id": "choking",</a:t>
            </a:r>
          </a:p>
          <a:p>
            <a:pPr>
              <a:lnSpc>
                <a:spcPct val="115000"/>
              </a:lnSpc>
            </a:pPr>
            <a:r>
              <a:rPr sz="1000" b="0" i="0" lang="en-US">
                <a:solidFill>
                  <a:srgbClr val="1A1A1A"/>
                </a:solidFill>
                <a:latin typeface="Consolas"/>
              </a:rPr>
              <a:t>    "text": { "en": "Suspect foreign body…",</a:t>
            </a:r>
          </a:p>
          <a:p>
            <a:pPr>
              <a:lnSpc>
                <a:spcPct val="115000"/>
              </a:lnSpc>
            </a:pPr>
            <a:r>
              <a:rPr sz="1000" b="0" i="0" lang="en-US">
                <a:solidFill>
                  <a:srgbClr val="1A1A1A"/>
                </a:solidFill>
                <a:latin typeface="Consolas"/>
              </a:rPr>
              <a:t>              "ar": "…هل يُشتبه في انسداد" },</a:t>
            </a:r>
          </a:p>
          <a:p>
            <a:pPr>
              <a:lnSpc>
                <a:spcPct val="115000"/>
              </a:lnSpc>
            </a:pPr>
            <a:r>
              <a:rPr sz="1000" b="0" i="0" lang="en-US">
                <a:solidFill>
                  <a:srgbClr val="1A1A1A"/>
                </a:solidFill>
                <a:latin typeface="Consolas"/>
              </a:rPr>
              <a:t>    "options": [ {"id":1,"label":{"en":"yes","ar":"نعم"}},</a:t>
            </a:r>
          </a:p>
          <a:p>
            <a:pPr>
              <a:lnSpc>
                <a:spcPct val="115000"/>
              </a:lnSpc>
            </a:pPr>
            <a:r>
              <a:rPr sz="1000" b="0" i="0" lang="en-US">
                <a:solidFill>
                  <a:srgbClr val="1A1A1A"/>
                </a:solidFill>
                <a:latin typeface="Consolas"/>
              </a:rPr>
              <a:t>                 {"id":2,"label":{"en":"no","ar":"لا"}} ]</a:t>
            </a:r>
          </a:p>
          <a:p>
            <a:pPr>
              <a:lnSpc>
                <a:spcPct val="115000"/>
              </a:lnSpc>
            </a:pPr>
            <a:r>
              <a:rPr sz="1000" b="0" i="0" lang="en-US">
                <a:solidFill>
                  <a:srgbClr val="1A1A1A"/>
                </a:solidFill>
                <a:latin typeface="Consolas"/>
              </a:rPr>
              <a:t>  },</a:t>
            </a:r>
          </a:p>
          <a:p>
            <a:pPr>
              <a:lnSpc>
                <a:spcPct val="115000"/>
              </a:lnSpc>
            </a:pPr>
            <a:r>
              <a:rPr sz="1000" b="0" i="0" lang="en-US">
                <a:solidFill>
                  <a:srgbClr val="1A1A1A"/>
                </a:solidFill>
                <a:latin typeface="Consolas"/>
              </a:rPr>
              <a:t>  "danger_panel": [ …b · n · p · u… ]</a:t>
            </a:r>
          </a:p>
          <a:p>
            <a:pPr>
              <a:lnSpc>
                <a:spcPct val="115000"/>
              </a:lnSpc>
            </a:pPr>
            <a:r>
              <a:rPr sz="1000" b="0" i="0" lang="en-US">
                <a:solidFill>
                  <a:srgbClr val="1A1A1A"/>
                </a:solidFill>
                <a:latin typeface="Consolas"/>
              </a:rPr>
              <a:t>}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6667500" y="1876425"/>
            <a:ext cx="76200" cy="76200"/>
          </a:xfrm>
          <a:prstGeom prst="roundRect">
            <a:avLst>
              <a:gd name="adj" fmla="val 30000"/>
            </a:avLst>
          </a:prstGeom>
          <a:solidFill>
            <a:srgbClr val="CC000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76200" rIns="76200" tIns="38100" bIns="38100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6858000" y="1809750"/>
            <a:ext cx="4953000" cy="5715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>
              <a:lnSpc>
                <a:spcPct val="110000"/>
              </a:lnSpc>
            </a:pPr>
            <a:r>
              <a:rPr sz="1450" b="0" i="0" lang="en-US">
                <a:solidFill>
                  <a:srgbClr val="1A1A1A"/>
                </a:solidFill>
                <a:latin typeface="Noto Sans"/>
              </a:rPr>
              <a:t>Response shapes are driven by </a:t>
            </a:r>
            <a:r>
              <a:rPr sz="1450" b="1" i="0" lang="en-US">
                <a:solidFill>
                  <a:srgbClr val="1A1A1A"/>
                </a:solidFill>
                <a:latin typeface="Noto Sans"/>
              </a:rPr>
              <a:t>node type from the JSON knowledge</a:t>
            </a:r>
            <a:r>
              <a:rPr sz="1450" b="0" i="0" lang="en-US">
                <a:solidFill>
                  <a:srgbClr val="1A1A1A"/>
                </a:solidFill>
                <a:latin typeface="Noto Sans"/>
              </a:rPr>
              <a:t> — never by internal rules or salience.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6667500" y="2686050"/>
            <a:ext cx="76200" cy="76200"/>
          </a:xfrm>
          <a:prstGeom prst="roundRect">
            <a:avLst>
              <a:gd name="adj" fmla="val 30000"/>
            </a:avLst>
          </a:prstGeom>
          <a:solidFill>
            <a:srgbClr val="CC000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76200" rIns="76200" tIns="38100" bIns="38100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6858000" y="2619375"/>
            <a:ext cx="4953000" cy="5715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>
              <a:lnSpc>
                <a:spcPct val="110000"/>
              </a:lnSpc>
            </a:pPr>
            <a:r>
              <a:rPr sz="1450" b="0" i="0" lang="en-US">
                <a:solidFill>
                  <a:srgbClr val="1A1A1A"/>
                </a:solidFill>
                <a:latin typeface="Noto Sans"/>
              </a:rPr>
              <a:t>New rules → </a:t>
            </a:r>
            <a:r>
              <a:rPr sz="1450" b="1" i="0" lang="en-US">
                <a:solidFill>
                  <a:srgbClr val="1A1A1A"/>
                </a:solidFill>
                <a:latin typeface="Noto Sans"/>
              </a:rPr>
              <a:t>zero API change</a:t>
            </a:r>
            <a:r>
              <a:rPr sz="1450" b="0" i="0" lang="en-US">
                <a:solidFill>
                  <a:srgbClr val="1A1A1A"/>
                </a:solidFill>
                <a:latin typeface="Noto Sans"/>
              </a:rPr>
              <a:t>. New chart → </a:t>
            </a:r>
            <a:r>
              <a:rPr sz="1450" b="1" i="0" lang="en-US">
                <a:solidFill>
                  <a:srgbClr val="1A1A1A"/>
                </a:solidFill>
                <a:latin typeface="Noto Sans"/>
              </a:rPr>
              <a:t>auto-discovered</a:t>
            </a:r>
            <a:r>
              <a:rPr sz="1450" b="0" i="0" lang="en-US">
                <a:solidFill>
                  <a:srgbClr val="1A1A1A"/>
                </a:solidFill>
                <a:latin typeface="Noto Sans"/>
              </a:rPr>
              <a:t> by GET /charts.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6667500" y="3495675"/>
            <a:ext cx="76200" cy="76200"/>
          </a:xfrm>
          <a:prstGeom prst="roundRect">
            <a:avLst>
              <a:gd name="adj" fmla="val 30000"/>
            </a:avLst>
          </a:prstGeom>
          <a:solidFill>
            <a:srgbClr val="CC000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76200" rIns="76200" tIns="38100" bIns="38100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6858000" y="3429000"/>
            <a:ext cx="4953000" cy="5715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>
              <a:lnSpc>
                <a:spcPct val="110000"/>
              </a:lnSpc>
            </a:pPr>
            <a:r>
              <a:rPr sz="1450" b="0" i="0" lang="en-US">
                <a:solidFill>
                  <a:srgbClr val="1A1A1A"/>
                </a:solidFill>
                <a:latin typeface="Noto Sans"/>
              </a:rPr>
              <a:t>Every text field ships </a:t>
            </a:r>
            <a:r>
              <a:rPr sz="1450" b="1" i="0" lang="en-US">
                <a:solidFill>
                  <a:srgbClr val="1A1A1A"/>
                </a:solidFill>
                <a:latin typeface="Noto Sans"/>
              </a:rPr>
              <a:t>both languages</a:t>
            </a:r>
            <a:r>
              <a:rPr sz="1450" b="0" i="0" lang="en-US">
                <a:solidFill>
                  <a:srgbClr val="1A1A1A"/>
                </a:solidFill>
                <a:latin typeface="Noto Sans"/>
              </a:rPr>
              <a:t> → switching EN↔AR needs no server round-trip.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11239500" y="6610350"/>
            <a:ext cx="762000" cy="1905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r>
              <a:rPr sz="900" b="0" i="0" lang="en-US">
                <a:solidFill>
                  <a:srgbClr val="6B6B6B"/>
                </a:solidFill>
                <a:latin typeface="Noto Sans"/>
              </a:rPr>
              <a:t>23 / 28</a:t>
            </a:r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4" dur="indefinite" nodeType="mainSeq">
                <p:childTnLst>
                  <p:par>
                    <p:cTn id="4" fill="hold">
                      <p:stCondLst>
                        <p:cond delay="indefinite"/>
                      </p:stCondLst>
                      <p:childTnLst>
                        <p:par>
                          <p:cTn id="5" fill="hold">
                            <p:stCondLst>
                              <p:cond delay="0"/>
                            </p:stCondLst>
                            <p:childTnLst>
                              <p:par>
                                <p:cTn id="2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0" fill="hold">
                      <p:stCondLst>
                        <p:cond delay="indefinite"/>
                      </p:stCondLst>
                      <p:childTnLst>
                        <p:par>
                          <p:cTn id="11" fill="hold">
                            <p:stCondLst>
                              <p:cond delay="0"/>
                            </p:stCondLst>
                            <p:childTnLst>
                              <p:par>
                                <p:cTn id="6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8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6" fill="hold">
                      <p:stCondLst>
                        <p:cond delay="indefinite"/>
                      </p:stCondLst>
                      <p:childTnLst>
                        <p:par>
                          <p:cTn id="17" fill="hold">
                            <p:stCondLst>
                              <p:cond delay="0"/>
                            </p:stCondLst>
                            <p:childTnLst>
                              <p:par>
                                <p:cTn id="12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4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2" fill="hold">
                      <p:stCondLst>
                        <p:cond delay="indefinite"/>
                      </p:stCondLst>
                      <p:childTnLst>
                        <p:par>
                          <p:cTn id="23" fill="hold">
                            <p:stCondLst>
                              <p:cond delay="0"/>
                            </p:stCondLst>
                            <p:childTnLst>
                              <p:par>
                                <p:cTn id="18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0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2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19100" y="285750"/>
            <a:ext cx="8572500" cy="1905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r>
              <a:rPr sz="1050" b="1" i="0" lang="en-US">
                <a:solidFill>
                  <a:srgbClr val="CC0000"/>
                </a:solidFill>
                <a:latin typeface="Noto Sans"/>
              </a:rPr>
              <a:t>INTEGRATION — THE APP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19100" y="495300"/>
            <a:ext cx="9525000" cy="43815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r>
              <a:rPr sz="2500" b="1" i="0" lang="en-US">
                <a:solidFill>
                  <a:srgbClr val="1A1A1A"/>
                </a:solidFill>
                <a:latin typeface="Noto Sans"/>
              </a:rPr>
              <a:t>The same knowledge, in a responder's pocket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10763250" y="323850"/>
            <a:ext cx="1009650" cy="285750"/>
          </a:xfrm>
          <a:prstGeom prst="roundRect">
            <a:avLst>
              <a:gd name="adj" fmla="val 28000"/>
            </a:avLst>
          </a:prstGeom>
          <a:solidFill>
            <a:srgbClr val="CC000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76200" rIns="76200" tIns="38100" bIns="38100"/>
          <a:lstStyle/>
          <a:p>
            <a:pPr algn="ctr"/>
            <a:r>
              <a:rPr sz="1250" b="1" i="0" lang="en-US">
                <a:solidFill>
                  <a:srgbClr val="FFFFFF"/>
                </a:solidFill>
                <a:latin typeface="Noto Sans"/>
              </a:rPr>
              <a:t>ResQRules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571500" y="1524000"/>
            <a:ext cx="1905000" cy="3810000"/>
          </a:xfrm>
          <a:prstGeom prst="roundRect">
            <a:avLst>
              <a:gd name="adj" fmla="val 12000"/>
            </a:avLst>
          </a:prstGeom>
          <a:solidFill>
            <a:srgbClr val="FFFFFF"/>
          </a:solidFill>
          <a:ln w="31750">
            <a:solidFill>
              <a:srgbClr val="1A1A1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76200" rIns="76200" tIns="38100" bIns="38100"/>
          <a:lstStyle/>
          <a:p>
            <a:pPr algn="ctr"/>
          </a:p>
        </p:txBody>
      </p:sp>
      <p:sp>
        <p:nvSpPr>
          <p:cNvPr id="6" name="Rounded Rectangle 5"/>
          <p:cNvSpPr/>
          <p:nvPr/>
        </p:nvSpPr>
        <p:spPr>
          <a:xfrm>
            <a:off x="628650" y="1581150"/>
            <a:ext cx="1790700" cy="323850"/>
          </a:xfrm>
          <a:prstGeom prst="roundRect">
            <a:avLst>
              <a:gd name="adj" fmla="val 15000"/>
            </a:avLst>
          </a:prstGeom>
          <a:solidFill>
            <a:srgbClr val="CC000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76200" rIns="76200" tIns="38100" bIns="38100"/>
          <a:lstStyle/>
          <a:p>
            <a:pPr algn="ctr"/>
            <a:r>
              <a:rPr sz="850" b="1" i="0" lang="en-US">
                <a:solidFill>
                  <a:srgbClr val="FFFFFF"/>
                </a:solidFill>
                <a:latin typeface="Noto Sans"/>
              </a:rPr>
              <a:t>ResQRules · Heimlich Maneuver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704850" y="2019300"/>
            <a:ext cx="1638300" cy="62865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>
              <a:lnSpc>
                <a:spcPct val="115000"/>
              </a:lnSpc>
            </a:pPr>
            <a:r>
              <a:rPr sz="850" b="1" i="0" lang="en-US">
                <a:solidFill>
                  <a:srgbClr val="1A1A1A"/>
                </a:solidFill>
                <a:latin typeface="Noto Sans"/>
              </a:rPr>
              <a:t>Suspect foreign body obstruction? (Universal sign: hands to throat…)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704850" y="2724150"/>
            <a:ext cx="1638300" cy="285750"/>
          </a:xfrm>
          <a:prstGeom prst="roundRect">
            <a:avLst>
              <a:gd name="adj" fmla="val 25000"/>
            </a:avLst>
          </a:prstGeom>
          <a:solidFill>
            <a:srgbClr val="FFFFFF"/>
          </a:solidFill>
          <a:ln w="15875">
            <a:solidFill>
              <a:srgbClr val="E0E0E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76200" rIns="76200" tIns="38100" bIns="38100"/>
          <a:lstStyle/>
          <a:p>
            <a:pPr algn="ctr"/>
            <a:r>
              <a:rPr sz="900" b="1" i="0" lang="en-US">
                <a:solidFill>
                  <a:srgbClr val="1A1A1A"/>
                </a:solidFill>
                <a:latin typeface="Noto Sans"/>
              </a:rPr>
              <a:t>yes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704850" y="3067050"/>
            <a:ext cx="1638300" cy="285750"/>
          </a:xfrm>
          <a:prstGeom prst="roundRect">
            <a:avLst>
              <a:gd name="adj" fmla="val 25000"/>
            </a:avLst>
          </a:prstGeom>
          <a:solidFill>
            <a:srgbClr val="FFFFFF"/>
          </a:solidFill>
          <a:ln w="15875">
            <a:solidFill>
              <a:srgbClr val="E0E0E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76200" rIns="76200" tIns="38100" bIns="38100"/>
          <a:lstStyle/>
          <a:p>
            <a:pPr algn="ctr"/>
            <a:r>
              <a:rPr sz="900" b="1" i="0" lang="en-US">
                <a:solidFill>
                  <a:srgbClr val="1A1A1A"/>
                </a:solidFill>
                <a:latin typeface="Noto Sans"/>
              </a:rPr>
              <a:t>no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704850" y="4705350"/>
            <a:ext cx="1524000" cy="1524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r>
              <a:rPr sz="700" b="0" i="0" lang="en-US">
                <a:solidFill>
                  <a:srgbClr val="6B6B6B"/>
                </a:solidFill>
                <a:latin typeface="Noto Sans"/>
              </a:rPr>
              <a:t>chk_01 · p.7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628650" y="4972050"/>
            <a:ext cx="1790700" cy="304800"/>
          </a:xfrm>
          <a:prstGeom prst="roundRect">
            <a:avLst>
              <a:gd name="adj" fmla="val 10000"/>
            </a:avLst>
          </a:prstGeom>
          <a:solidFill>
            <a:srgbClr val="CC000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76200" rIns="76200" tIns="38100" bIns="38100"/>
          <a:lstStyle/>
          <a:p>
            <a:pPr algn="ctr"/>
            <a:r>
              <a:rPr sz="650" b="1" i="0" lang="en-US">
                <a:solidFill>
                  <a:srgbClr val="FFFFFF"/>
                </a:solidFill>
                <a:latin typeface="Noto Sans"/>
              </a:rPr>
              <a:t>BLEEDING | NO BREATH | NO PULSE | UNCONSC.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476250" y="5410200"/>
            <a:ext cx="2095500" cy="3810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r>
              <a:rPr sz="1100" b="0" i="0" lang="en-US">
                <a:solidFill>
                  <a:srgbClr val="4A4A4A"/>
                </a:solidFill>
                <a:latin typeface="Noto Sans"/>
              </a:rPr>
              <a:t>question screen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2857500" y="1524000"/>
            <a:ext cx="1905000" cy="3810000"/>
          </a:xfrm>
          <a:prstGeom prst="roundRect">
            <a:avLst>
              <a:gd name="adj" fmla="val 12000"/>
            </a:avLst>
          </a:prstGeom>
          <a:solidFill>
            <a:srgbClr val="FFFFFF"/>
          </a:solidFill>
          <a:ln w="31750">
            <a:solidFill>
              <a:srgbClr val="1A1A1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76200" rIns="76200" tIns="38100" bIns="38100"/>
          <a:lstStyle/>
          <a:p>
            <a:pPr algn="ctr"/>
          </a:p>
        </p:txBody>
      </p:sp>
      <p:sp>
        <p:nvSpPr>
          <p:cNvPr id="14" name="Rounded Rectangle 13"/>
          <p:cNvSpPr/>
          <p:nvPr/>
        </p:nvSpPr>
        <p:spPr>
          <a:xfrm>
            <a:off x="2914650" y="1581150"/>
            <a:ext cx="1790700" cy="323850"/>
          </a:xfrm>
          <a:prstGeom prst="roundRect">
            <a:avLst>
              <a:gd name="adj" fmla="val 15000"/>
            </a:avLst>
          </a:prstGeom>
          <a:solidFill>
            <a:srgbClr val="CC000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76200" rIns="76200" tIns="38100" bIns="38100"/>
          <a:lstStyle/>
          <a:p>
            <a:pPr algn="ctr"/>
            <a:r>
              <a:rPr sz="850" b="1" i="0" lang="en-US">
                <a:solidFill>
                  <a:srgbClr val="FFFFFF"/>
                </a:solidFill>
                <a:latin typeface="Noto Sans"/>
              </a:rPr>
              <a:t>ResQRules · Catastrophic Hemorrhage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2990850" y="2019300"/>
            <a:ext cx="1638300" cy="419100"/>
          </a:xfrm>
          <a:prstGeom prst="roundRect">
            <a:avLst>
              <a:gd name="adj" fmla="val 18000"/>
            </a:avLst>
          </a:prstGeom>
          <a:solidFill>
            <a:srgbClr val="CC000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76200" rIns="76200" tIns="38100" bIns="38100"/>
          <a:lstStyle/>
          <a:p>
            <a:pPr algn="ctr"/>
            <a:r>
              <a:rPr sz="750" b="1" i="0" lang="en-US">
                <a:solidFill>
                  <a:srgbClr val="FFFFFF"/>
                </a:solidFill>
                <a:latin typeface="Noto Sans"/>
              </a:rPr>
              <a:t>⚡ OVERRIDE → Catastrophic Hemorrhage · salience 100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2990850" y="2533650"/>
            <a:ext cx="1638300" cy="5715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>
              <a:lnSpc>
                <a:spcPct val="115000"/>
              </a:lnSpc>
            </a:pPr>
            <a:r>
              <a:rPr sz="850" b="1" i="0" lang="en-US">
                <a:solidFill>
                  <a:srgbClr val="1A1A1A"/>
                </a:solidFill>
                <a:latin typeface="Noto Sans"/>
              </a:rPr>
              <a:t>Control of external bleeding: direct compression on the wound…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2990850" y="3143250"/>
            <a:ext cx="1638300" cy="285750"/>
          </a:xfrm>
          <a:prstGeom prst="roundRect">
            <a:avLst>
              <a:gd name="adj" fmla="val 25000"/>
            </a:avLst>
          </a:prstGeom>
          <a:solidFill>
            <a:srgbClr val="FFEAEA"/>
          </a:solidFill>
          <a:ln w="15875">
            <a:solidFill>
              <a:srgbClr val="CC000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76200" rIns="76200" tIns="38100" bIns="38100"/>
          <a:lstStyle/>
          <a:p>
            <a:pPr algn="ctr"/>
            <a:r>
              <a:rPr sz="900" b="1" i="0" lang="en-US">
                <a:solidFill>
                  <a:srgbClr val="1A1A1A"/>
                </a:solidFill>
                <a:latin typeface="Noto Sans"/>
              </a:rPr>
              <a:t>continue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2990850" y="4705350"/>
            <a:ext cx="1638300" cy="1524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r>
              <a:rPr sz="700" b="0" i="0" lang="en-US">
                <a:solidFill>
                  <a:srgbClr val="6B6B6B"/>
                </a:solidFill>
                <a:latin typeface="Noto Sans"/>
              </a:rPr>
              <a:t>hem_01 · p.10 · tier 1/3</a:t>
            </a:r>
          </a:p>
        </p:txBody>
      </p:sp>
      <p:sp>
        <p:nvSpPr>
          <p:cNvPr id="19" name="Rounded Rectangle 18"/>
          <p:cNvSpPr/>
          <p:nvPr/>
        </p:nvSpPr>
        <p:spPr>
          <a:xfrm>
            <a:off x="2914650" y="4972050"/>
            <a:ext cx="1790700" cy="304800"/>
          </a:xfrm>
          <a:prstGeom prst="roundRect">
            <a:avLst>
              <a:gd name="adj" fmla="val 10000"/>
            </a:avLst>
          </a:prstGeom>
          <a:solidFill>
            <a:srgbClr val="CC000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76200" rIns="76200" tIns="38100" bIns="38100"/>
          <a:lstStyle/>
          <a:p>
            <a:pPr algn="ctr"/>
            <a:r>
              <a:rPr sz="650" b="1" i="0" lang="en-US">
                <a:solidFill>
                  <a:srgbClr val="FFFFFF"/>
                </a:solidFill>
                <a:latin typeface="Noto Sans"/>
              </a:rPr>
              <a:t>BLEEDING | NO BREATH | NO PULSE | UNCONSC.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2762250" y="5410200"/>
            <a:ext cx="2095500" cy="3810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r>
              <a:rPr sz="1100" b="0" i="0" lang="en-US">
                <a:solidFill>
                  <a:srgbClr val="4A4A4A"/>
                </a:solidFill>
                <a:latin typeface="Noto Sans"/>
              </a:rPr>
              <a:t>danger-panel override (Inference I, as UI)</a:t>
            </a:r>
          </a:p>
        </p:txBody>
      </p:sp>
      <p:sp>
        <p:nvSpPr>
          <p:cNvPr id="21" name="Rounded Rectangle 20"/>
          <p:cNvSpPr/>
          <p:nvPr/>
        </p:nvSpPr>
        <p:spPr>
          <a:xfrm>
            <a:off x="5143500" y="1524000"/>
            <a:ext cx="1905000" cy="3810000"/>
          </a:xfrm>
          <a:prstGeom prst="roundRect">
            <a:avLst>
              <a:gd name="adj" fmla="val 12000"/>
            </a:avLst>
          </a:prstGeom>
          <a:solidFill>
            <a:srgbClr val="FFFFFF"/>
          </a:solidFill>
          <a:ln w="31750">
            <a:solidFill>
              <a:srgbClr val="1A1A1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76200" rIns="76200" tIns="38100" bIns="38100"/>
          <a:lstStyle/>
          <a:p>
            <a:pPr algn="ctr"/>
          </a:p>
        </p:txBody>
      </p:sp>
      <p:sp>
        <p:nvSpPr>
          <p:cNvPr id="22" name="Rounded Rectangle 21"/>
          <p:cNvSpPr/>
          <p:nvPr/>
        </p:nvSpPr>
        <p:spPr>
          <a:xfrm>
            <a:off x="5200650" y="1581150"/>
            <a:ext cx="1790700" cy="323850"/>
          </a:xfrm>
          <a:prstGeom prst="roundRect">
            <a:avLst>
              <a:gd name="adj" fmla="val 15000"/>
            </a:avLst>
          </a:prstGeom>
          <a:solidFill>
            <a:srgbClr val="CC000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76200" rIns="76200" tIns="38100" bIns="38100"/>
          <a:lstStyle/>
          <a:p>
            <a:pPr algn="ctr"/>
            <a:r>
              <a:rPr sz="850" b="1" i="0" lang="en-US">
                <a:solidFill>
                  <a:srgbClr val="FFFFFF"/>
                </a:solidFill>
                <a:latin typeface="Noto Sans"/>
              </a:rPr>
              <a:t>ResQRules · Catastrophic Hemorrhage</a:t>
            </a:r>
          </a:p>
        </p:txBody>
      </p:sp>
      <p:sp>
        <p:nvSpPr>
          <p:cNvPr id="23" name="Rounded Rectangle 22"/>
          <p:cNvSpPr/>
          <p:nvPr/>
        </p:nvSpPr>
        <p:spPr>
          <a:xfrm>
            <a:off x="5276850" y="2019300"/>
            <a:ext cx="1638300" cy="628650"/>
          </a:xfrm>
          <a:prstGeom prst="roundRect">
            <a:avLst>
              <a:gd name="adj" fmla="val 18000"/>
            </a:avLst>
          </a:prstGeom>
          <a:solidFill>
            <a:srgbClr val="F0FAF5"/>
          </a:solidFill>
          <a:ln w="19050">
            <a:solidFill>
              <a:srgbClr val="2D6A4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76200" rIns="76200" tIns="38100" bIns="38100"/>
          <a:lstStyle/>
          <a:p>
            <a:pPr algn="ctr"/>
            <a:r>
              <a:rPr sz="900" b="1" i="0" lang="en-US">
                <a:solidFill>
                  <a:srgbClr val="2D6A4F"/>
                </a:solidFill>
                <a:latin typeface="Noto Sans"/>
              </a:rPr>
              <a:t>✓ Urgent and safe transport to a health center.</a:t>
            </a:r>
          </a:p>
        </p:txBody>
      </p:sp>
      <p:sp>
        <p:nvSpPr>
          <p:cNvPr id="24" name="Rounded Rectangle 23"/>
          <p:cNvSpPr/>
          <p:nvPr/>
        </p:nvSpPr>
        <p:spPr>
          <a:xfrm>
            <a:off x="5276850" y="4476750"/>
            <a:ext cx="1638300" cy="285750"/>
          </a:xfrm>
          <a:prstGeom prst="roundRect">
            <a:avLst>
              <a:gd name="adj" fmla="val 25000"/>
            </a:avLst>
          </a:prstGeom>
          <a:solidFill>
            <a:srgbClr val="FFFFFF"/>
          </a:solidFill>
          <a:ln w="15875">
            <a:solidFill>
              <a:srgbClr val="E0E0E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76200" rIns="76200" tIns="38100" bIns="38100"/>
          <a:lstStyle/>
          <a:p>
            <a:pPr algn="ctr"/>
            <a:r>
              <a:rPr sz="900" b="1" i="0" lang="en-US">
                <a:solidFill>
                  <a:srgbClr val="1A1A1A"/>
                </a:solidFill>
                <a:latin typeface="Noto Sans"/>
              </a:rPr>
              <a:t>↺ new session</a:t>
            </a:r>
          </a:p>
        </p:txBody>
      </p:sp>
      <p:sp>
        <p:nvSpPr>
          <p:cNvPr id="25" name="Rounded Rectangle 24"/>
          <p:cNvSpPr/>
          <p:nvPr/>
        </p:nvSpPr>
        <p:spPr>
          <a:xfrm>
            <a:off x="5200650" y="4972050"/>
            <a:ext cx="1790700" cy="304800"/>
          </a:xfrm>
          <a:prstGeom prst="roundRect">
            <a:avLst>
              <a:gd name="adj" fmla="val 10000"/>
            </a:avLst>
          </a:prstGeom>
          <a:solidFill>
            <a:srgbClr val="CC000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76200" rIns="76200" tIns="38100" bIns="38100"/>
          <a:lstStyle/>
          <a:p>
            <a:pPr algn="ctr"/>
            <a:r>
              <a:rPr sz="650" b="1" i="0" lang="en-US">
                <a:solidFill>
                  <a:srgbClr val="FFFFFF"/>
                </a:solidFill>
                <a:latin typeface="Noto Sans"/>
              </a:rPr>
              <a:t>BLEEDING | NO BREATH | NO PULSE | UNCONSC.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5048250" y="5410200"/>
            <a:ext cx="2095500" cy="3810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r>
              <a:rPr sz="1100" b="0" i="0" lang="en-US">
                <a:solidFill>
                  <a:srgbClr val="4A4A4A"/>
                </a:solidFill>
                <a:latin typeface="Noto Sans"/>
              </a:rPr>
              <a:t>terminal action leaf</a:t>
            </a:r>
          </a:p>
        </p:txBody>
      </p:sp>
      <p:sp>
        <p:nvSpPr>
          <p:cNvPr id="27" name="Rounded Rectangle 26"/>
          <p:cNvSpPr/>
          <p:nvPr/>
        </p:nvSpPr>
        <p:spPr>
          <a:xfrm>
            <a:off x="7620000" y="1971675"/>
            <a:ext cx="76200" cy="76200"/>
          </a:xfrm>
          <a:prstGeom prst="roundRect">
            <a:avLst>
              <a:gd name="adj" fmla="val 30000"/>
            </a:avLst>
          </a:prstGeom>
          <a:solidFill>
            <a:srgbClr val="CC000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76200" rIns="76200" tIns="38100" bIns="38100"/>
          <a:lstStyle/>
          <a:p>
            <a:pPr algn="ctr"/>
          </a:p>
        </p:txBody>
      </p:sp>
      <p:sp>
        <p:nvSpPr>
          <p:cNvPr id="28" name="TextBox 27"/>
          <p:cNvSpPr txBox="1"/>
          <p:nvPr/>
        </p:nvSpPr>
        <p:spPr>
          <a:xfrm>
            <a:off x="7810500" y="1905000"/>
            <a:ext cx="4000500" cy="5715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>
              <a:lnSpc>
                <a:spcPct val="110000"/>
              </a:lnSpc>
            </a:pPr>
            <a:r>
              <a:rPr sz="1350" b="0" i="0" lang="en-US">
                <a:solidFill>
                  <a:srgbClr val="1A1A1A"/>
                </a:solidFill>
                <a:latin typeface="Noto Sans"/>
              </a:rPr>
              <a:t>One widget per server node </a:t>
            </a:r>
            <a:r>
              <a:rPr sz="1350" b="0" i="0" lang="en-US">
                <a:solidFill>
                  <a:srgbClr val="1A1A1A"/>
                </a:solidFill>
                <a:latin typeface="Consolas"/>
              </a:rPr>
              <a:t>type</a:t>
            </a:r>
            <a:r>
              <a:rPr sz="1350" b="0" i="0" lang="en-US">
                <a:solidFill>
                  <a:srgbClr val="1A1A1A"/>
                </a:solidFill>
                <a:latin typeface="Noto Sans"/>
              </a:rPr>
              <a:t> — </a:t>
            </a:r>
            <a:r>
              <a:rPr sz="1350" b="1" i="0" lang="en-US">
                <a:solidFill>
                  <a:srgbClr val="1A1A1A"/>
                </a:solidFill>
                <a:latin typeface="Noto Sans"/>
              </a:rPr>
              <a:t>the KBS drives the UI</a:t>
            </a:r>
            <a:r>
              <a:rPr sz="1350" b="0" i="0" lang="en-US">
                <a:solidFill>
                  <a:srgbClr val="1A1A1A"/>
                </a:solidFill>
                <a:latin typeface="Noto Sans"/>
              </a:rPr>
              <a:t>; the shell never changes.</a:t>
            </a:r>
          </a:p>
        </p:txBody>
      </p:sp>
      <p:sp>
        <p:nvSpPr>
          <p:cNvPr id="29" name="Rounded Rectangle 28"/>
          <p:cNvSpPr/>
          <p:nvPr/>
        </p:nvSpPr>
        <p:spPr>
          <a:xfrm>
            <a:off x="7620000" y="2733675"/>
            <a:ext cx="76200" cy="76200"/>
          </a:xfrm>
          <a:prstGeom prst="roundRect">
            <a:avLst>
              <a:gd name="adj" fmla="val 30000"/>
            </a:avLst>
          </a:prstGeom>
          <a:solidFill>
            <a:srgbClr val="CC000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76200" rIns="76200" tIns="38100" bIns="38100"/>
          <a:lstStyle/>
          <a:p>
            <a:pPr algn="ctr"/>
          </a:p>
        </p:txBody>
      </p:sp>
      <p:sp>
        <p:nvSpPr>
          <p:cNvPr id="30" name="TextBox 29"/>
          <p:cNvSpPr txBox="1"/>
          <p:nvPr/>
        </p:nvSpPr>
        <p:spPr>
          <a:xfrm>
            <a:off x="7810500" y="2667000"/>
            <a:ext cx="4000500" cy="5715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>
              <a:lnSpc>
                <a:spcPct val="110000"/>
              </a:lnSpc>
            </a:pPr>
            <a:r>
              <a:rPr sz="1350" b="0" i="0" lang="en-US">
                <a:solidFill>
                  <a:srgbClr val="1A1A1A"/>
                </a:solidFill>
                <a:latin typeface="Noto Sans"/>
              </a:rPr>
              <a:t>The persistent </a:t>
            </a:r>
            <a:r>
              <a:rPr sz="1350" b="1" i="0" lang="en-US">
                <a:solidFill>
                  <a:srgbClr val="1A1A1A"/>
                </a:solidFill>
                <a:latin typeface="Noto Sans"/>
              </a:rPr>
              <a:t>danger panel</a:t>
            </a:r>
            <a:r>
              <a:rPr sz="1350" b="0" i="0" lang="en-US">
                <a:solidFill>
                  <a:srgbClr val="1A1A1A"/>
                </a:solidFill>
                <a:latin typeface="Noto Sans"/>
              </a:rPr>
              <a:t> = the salience overrides, as UI.</a:t>
            </a:r>
          </a:p>
        </p:txBody>
      </p:sp>
      <p:sp>
        <p:nvSpPr>
          <p:cNvPr id="31" name="Rounded Rectangle 30"/>
          <p:cNvSpPr/>
          <p:nvPr/>
        </p:nvSpPr>
        <p:spPr>
          <a:xfrm>
            <a:off x="7620000" y="3352800"/>
            <a:ext cx="76200" cy="76200"/>
          </a:xfrm>
          <a:prstGeom prst="roundRect">
            <a:avLst>
              <a:gd name="adj" fmla="val 30000"/>
            </a:avLst>
          </a:prstGeom>
          <a:solidFill>
            <a:srgbClr val="CC000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76200" rIns="76200" tIns="38100" bIns="38100"/>
          <a:lstStyle/>
          <a:p>
            <a:pPr algn="ctr"/>
          </a:p>
        </p:txBody>
      </p:sp>
      <p:sp>
        <p:nvSpPr>
          <p:cNvPr id="32" name="TextBox 31"/>
          <p:cNvSpPr txBox="1"/>
          <p:nvPr/>
        </p:nvSpPr>
        <p:spPr>
          <a:xfrm>
            <a:off x="7810500" y="3286125"/>
            <a:ext cx="4000500" cy="5715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>
              <a:lnSpc>
                <a:spcPct val="110000"/>
              </a:lnSpc>
            </a:pPr>
            <a:r>
              <a:rPr sz="1350" b="0" i="0" lang="en-US">
                <a:solidFill>
                  <a:srgbClr val="1A1A1A"/>
                </a:solidFill>
                <a:latin typeface="Noto Sans"/>
              </a:rPr>
              <a:t>Instant EN↔AR — both languages arrive in every response; RTL flips locally.</a:t>
            </a:r>
          </a:p>
        </p:txBody>
      </p:sp>
      <p:sp>
        <p:nvSpPr>
          <p:cNvPr id="33" name="Rounded Rectangle 32"/>
          <p:cNvSpPr/>
          <p:nvPr/>
        </p:nvSpPr>
        <p:spPr>
          <a:xfrm>
            <a:off x="7620000" y="4067175"/>
            <a:ext cx="76200" cy="76200"/>
          </a:xfrm>
          <a:prstGeom prst="roundRect">
            <a:avLst>
              <a:gd name="adj" fmla="val 30000"/>
            </a:avLst>
          </a:prstGeom>
          <a:solidFill>
            <a:srgbClr val="CC000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76200" rIns="76200" tIns="38100" bIns="38100"/>
          <a:lstStyle/>
          <a:p>
            <a:pPr algn="ctr"/>
          </a:p>
        </p:txBody>
      </p:sp>
      <p:sp>
        <p:nvSpPr>
          <p:cNvPr id="34" name="TextBox 33"/>
          <p:cNvSpPr txBox="1"/>
          <p:nvPr/>
        </p:nvSpPr>
        <p:spPr>
          <a:xfrm>
            <a:off x="7810500" y="4000500"/>
            <a:ext cx="4000500" cy="5715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>
              <a:lnSpc>
                <a:spcPct val="110000"/>
              </a:lnSpc>
            </a:pPr>
            <a:r>
              <a:rPr sz="1150" b="0" i="0" lang="en-US">
                <a:solidFill>
                  <a:srgbClr val="4A4A4A"/>
                </a:solidFill>
                <a:latin typeface="Noto Sans"/>
              </a:rPr>
              <a:t>Stack, in one breath: Clean Architecture · Cubit · Retrofit.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11239500" y="6610350"/>
            <a:ext cx="762000" cy="1905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r>
              <a:rPr sz="900" b="0" i="0" lang="en-US">
                <a:solidFill>
                  <a:srgbClr val="6B6B6B"/>
                </a:solidFill>
                <a:latin typeface="Noto Sans"/>
              </a:rPr>
              <a:t>24 / 28</a:t>
            </a:r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76" dur="indefinite" nodeType="mainSeq">
                <p:childTnLst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4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6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8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0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2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4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6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6" fill="hold">
                      <p:stCondLst>
                        <p:cond delay="indefinite"/>
                      </p:stCondLst>
                      <p:childTnLst>
                        <p:par>
                          <p:cTn id="37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2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4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6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8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30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32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34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0" fill="hold">
                      <p:stCondLst>
                        <p:cond delay="indefinite"/>
                      </p:stCondLst>
                      <p:childTnLst>
                        <p:par>
                          <p:cTn id="51" fill="hold">
                            <p:stCondLst>
                              <p:cond delay="0"/>
                            </p:stCondLst>
                            <p:childTnLst>
                              <p:par>
                                <p:cTn id="38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40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42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44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46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48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6" fill="hold">
                      <p:stCondLst>
                        <p:cond delay="indefinite"/>
                      </p:stCondLst>
                      <p:childTnLst>
                        <p:par>
                          <p:cTn id="57" fill="hold">
                            <p:stCondLst>
                              <p:cond delay="0"/>
                            </p:stCondLst>
                            <p:childTnLst>
                              <p:par>
                                <p:cTn id="52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54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2" fill="hold">
                      <p:stCondLst>
                        <p:cond delay="indefinite"/>
                      </p:stCondLst>
                      <p:childTnLst>
                        <p:par>
                          <p:cTn id="63" fill="hold">
                            <p:stCondLst>
                              <p:cond delay="0"/>
                            </p:stCondLst>
                            <p:childTnLst>
                              <p:par>
                                <p:cTn id="58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60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8" fill="hold">
                      <p:stCondLst>
                        <p:cond delay="indefinite"/>
                      </p:stCondLst>
                      <p:childTnLst>
                        <p:par>
                          <p:cTn id="69" fill="hold">
                            <p:stCondLst>
                              <p:cond delay="0"/>
                            </p:stCondLst>
                            <p:childTnLst>
                              <p:par>
                                <p:cTn id="64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66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4" fill="hold">
                      <p:stCondLst>
                        <p:cond delay="indefinite"/>
                      </p:stCondLst>
                      <p:childTnLst>
                        <p:par>
                          <p:cTn id="75" fill="hold">
                            <p:stCondLst>
                              <p:cond delay="0"/>
                            </p:stCondLst>
                            <p:childTnLst>
                              <p:par>
                                <p:cTn id="70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2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2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-19050" y="-19050"/>
            <a:ext cx="12230100" cy="6896100"/>
          </a:xfrm>
          <a:prstGeom prst="rect">
            <a:avLst/>
          </a:prstGeom>
          <a:solidFill>
            <a:srgbClr val="CC000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76200" rIns="76200" tIns="38100" bIns="38100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1809750" y="2000250"/>
            <a:ext cx="8572500" cy="85725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r>
              <a:rPr sz="5400" b="1" i="0" lang="en-US">
                <a:solidFill>
                  <a:srgbClr val="FFFFFF"/>
                </a:solidFill>
                <a:latin typeface="Noto Sans"/>
              </a:rPr>
              <a:t>Live demo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2286000" y="3048000"/>
            <a:ext cx="7620000" cy="3810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r>
              <a:rPr sz="1700" b="0" i="0" lang="en-US">
                <a:solidFill>
                  <a:srgbClr val="FFE2E2"/>
                </a:solidFill>
                <a:latin typeface="Noto Sans"/>
              </a:rPr>
              <a:t>The engine narrates its own inference — watch the salience fire.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1619250" y="3810000"/>
            <a:ext cx="2324100" cy="342900"/>
          </a:xfrm>
          <a:prstGeom prst="roundRect">
            <a:avLst>
              <a:gd name="adj" fmla="val 50000"/>
            </a:avLst>
          </a:prstGeom>
          <a:solidFill>
            <a:srgbClr val="D93333"/>
          </a:solidFill>
          <a:ln w="12700">
            <a:solidFill>
              <a:srgbClr val="F0A0A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76200" rIns="76200" tIns="38100" bIns="38100"/>
          <a:lstStyle/>
          <a:p>
            <a:pPr algn="ctr"/>
            <a:r>
              <a:rPr sz="1050" b="1" i="0" lang="en-US">
                <a:solidFill>
                  <a:srgbClr val="FFFFFF"/>
                </a:solidFill>
                <a:latin typeface="Noto Sans"/>
              </a:rPr>
              <a:t>danger key b → sal-100 preempt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4133850" y="3810000"/>
            <a:ext cx="3813810" cy="342900"/>
          </a:xfrm>
          <a:prstGeom prst="roundRect">
            <a:avLst>
              <a:gd name="adj" fmla="val 50000"/>
            </a:avLst>
          </a:prstGeom>
          <a:solidFill>
            <a:srgbClr val="D93333"/>
          </a:solidFill>
          <a:ln w="12700">
            <a:solidFill>
              <a:srgbClr val="F0A0A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76200" rIns="76200" tIns="38100" bIns="38100"/>
          <a:lstStyle/>
          <a:p>
            <a:pPr algn="ctr"/>
            <a:r>
              <a:rPr sz="1050" b="1" i="0" lang="en-US">
                <a:solidFill>
                  <a:srgbClr val="FFFFFF"/>
                </a:solidFill>
                <a:latin typeface="Noto Sans"/>
              </a:rPr>
              <a:t>“unsure” at Sign of life? → CF routes to compressions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8138160" y="3810000"/>
            <a:ext cx="1741170" cy="342900"/>
          </a:xfrm>
          <a:prstGeom prst="roundRect">
            <a:avLst>
              <a:gd name="adj" fmla="val 50000"/>
            </a:avLst>
          </a:prstGeom>
          <a:solidFill>
            <a:srgbClr val="D93333"/>
          </a:solidFill>
          <a:ln w="12700">
            <a:solidFill>
              <a:srgbClr val="F0A0A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76200" rIns="76200" tIns="38100" bIns="38100"/>
          <a:lstStyle/>
          <a:p>
            <a:pPr algn="ctr"/>
            <a:r>
              <a:rPr sz="1050" b="1" i="0" lang="en-US">
                <a:solidFill>
                  <a:srgbClr val="FFFFFF"/>
                </a:solidFill>
                <a:latin typeface="Noto Sans"/>
              </a:rPr>
              <a:t>the app, in the field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2286000" y="4572000"/>
            <a:ext cx="7620000" cy="28575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r>
              <a:rPr sz="1200" b="0" i="0" lang="en-US">
                <a:solidFill>
                  <a:srgbClr val="FFB9B9"/>
                </a:solidFill>
                <a:latin typeface="Noto Sans"/>
              </a:rPr>
              <a:t>(presenter: switch to the video / live terminal now)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1239500" y="6610350"/>
            <a:ext cx="762000" cy="1905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r>
              <a:rPr sz="900" b="0" i="0" lang="en-US">
                <a:solidFill>
                  <a:srgbClr val="6B6B6B"/>
                </a:solidFill>
                <a:latin typeface="Noto Sans"/>
              </a:rPr>
              <a:t>25 / 28</a:t>
            </a:r>
          </a:p>
        </p:txBody>
      </p:sp>
    </p:spTree>
  </p:cSld>
  <p:clrMapOvr>
    <a:masterClrMapping/>
  </p:clrMapOvr>
</p:sld>
</file>

<file path=ppt/slides/slide2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19100" y="285750"/>
            <a:ext cx="8572500" cy="1905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r>
              <a:rPr sz="1050" b="1" i="0" lang="en-US">
                <a:solidFill>
                  <a:srgbClr val="CC0000"/>
                </a:solidFill>
                <a:latin typeface="Noto Sans"/>
              </a:rPr>
              <a:t>THE JOURNEY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19100" y="495300"/>
            <a:ext cx="9525000" cy="43815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r>
              <a:rPr sz="2500" b="1" i="0" lang="en-US">
                <a:solidFill>
                  <a:srgbClr val="1A1A1A"/>
                </a:solidFill>
                <a:latin typeface="Noto Sans"/>
              </a:rPr>
              <a:t>From paper to a reasoning system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10763250" y="323850"/>
            <a:ext cx="1009650" cy="285750"/>
          </a:xfrm>
          <a:prstGeom prst="roundRect">
            <a:avLst>
              <a:gd name="adj" fmla="val 28000"/>
            </a:avLst>
          </a:prstGeom>
          <a:solidFill>
            <a:srgbClr val="CC000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76200" rIns="76200" tIns="38100" bIns="38100"/>
          <a:lstStyle/>
          <a:p>
            <a:pPr algn="ctr"/>
            <a:r>
              <a:rPr sz="1250" b="1" i="0" lang="en-US">
                <a:solidFill>
                  <a:srgbClr val="FFFFFF"/>
                </a:solidFill>
                <a:latin typeface="Noto Sans"/>
              </a:rPr>
              <a:t>ResQRules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419100" y="2000250"/>
            <a:ext cx="2019300" cy="819150"/>
          </a:xfrm>
          <a:prstGeom prst="roundRect">
            <a:avLst>
              <a:gd name="adj" fmla="val 12000"/>
            </a:avLst>
          </a:prstGeom>
          <a:solidFill>
            <a:srgbClr val="FFFFFF"/>
          </a:solidFill>
          <a:ln w="22225">
            <a:solidFill>
              <a:srgbClr val="4A4A4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76200" rIns="76200" tIns="38100" bIns="38100"/>
          <a:lstStyle/>
          <a:p>
            <a:pPr algn="ctr"/>
            <a:r>
              <a:rPr sz="1350" b="1" i="0" lang="en-US">
                <a:solidFill>
                  <a:srgbClr val="1A1A1A"/>
                </a:solidFill>
                <a:latin typeface="Noto Sans"/>
              </a:rPr>
              <a:t>SARC PDFs</a:t>
            </a:r>
          </a:p>
          <a:p>
            <a:pPr algn="ctr"/>
            <a:r>
              <a:rPr sz="950" b="0" i="0" lang="en-US">
                <a:solidFill>
                  <a:srgbClr val="6B6B6B"/>
                </a:solidFill>
                <a:latin typeface="Noto Sans"/>
              </a:rPr>
              <a:t>visual-only extraction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2457450" y="2247900"/>
            <a:ext cx="247650" cy="28575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r>
              <a:rPr sz="1500" b="1" i="0" lang="en-US">
                <a:solidFill>
                  <a:srgbClr val="6B6B6B"/>
                </a:solidFill>
                <a:latin typeface="Noto Sans"/>
              </a:rPr>
              <a:t>→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2762250" y="2000250"/>
            <a:ext cx="2019300" cy="819150"/>
          </a:xfrm>
          <a:prstGeom prst="roundRect">
            <a:avLst>
              <a:gd name="adj" fmla="val 12000"/>
            </a:avLst>
          </a:prstGeom>
          <a:solidFill>
            <a:srgbClr val="FFFFFF"/>
          </a:solidFill>
          <a:ln w="22225">
            <a:solidFill>
              <a:srgbClr val="4A4A4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76200" rIns="76200" tIns="38100" bIns="38100"/>
          <a:lstStyle/>
          <a:p>
            <a:pPr algn="ctr"/>
            <a:r>
              <a:rPr sz="1350" b="1" i="0" lang="en-US">
                <a:solidFill>
                  <a:srgbClr val="1A1A1A"/>
                </a:solidFill>
                <a:latin typeface="Noto Sans"/>
              </a:rPr>
              <a:t>JSON knowledge</a:t>
            </a:r>
          </a:p>
          <a:p>
            <a:pPr algn="ctr"/>
            <a:r>
              <a:rPr sz="950" b="0" i="0" lang="en-US">
                <a:solidFill>
                  <a:srgbClr val="6B6B6B"/>
                </a:solidFill>
                <a:latin typeface="Noto Sans"/>
              </a:rPr>
              <a:t>59 nodes · provenance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4800600" y="2247900"/>
            <a:ext cx="247650" cy="28575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r>
              <a:rPr sz="1500" b="1" i="0" lang="en-US">
                <a:solidFill>
                  <a:srgbClr val="6B6B6B"/>
                </a:solidFill>
                <a:latin typeface="Noto Sans"/>
              </a:rPr>
              <a:t>→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5105400" y="2000250"/>
            <a:ext cx="2019300" cy="819150"/>
          </a:xfrm>
          <a:prstGeom prst="roundRect">
            <a:avLst>
              <a:gd name="adj" fmla="val 12000"/>
            </a:avLst>
          </a:prstGeom>
          <a:solidFill>
            <a:srgbClr val="FFFFFF"/>
          </a:solidFill>
          <a:ln w="22225">
            <a:solidFill>
              <a:srgbClr val="4A4A4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76200" rIns="76200" tIns="38100" bIns="38100"/>
          <a:lstStyle/>
          <a:p>
            <a:pPr algn="ctr"/>
            <a:r>
              <a:rPr sz="1350" b="1" i="0" lang="en-US">
                <a:solidFill>
                  <a:srgbClr val="1A1A1A"/>
                </a:solidFill>
                <a:latin typeface="Noto Sans"/>
              </a:rPr>
              <a:t>Experta engine</a:t>
            </a:r>
          </a:p>
          <a:p>
            <a:pPr algn="ctr"/>
            <a:r>
              <a:rPr sz="950" b="0" i="0" lang="en-US">
                <a:solidFill>
                  <a:srgbClr val="6B6B6B"/>
                </a:solidFill>
                <a:latin typeface="Noto Sans"/>
              </a:rPr>
              <a:t>8 rules · 3 layers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7143750" y="2247900"/>
            <a:ext cx="247650" cy="28575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r>
              <a:rPr sz="1500" b="1" i="0" lang="en-US">
                <a:solidFill>
                  <a:srgbClr val="6B6B6B"/>
                </a:solidFill>
                <a:latin typeface="Noto Sans"/>
              </a:rPr>
              <a:t>→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7448550" y="2000250"/>
            <a:ext cx="2019300" cy="819150"/>
          </a:xfrm>
          <a:prstGeom prst="roundRect">
            <a:avLst>
              <a:gd name="adj" fmla="val 12000"/>
            </a:avLst>
          </a:prstGeom>
          <a:solidFill>
            <a:srgbClr val="FFFFFF"/>
          </a:solidFill>
          <a:ln w="22225">
            <a:solidFill>
              <a:srgbClr val="4A4A4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76200" rIns="76200" tIns="38100" bIns="38100"/>
          <a:lstStyle/>
          <a:p>
            <a:pPr algn="ctr"/>
            <a:r>
              <a:rPr sz="1350" b="1" i="0" lang="en-US">
                <a:solidFill>
                  <a:srgbClr val="1A1A1A"/>
                </a:solidFill>
                <a:latin typeface="Noto Sans"/>
              </a:rPr>
              <a:t>FastAPI</a:t>
            </a:r>
          </a:p>
          <a:p>
            <a:pPr algn="ctr"/>
            <a:r>
              <a:rPr sz="950" b="0" i="0" lang="en-US">
                <a:solidFill>
                  <a:srgbClr val="6B6B6B"/>
                </a:solidFill>
                <a:latin typeface="Noto Sans"/>
              </a:rPr>
              <a:t>type-driven contract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9486900" y="2247900"/>
            <a:ext cx="247650" cy="28575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r>
              <a:rPr sz="1500" b="1" i="0" lang="en-US">
                <a:solidFill>
                  <a:srgbClr val="6B6B6B"/>
                </a:solidFill>
                <a:latin typeface="Noto Sans"/>
              </a:rPr>
              <a:t>→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9791700" y="2000250"/>
            <a:ext cx="2019300" cy="819150"/>
          </a:xfrm>
          <a:prstGeom prst="roundRect">
            <a:avLst>
              <a:gd name="adj" fmla="val 12000"/>
            </a:avLst>
          </a:prstGeom>
          <a:solidFill>
            <a:srgbClr val="FFFFFF"/>
          </a:solidFill>
          <a:ln w="22225">
            <a:solidFill>
              <a:srgbClr val="4A4A4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76200" rIns="76200" tIns="38100" bIns="38100"/>
          <a:lstStyle/>
          <a:p>
            <a:pPr algn="ctr"/>
            <a:r>
              <a:rPr sz="1350" b="1" i="0" lang="en-US">
                <a:solidFill>
                  <a:srgbClr val="1A1A1A"/>
                </a:solidFill>
                <a:latin typeface="Noto Sans"/>
              </a:rPr>
              <a:t>Flutter app</a:t>
            </a:r>
          </a:p>
          <a:p>
            <a:pPr algn="ctr"/>
            <a:r>
              <a:rPr sz="950" b="0" i="0" lang="en-US">
                <a:solidFill>
                  <a:srgbClr val="6B6B6B"/>
                </a:solidFill>
                <a:latin typeface="Noto Sans"/>
              </a:rPr>
              <a:t>bilingual · danger panel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1333500" y="3429000"/>
            <a:ext cx="9525000" cy="104775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>
              <a:lnSpc>
                <a:spcPct val="120000"/>
              </a:lnSpc>
            </a:pPr>
            <a:r>
              <a:rPr sz="2600" b="1" i="0" lang="en-US">
                <a:solidFill>
                  <a:srgbClr val="990000"/>
                </a:solidFill>
                <a:latin typeface="Noto Sans"/>
              </a:rPr>
              <a:t>Paper can't react.</a:t>
            </a:r>
          </a:p>
          <a:p>
            <a:pPr>
              <a:lnSpc>
                <a:spcPct val="120000"/>
              </a:lnSpc>
            </a:pPr>
            <a:r>
              <a:rPr sz="2600" b="1" i="0" lang="en-US">
                <a:solidFill>
                  <a:srgbClr val="990000"/>
                </a:solidFill>
                <a:latin typeface="Noto Sans"/>
              </a:rPr>
              <a:t>Knowledge as data + a small inference engine can.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2381250" y="4857750"/>
            <a:ext cx="7429500" cy="342900"/>
          </a:xfrm>
          <a:prstGeom prst="roundRect">
            <a:avLst>
              <a:gd name="adj" fmla="val 50000"/>
            </a:avLst>
          </a:prstGeom>
          <a:solidFill>
            <a:srgbClr val="F5F5F5"/>
          </a:solidFill>
          <a:ln w="15875">
            <a:solidFill>
              <a:srgbClr val="E0E0E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76200" rIns="76200" tIns="38100" bIns="38100"/>
          <a:lstStyle/>
          <a:p>
            <a:pPr algn="ctr"/>
            <a:r>
              <a:rPr sz="1150" b="0" i="0" lang="en-US">
                <a:solidFill>
                  <a:srgbClr val="4A4A4A"/>
                </a:solidFill>
                <a:latin typeface="Noto Sans"/>
              </a:rPr>
              <a:t>honest limits: jumps are one-way (no return-stack yet) · Phase-2 charts are JSON-only additions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11239500" y="6610350"/>
            <a:ext cx="762000" cy="1905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r>
              <a:rPr sz="900" b="0" i="0" lang="en-US">
                <a:solidFill>
                  <a:srgbClr val="6B6B6B"/>
                </a:solidFill>
                <a:latin typeface="Noto Sans"/>
              </a:rPr>
              <a:t>26 / 28</a:t>
            </a:r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38" dur="indefinite" nodeType="mainSeq">
                <p:childTnLst>
                  <p:par>
                    <p:cTn id="6" fill="hold">
                      <p:stCondLst>
                        <p:cond delay="indefinite"/>
                      </p:stCondLst>
                      <p:childTnLst>
                        <p:par>
                          <p:cTn id="7" fill="hold">
                            <p:stCondLst>
                              <p:cond delay="0"/>
                            </p:stCondLst>
                            <p:childTnLst>
                              <p:par>
                                <p:cTn id="2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4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2" fill="hold">
                      <p:stCondLst>
                        <p:cond delay="indefinite"/>
                      </p:stCondLst>
                      <p:childTnLst>
                        <p:par>
                          <p:cTn id="13" fill="hold">
                            <p:stCondLst>
                              <p:cond delay="0"/>
                            </p:stCondLst>
                            <p:childTnLst>
                              <p:par>
                                <p:cTn id="8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0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14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6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4" fill="hold">
                      <p:stCondLst>
                        <p:cond delay="indefinite"/>
                      </p:stCondLst>
                      <p:childTnLst>
                        <p:par>
                          <p:cTn id="25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2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26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2" fill="hold">
                      <p:stCondLst>
                        <p:cond delay="indefinite"/>
                      </p:stCondLst>
                      <p:childTnLst>
                        <p:par>
                          <p:cTn id="33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6" fill="hold">
                      <p:stCondLst>
                        <p:cond delay="indefinite"/>
                      </p:stCondLst>
                      <p:childTnLst>
                        <p:par>
                          <p:cTn id="37" fill="hold">
                            <p:stCondLst>
                              <p:cond delay="0"/>
                            </p:stCondLst>
                            <p:childTnLst>
                              <p:par>
                                <p:cTn id="34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2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19100" y="285750"/>
            <a:ext cx="8572500" cy="1905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r>
              <a:rPr sz="1050" b="1" i="0" lang="en-US">
                <a:solidFill>
                  <a:srgbClr val="CC0000"/>
                </a:solidFill>
                <a:latin typeface="Noto Sans"/>
              </a:rPr>
              <a:t>THE TEAM — IN JOURNEY ORDER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19100" y="495300"/>
            <a:ext cx="9525000" cy="43815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r>
              <a:rPr sz="2500" b="1" i="0" lang="en-US">
                <a:solidFill>
                  <a:srgbClr val="1A1A1A"/>
                </a:solidFill>
                <a:latin typeface="Noto Sans"/>
              </a:rPr>
              <a:t>Knowledge → engine → API → app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10763250" y="323850"/>
            <a:ext cx="1009650" cy="285750"/>
          </a:xfrm>
          <a:prstGeom prst="roundRect">
            <a:avLst>
              <a:gd name="adj" fmla="val 28000"/>
            </a:avLst>
          </a:prstGeom>
          <a:solidFill>
            <a:srgbClr val="CC000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76200" rIns="76200" tIns="38100" bIns="38100"/>
          <a:lstStyle/>
          <a:p>
            <a:pPr algn="ctr"/>
            <a:r>
              <a:rPr sz="1250" b="1" i="0" lang="en-US">
                <a:solidFill>
                  <a:srgbClr val="FFFFFF"/>
                </a:solidFill>
                <a:latin typeface="Noto Sans"/>
              </a:rPr>
              <a:t>ResQRules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419100" y="1809750"/>
            <a:ext cx="2171700" cy="247650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22225">
            <a:solidFill>
              <a:srgbClr val="E0E0E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76200" rIns="76200" tIns="38100" bIns="38100"/>
          <a:lstStyle/>
          <a:p>
            <a:pPr algn="ctr"/>
          </a:p>
        </p:txBody>
      </p:sp>
      <p:sp>
        <p:nvSpPr>
          <p:cNvPr id="6" name="Oval 5"/>
          <p:cNvSpPr/>
          <p:nvPr/>
        </p:nvSpPr>
        <p:spPr>
          <a:xfrm>
            <a:off x="1219200" y="2000250"/>
            <a:ext cx="571500" cy="571500"/>
          </a:xfrm>
          <a:prstGeom prst="ellipse">
            <a:avLst/>
          </a:prstGeom>
          <a:solidFill>
            <a:srgbClr val="FFEAEA"/>
          </a:solidFill>
          <a:ln w="25400">
            <a:solidFill>
              <a:srgbClr val="CC000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76200" rIns="76200" tIns="38100" bIns="38100"/>
          <a:lstStyle/>
          <a:p>
            <a:pPr algn="ctr"/>
            <a:r>
              <a:rPr sz="1100" b="1" i="0" lang="en-US">
                <a:solidFill>
                  <a:srgbClr val="990000"/>
                </a:solidFill>
                <a:latin typeface="Noto Sans"/>
              </a:rPr>
              <a:t>M.GH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52450" y="2686050"/>
            <a:ext cx="1905000" cy="17145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r>
              <a:rPr sz="900" b="1" i="0" lang="en-US">
                <a:solidFill>
                  <a:srgbClr val="990000"/>
                </a:solidFill>
                <a:latin typeface="Noto Sans"/>
              </a:rPr>
              <a:t>KNOWLEDGE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552450" y="2876550"/>
            <a:ext cx="1905000" cy="2286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r>
              <a:rPr sz="1400" b="1" i="0" lang="en-US">
                <a:solidFill>
                  <a:srgbClr val="1A1A1A"/>
                </a:solidFill>
                <a:latin typeface="Noto Sans"/>
              </a:rPr>
              <a:t>M.GH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552450" y="3143250"/>
            <a:ext cx="1905000" cy="104775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>
              <a:lnSpc>
                <a:spcPct val="120000"/>
              </a:lnSpc>
            </a:pPr>
            <a:r>
              <a:rPr sz="1000" b="0" i="0" lang="en-US">
                <a:solidFill>
                  <a:srgbClr val="4A4A4A"/>
                </a:solidFill>
                <a:latin typeface="Noto Sans"/>
              </a:rPr>
              <a:t>Software engineer with paramedic experience · knowledge source &amp; reference collector · Flutter dev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2705100" y="1809750"/>
            <a:ext cx="2171700" cy="247650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22225">
            <a:solidFill>
              <a:srgbClr val="E0E0E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76200" rIns="76200" tIns="38100" bIns="38100"/>
          <a:lstStyle/>
          <a:p>
            <a:pPr algn="ctr"/>
          </a:p>
        </p:txBody>
      </p:sp>
      <p:sp>
        <p:nvSpPr>
          <p:cNvPr id="11" name="Oval 10"/>
          <p:cNvSpPr/>
          <p:nvPr/>
        </p:nvSpPr>
        <p:spPr>
          <a:xfrm>
            <a:off x="3505200" y="2000250"/>
            <a:ext cx="571500" cy="571500"/>
          </a:xfrm>
          <a:prstGeom prst="ellipse">
            <a:avLst/>
          </a:prstGeom>
          <a:solidFill>
            <a:srgbClr val="FFEAEA"/>
          </a:solidFill>
          <a:ln w="25400">
            <a:solidFill>
              <a:srgbClr val="CC000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76200" rIns="76200" tIns="38100" bIns="38100"/>
          <a:lstStyle/>
          <a:p>
            <a:pPr algn="ctr"/>
            <a:r>
              <a:rPr sz="1100" b="1" i="0" lang="en-US">
                <a:solidFill>
                  <a:srgbClr val="990000"/>
                </a:solidFill>
                <a:latin typeface="Noto Sans"/>
              </a:rPr>
              <a:t>M.SH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2838450" y="2686050"/>
            <a:ext cx="1905000" cy="17145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r>
              <a:rPr sz="900" b="1" i="0" lang="en-US">
                <a:solidFill>
                  <a:srgbClr val="990000"/>
                </a:solidFill>
                <a:latin typeface="Noto Sans"/>
              </a:rPr>
              <a:t>ENGINE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2838450" y="2876550"/>
            <a:ext cx="1905000" cy="2286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r>
              <a:rPr sz="1400" b="1" i="0" lang="en-US">
                <a:solidFill>
                  <a:srgbClr val="1A1A1A"/>
                </a:solidFill>
                <a:latin typeface="Noto Sans"/>
              </a:rPr>
              <a:t>M.SH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2838450" y="3143250"/>
            <a:ext cx="1905000" cy="104775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>
              <a:lnSpc>
                <a:spcPct val="120000"/>
              </a:lnSpc>
            </a:pPr>
            <a:r>
              <a:rPr sz="1000" b="0" i="0" lang="en-US">
                <a:solidFill>
                  <a:srgbClr val="4A4A4A"/>
                </a:solidFill>
                <a:latin typeface="Noto Sans"/>
              </a:rPr>
              <a:t>Python expert · AI engineer — the Experta inference engine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4991100" y="1809750"/>
            <a:ext cx="2171700" cy="247650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22225">
            <a:solidFill>
              <a:srgbClr val="E0E0E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76200" rIns="76200" tIns="38100" bIns="38100"/>
          <a:lstStyle/>
          <a:p>
            <a:pPr algn="ctr"/>
          </a:p>
        </p:txBody>
      </p:sp>
      <p:sp>
        <p:nvSpPr>
          <p:cNvPr id="16" name="Oval 15"/>
          <p:cNvSpPr/>
          <p:nvPr/>
        </p:nvSpPr>
        <p:spPr>
          <a:xfrm>
            <a:off x="5791200" y="2000250"/>
            <a:ext cx="571500" cy="571500"/>
          </a:xfrm>
          <a:prstGeom prst="ellipse">
            <a:avLst/>
          </a:prstGeom>
          <a:solidFill>
            <a:srgbClr val="FFEAEA"/>
          </a:solidFill>
          <a:ln w="25400">
            <a:solidFill>
              <a:srgbClr val="CC000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76200" rIns="76200" tIns="38100" bIns="38100"/>
          <a:lstStyle/>
          <a:p>
            <a:pPr algn="ctr"/>
            <a:r>
              <a:rPr sz="1100" b="1" i="0" lang="en-US">
                <a:solidFill>
                  <a:srgbClr val="990000"/>
                </a:solidFill>
                <a:latin typeface="Noto Sans"/>
              </a:rPr>
              <a:t>M.JA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5124450" y="2686050"/>
            <a:ext cx="1905000" cy="17145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r>
              <a:rPr sz="900" b="1" i="0" lang="en-US">
                <a:solidFill>
                  <a:srgbClr val="990000"/>
                </a:solidFill>
                <a:latin typeface="Noto Sans"/>
              </a:rPr>
              <a:t>API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5124450" y="2876550"/>
            <a:ext cx="1905000" cy="2286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r>
              <a:rPr sz="1400" b="1" i="0" lang="en-US">
                <a:solidFill>
                  <a:srgbClr val="1A1A1A"/>
                </a:solidFill>
                <a:latin typeface="Noto Sans"/>
              </a:rPr>
              <a:t>M.JA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5124450" y="3143250"/>
            <a:ext cx="1905000" cy="104775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>
              <a:lnSpc>
                <a:spcPct val="120000"/>
              </a:lnSpc>
            </a:pPr>
            <a:r>
              <a:rPr sz="1000" b="0" i="0" lang="en-US">
                <a:solidFill>
                  <a:srgbClr val="4A4A4A"/>
                </a:solidFill>
                <a:latin typeface="Noto Sans"/>
              </a:rPr>
              <a:t>Backend engineer — wrapped the engine in FastAPI</a:t>
            </a:r>
          </a:p>
        </p:txBody>
      </p:sp>
      <p:sp>
        <p:nvSpPr>
          <p:cNvPr id="20" name="Rounded Rectangle 19"/>
          <p:cNvSpPr/>
          <p:nvPr/>
        </p:nvSpPr>
        <p:spPr>
          <a:xfrm>
            <a:off x="7277100" y="1809750"/>
            <a:ext cx="2171700" cy="247650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22225">
            <a:solidFill>
              <a:srgbClr val="E0E0E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76200" rIns="76200" tIns="38100" bIns="38100"/>
          <a:lstStyle/>
          <a:p>
            <a:pPr algn="ctr"/>
          </a:p>
        </p:txBody>
      </p:sp>
      <p:sp>
        <p:nvSpPr>
          <p:cNvPr id="21" name="Oval 20"/>
          <p:cNvSpPr/>
          <p:nvPr/>
        </p:nvSpPr>
        <p:spPr>
          <a:xfrm>
            <a:off x="8077200" y="2000250"/>
            <a:ext cx="571500" cy="571500"/>
          </a:xfrm>
          <a:prstGeom prst="ellipse">
            <a:avLst/>
          </a:prstGeom>
          <a:solidFill>
            <a:srgbClr val="FFEAEA"/>
          </a:solidFill>
          <a:ln w="25400">
            <a:solidFill>
              <a:srgbClr val="CC000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76200" rIns="76200" tIns="38100" bIns="38100"/>
          <a:lstStyle/>
          <a:p>
            <a:pPr algn="ctr"/>
            <a:r>
              <a:rPr sz="1100" b="1" i="0" lang="en-US">
                <a:solidFill>
                  <a:srgbClr val="990000"/>
                </a:solidFill>
                <a:latin typeface="Noto Sans"/>
              </a:rPr>
              <a:t>M.Y.D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7410450" y="2686050"/>
            <a:ext cx="1905000" cy="17145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r>
              <a:rPr sz="900" b="1" i="0" lang="en-US">
                <a:solidFill>
                  <a:srgbClr val="990000"/>
                </a:solidFill>
                <a:latin typeface="Noto Sans"/>
              </a:rPr>
              <a:t>APP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7410450" y="2876550"/>
            <a:ext cx="1905000" cy="2286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r>
              <a:rPr sz="1400" b="1" i="0" lang="en-US">
                <a:solidFill>
                  <a:srgbClr val="1A1A1A"/>
                </a:solidFill>
                <a:latin typeface="Noto Sans"/>
              </a:rPr>
              <a:t>M.Y.D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7410450" y="3143250"/>
            <a:ext cx="1905000" cy="104775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>
              <a:lnSpc>
                <a:spcPct val="120000"/>
              </a:lnSpc>
            </a:pPr>
            <a:r>
              <a:rPr sz="1000" b="0" i="0" lang="en-US">
                <a:solidFill>
                  <a:srgbClr val="4A4A4A"/>
                </a:solidFill>
                <a:latin typeface="Noto Sans"/>
              </a:rPr>
              <a:t>Flutter developer &amp; designer</a:t>
            </a:r>
          </a:p>
        </p:txBody>
      </p:sp>
      <p:sp>
        <p:nvSpPr>
          <p:cNvPr id="25" name="Rounded Rectangle 24"/>
          <p:cNvSpPr/>
          <p:nvPr/>
        </p:nvSpPr>
        <p:spPr>
          <a:xfrm>
            <a:off x="9563100" y="1809750"/>
            <a:ext cx="2171700" cy="247650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22225">
            <a:solidFill>
              <a:srgbClr val="E0E0E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76200" rIns="76200" tIns="38100" bIns="38100"/>
          <a:lstStyle/>
          <a:p>
            <a:pPr algn="ctr"/>
          </a:p>
        </p:txBody>
      </p:sp>
      <p:sp>
        <p:nvSpPr>
          <p:cNvPr id="26" name="Oval 25"/>
          <p:cNvSpPr/>
          <p:nvPr/>
        </p:nvSpPr>
        <p:spPr>
          <a:xfrm>
            <a:off x="10363200" y="2000250"/>
            <a:ext cx="571500" cy="571500"/>
          </a:xfrm>
          <a:prstGeom prst="ellipse">
            <a:avLst/>
          </a:prstGeom>
          <a:solidFill>
            <a:srgbClr val="FFEAEA"/>
          </a:solidFill>
          <a:ln w="25400">
            <a:solidFill>
              <a:srgbClr val="CC000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76200" rIns="76200" tIns="38100" bIns="38100"/>
          <a:lstStyle/>
          <a:p>
            <a:pPr algn="ctr"/>
            <a:r>
              <a:rPr sz="1100" b="1" i="0" lang="en-US">
                <a:solidFill>
                  <a:srgbClr val="990000"/>
                </a:solidFill>
                <a:latin typeface="Noto Sans"/>
              </a:rPr>
              <a:t>M.M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9696450" y="2686050"/>
            <a:ext cx="1905000" cy="17145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r>
              <a:rPr sz="900" b="1" i="0" lang="en-US">
                <a:solidFill>
                  <a:srgbClr val="990000"/>
                </a:solidFill>
                <a:latin typeface="Noto Sans"/>
              </a:rPr>
              <a:t>APP · OPS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9696450" y="2876550"/>
            <a:ext cx="1905000" cy="2286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r>
              <a:rPr sz="1400" b="1" i="0" lang="en-US">
                <a:solidFill>
                  <a:srgbClr val="1A1A1A"/>
                </a:solidFill>
                <a:latin typeface="Noto Sans"/>
              </a:rPr>
              <a:t>M.Marwan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9696450" y="3143250"/>
            <a:ext cx="1905000" cy="104775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>
              <a:lnSpc>
                <a:spcPct val="120000"/>
              </a:lnSpc>
            </a:pPr>
            <a:r>
              <a:rPr sz="1000" b="0" i="0" lang="en-US">
                <a:solidFill>
                  <a:srgbClr val="4A4A4A"/>
                </a:solidFill>
                <a:latin typeface="Noto Sans"/>
              </a:rPr>
              <a:t>Flutter expert · UI designer · DevOps on the server · Linux lover</a:t>
            </a:r>
          </a:p>
        </p:txBody>
      </p:sp>
      <p:sp>
        <p:nvSpPr>
          <p:cNvPr id="30" name="Rounded Rectangle 29"/>
          <p:cNvSpPr/>
          <p:nvPr/>
        </p:nvSpPr>
        <p:spPr>
          <a:xfrm>
            <a:off x="419100" y="6286500"/>
            <a:ext cx="2476500" cy="285750"/>
          </a:xfrm>
          <a:prstGeom prst="roundRect">
            <a:avLst>
              <a:gd name="adj" fmla="val 50000"/>
            </a:avLst>
          </a:prstGeom>
          <a:solidFill>
            <a:srgbClr val="F5F5F5"/>
          </a:solidFill>
          <a:ln w="15875">
            <a:solidFill>
              <a:srgbClr val="E0E0E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76200" rIns="76200" tIns="38100" bIns="38100"/>
          <a:lstStyle/>
          <a:p>
            <a:pPr algn="ctr"/>
            <a:r>
              <a:rPr sz="1100" b="0" i="0" lang="en-US">
                <a:solidFill>
                  <a:srgbClr val="4A4A4A"/>
                </a:solidFill>
                <a:latin typeface="Noto Sans"/>
              </a:rPr>
              <a:t>Supervised by Miss Omama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11239500" y="6610350"/>
            <a:ext cx="762000" cy="1905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r>
              <a:rPr sz="900" b="0" i="0" lang="en-US">
                <a:solidFill>
                  <a:srgbClr val="6B6B6B"/>
                </a:solidFill>
                <a:latin typeface="Noto Sans"/>
              </a:rPr>
              <a:t>27 / 28</a:t>
            </a:r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66" dur="indefinite" nodeType="mainSeq">
                <p:childTnLst>
                  <p:par>
                    <p:cTn id="12" fill="hold">
                      <p:stCondLst>
                        <p:cond delay="indefinite"/>
                      </p:stCondLst>
                      <p:childTnLst>
                        <p:par>
                          <p:cTn id="13" fill="hold">
                            <p:stCondLst>
                              <p:cond delay="0"/>
                            </p:stCondLst>
                            <p:childTnLst>
                              <p:par>
                                <p:cTn id="2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4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6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8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0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4" fill="hold">
                      <p:stCondLst>
                        <p:cond delay="indefinite"/>
                      </p:stCondLst>
                      <p:childTnLst>
                        <p:par>
                          <p:cTn id="25" fill="hold">
                            <p:stCondLst>
                              <p:cond delay="0"/>
                            </p:stCondLst>
                            <p:childTnLst>
                              <p:par>
                                <p:cTn id="14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6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8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0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2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6" fill="hold">
                      <p:stCondLst>
                        <p:cond delay="indefinite"/>
                      </p:stCondLst>
                      <p:childTnLst>
                        <p:par>
                          <p:cTn id="37" fill="hold">
                            <p:stCondLst>
                              <p:cond delay="0"/>
                            </p:stCondLst>
                            <p:childTnLst>
                              <p:par>
                                <p:cTn id="26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8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30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32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34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8" fill="hold">
                      <p:stCondLst>
                        <p:cond delay="indefinite"/>
                      </p:stCondLst>
                      <p:childTnLst>
                        <p:par>
                          <p:cTn id="49" fill="hold">
                            <p:stCondLst>
                              <p:cond delay="0"/>
                            </p:stCondLst>
                            <p:childTnLst>
                              <p:par>
                                <p:cTn id="38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40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42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44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46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0" fill="hold">
                      <p:stCondLst>
                        <p:cond delay="indefinite"/>
                      </p:stCondLst>
                      <p:childTnLst>
                        <p:par>
                          <p:cTn id="61" fill="hold">
                            <p:stCondLst>
                              <p:cond delay="0"/>
                            </p:stCondLst>
                            <p:childTnLst>
                              <p:par>
                                <p:cTn id="50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52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54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56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58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4" fill="hold">
                      <p:stCondLst>
                        <p:cond delay="indefinite"/>
                      </p:stCondLst>
                      <p:childTnLst>
                        <p:par>
                          <p:cTn id="65" fill="hold">
                            <p:stCondLst>
                              <p:cond delay="0"/>
                            </p:stCondLst>
                            <p:childTnLst>
                              <p:par>
                                <p:cTn id="62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2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-19050" y="-19050"/>
            <a:ext cx="12230100" cy="6896100"/>
          </a:xfrm>
          <a:prstGeom prst="rect">
            <a:avLst/>
          </a:prstGeom>
          <a:solidFill>
            <a:srgbClr val="CC000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76200" rIns="76200" tIns="38100" bIns="38100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1809750" y="2095500"/>
            <a:ext cx="8572500" cy="5715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r>
              <a:rPr sz="3400" b="1" i="0" lang="en-US">
                <a:solidFill>
                  <a:srgbClr val="FFFFFF"/>
                </a:solidFill>
                <a:latin typeface="Noto Sans"/>
              </a:rPr>
              <a:t>Thank you, Miss Omama.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2286000" y="2857500"/>
            <a:ext cx="7620000" cy="32385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r>
              <a:rPr sz="1500" b="0" i="0" lang="en-US">
                <a:solidFill>
                  <a:srgbClr val="FFE2E2"/>
                </a:solidFill>
                <a:latin typeface="Noto Sans"/>
              </a:rPr>
              <a:t>For the guidance that kept the knowledge honest and the inference real.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809750" y="3619500"/>
            <a:ext cx="8572500" cy="7620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r>
              <a:rPr sz="4600" b="1" i="0" lang="en-US">
                <a:solidFill>
                  <a:srgbClr val="FFFFFF"/>
                </a:solidFill>
                <a:latin typeface="Noto Sans"/>
              </a:rPr>
              <a:t>Questions?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2286000" y="4572000"/>
            <a:ext cx="7620000" cy="24765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r>
              <a:rPr sz="1200" b="0" i="0" lang="en-US">
                <a:solidFill>
                  <a:srgbClr val="FFB9B9"/>
                </a:solidFill>
                <a:latin typeface="Noto Sans"/>
              </a:rPr>
              <a:t>ResQRules · 8 rules · 59 nodes · 5 protocols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1239500" y="6610350"/>
            <a:ext cx="762000" cy="1905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r>
              <a:rPr sz="900" b="0" i="0" lang="en-US">
                <a:solidFill>
                  <a:srgbClr val="6B6B6B"/>
                </a:solidFill>
                <a:latin typeface="Noto Sans"/>
              </a:rPr>
              <a:t>28 / 28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